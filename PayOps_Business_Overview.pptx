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" d="100"/>
          <a:sy n="12" d="100"/>
        </p:scale>
        <p:origin x="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8DA9A-9B05-895F-B130-30E7D679DC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8593D4-93A8-6E12-C690-B1B0ED5B5E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1021F-70B9-307C-2041-2BA8283D8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44976-C1EA-4D6B-8C3F-75C6DCD96D3D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FE224-9EA2-C80B-0DE5-6FC52BE26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27EEA-E83D-6F3A-EB9D-A520E960D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2842-DC8B-4B42-8F8B-BB78BEC2A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837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60A2E-46A3-73BE-CA09-891E80819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ECEC4-726A-A5DD-5DD8-4A0F802E4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625B7-29F4-14FB-7C17-098669A51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44976-C1EA-4D6B-8C3F-75C6DCD96D3D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F0100-2212-B671-93F7-CB69CF5FA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BBFE0-5B23-B60D-0EE1-40BCBA0AA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2842-DC8B-4B42-8F8B-BB78BEC2A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050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87B5B-4C9A-D801-4586-8A7DFD6BE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EA7E9-9087-C5F8-4830-CB7AAC5EA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28A8B-9CB2-0813-55E9-91C580EA3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44976-C1EA-4D6B-8C3F-75C6DCD96D3D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A1CC9-CD76-CD23-F0DD-DE83EE01B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EF25D-DADC-35DA-6E43-6F20600AF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2842-DC8B-4B42-8F8B-BB78BEC2A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531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6C1B0-ECF4-20CE-9648-E95C00887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56CE6-736C-9295-8486-727F93F34C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10960-FDE2-D03E-E7A1-E0963FCC19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B5E56-E5AF-6AB9-CA12-D559579B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44976-C1EA-4D6B-8C3F-75C6DCD96D3D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98003D-306B-C7C0-97B8-ECA62BD4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69283-DE01-F98A-901B-568A8078E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2842-DC8B-4B42-8F8B-BB78BEC2A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262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CB8E2-3A3A-9A5E-8921-1D0DEF6F2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BCBF27-7B74-309F-FE02-AA5F6BB57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BB5DC2-F2CE-0A64-5E80-813B7592E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A3F46B-A5B0-E8A4-9309-021DB285F4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480169-C093-2E7B-8D15-B6480247FE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383D7B-3FEF-FA1D-7BAE-C9C452F68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44976-C1EA-4D6B-8C3F-75C6DCD96D3D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47F5F5-398B-16A9-D9F1-127376F2D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0C2C0C-9C31-5DBF-F81C-9D40FD99A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2842-DC8B-4B42-8F8B-BB78BEC2A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552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B4775-FE80-E7B3-FB5D-A5FC69719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5639B7-6571-8A00-533A-3B9D79A40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44976-C1EA-4D6B-8C3F-75C6DCD96D3D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95EBB4-76A2-89B6-5A72-934AC7BD4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8BB575-014D-EB02-D665-3E55B41A2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2842-DC8B-4B42-8F8B-BB78BEC2A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409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761B43-0034-976E-04E7-C62ED8909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44976-C1EA-4D6B-8C3F-75C6DCD96D3D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C6F038-8D4E-AFBD-E2C3-C77C97A87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8AA5D-3E6A-342E-AEC8-6155A9BEA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2842-DC8B-4B42-8F8B-BB78BEC2A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218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A6E2D-BC8A-A791-EDDA-3B809689A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7845B-3872-438A-EF79-00B0FC504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4D8B2-29BB-0F6A-C8F3-72E66AAF6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AC84C-5A56-5F68-BCA1-ADA9801B7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44976-C1EA-4D6B-8C3F-75C6DCD96D3D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EEF70-E8E6-3CAD-5E1C-30FC5FE4D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19E33-56B4-CC8A-2442-66DBDF471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2842-DC8B-4B42-8F8B-BB78BEC2A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139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F8168-D34F-ECEA-05B0-B72CAB1DD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DE8A0C-56AE-2EAB-3ED1-39BEE31D13E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032CD-1F88-A9EE-FBFA-ADC5BDE73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1BF7A-ECA5-9E54-BE52-724481F81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44976-C1EA-4D6B-8C3F-75C6DCD96D3D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AD180B-1BE4-2177-2554-51B58768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95E7F-B0CC-335C-87A2-F3B1EF154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2842-DC8B-4B42-8F8B-BB78BEC2A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352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8BF8B-A1EE-36F8-D850-3ED294FD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F9B957-B8DC-0F1B-511D-D18F09CB93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A7936-1A5C-33D1-07F6-4F94BB761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44976-C1EA-4D6B-8C3F-75C6DCD96D3D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1C4D0-6E86-CAFF-DADB-38644A4C6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7FCB0-1C95-56EB-FDF2-F6369BFAB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2842-DC8B-4B42-8F8B-BB78BEC2A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52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3DFF2F-B93E-D515-96AC-61C996FA2F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E5C70-BADD-F05A-F504-3832586BF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6D593-BB84-09F5-5906-A8869CBBC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44976-C1EA-4D6B-8C3F-75C6DCD96D3D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55200-9B5D-8491-0A26-C79C95812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F907E-460E-4769-28DA-40EB5A6DC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2842-DC8B-4B42-8F8B-BB78BEC2A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316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071C86-DBB8-21CF-FAD3-F6D5251A3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CFE85-D970-16D8-FE52-81141FC25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C4ECE-0011-2A46-467B-5D5C0AD3C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44976-C1EA-4D6B-8C3F-75C6DCD96D3D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A2A36-D086-E4EF-81E5-85BC007F98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BB3D4-E6B4-6AA7-10EC-95D3AB770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A42842-DC8B-4B42-8F8B-BB78BEC2A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237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4743DD-5579-1CFB-5404-3B8EE6C64C9C}"/>
              </a:ext>
            </a:extLst>
          </p:cNvPr>
          <p:cNvSpPr txBox="1"/>
          <p:nvPr/>
        </p:nvSpPr>
        <p:spPr>
          <a:xfrm>
            <a:off x="787400" y="5334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>
                <a:solidFill>
                  <a:srgbClr val="456BFF"/>
                </a:solidFill>
                <a:latin typeface="Aptos" panose="020B0004020202020204" pitchFamily="34" charset="0"/>
              </a:rPr>
              <a:t>PAYOPS  /  BUSINESS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F2D0DD-93D7-6444-2EA9-73BC35B3A4E8}"/>
              </a:ext>
            </a:extLst>
          </p:cNvPr>
          <p:cNvSpPr txBox="1"/>
          <p:nvPr/>
        </p:nvSpPr>
        <p:spPr>
          <a:xfrm>
            <a:off x="787400" y="1549400"/>
            <a:ext cx="68580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5400" b="1">
                <a:solidFill>
                  <a:srgbClr val="FFFFFF"/>
                </a:solidFill>
                <a:latin typeface="Aptos" panose="020B0004020202020204" pitchFamily="34" charset="0"/>
              </a:rPr>
              <a:t>PayOps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9856BA-0E0C-82F2-D9D7-D3E9B42A680A}"/>
              </a:ext>
            </a:extLst>
          </p:cNvPr>
          <p:cNvSpPr txBox="1"/>
          <p:nvPr/>
        </p:nvSpPr>
        <p:spPr>
          <a:xfrm>
            <a:off x="825500" y="2705100"/>
            <a:ext cx="78105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2200">
                <a:solidFill>
                  <a:srgbClr val="DCE4F3"/>
                </a:solidFill>
                <a:latin typeface="Aptos" panose="020B0004020202020204" pitchFamily="34" charset="0"/>
              </a:rPr>
              <a:t>AI-Powered Invoice Operations Platform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93B36E-E41D-ED99-0A8F-AAC64C727E65}"/>
              </a:ext>
            </a:extLst>
          </p:cNvPr>
          <p:cNvSpPr txBox="1"/>
          <p:nvPr/>
        </p:nvSpPr>
        <p:spPr>
          <a:xfrm>
            <a:off x="825500" y="3568700"/>
            <a:ext cx="698500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000">
                <a:solidFill>
                  <a:srgbClr val="AEBAD0"/>
                </a:solidFill>
                <a:latin typeface="Aptos" panose="020B0004020202020204" pitchFamily="34" charset="0"/>
              </a:rPr>
              <a:t>From Invoice Chaos to
Intelligent Payment Operations</a:t>
            </a:r>
            <a:endParaRPr lang="en-IN" sz="2000">
              <a:solidFill>
                <a:srgbClr val="AEBAD0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4ACE0C-E073-1B5E-154D-D2A3B09C987E}"/>
              </a:ext>
            </a:extLst>
          </p:cNvPr>
          <p:cNvSpPr/>
          <p:nvPr/>
        </p:nvSpPr>
        <p:spPr>
          <a:xfrm>
            <a:off x="8763000" y="1041400"/>
            <a:ext cx="2667000" cy="4064000"/>
          </a:xfrm>
          <a:prstGeom prst="roundRect">
            <a:avLst/>
          </a:prstGeom>
          <a:solidFill>
            <a:srgbClr val="1D28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8E59F8-7E9C-BC75-982C-184CA6B96A8F}"/>
              </a:ext>
            </a:extLst>
          </p:cNvPr>
          <p:cNvSpPr txBox="1"/>
          <p:nvPr/>
        </p:nvSpPr>
        <p:spPr>
          <a:xfrm>
            <a:off x="9118600" y="1422400"/>
            <a:ext cx="20066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AEBAD0"/>
                </a:solidFill>
                <a:latin typeface="Aptos" panose="020B0004020202020204" pitchFamily="34" charset="0"/>
              </a:rPr>
              <a:t>ONE INTELLIGENT FLOW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1F21F01-54E8-F876-7D0C-FFAC036E969C}"/>
              </a:ext>
            </a:extLst>
          </p:cNvPr>
          <p:cNvSpPr/>
          <p:nvPr/>
        </p:nvSpPr>
        <p:spPr>
          <a:xfrm>
            <a:off x="9232900" y="1955800"/>
            <a:ext cx="127000" cy="127000"/>
          </a:xfrm>
          <a:prstGeom prst="ellipse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ABF968-5967-6600-F2D0-4FEA2A6CF238}"/>
              </a:ext>
            </a:extLst>
          </p:cNvPr>
          <p:cNvSpPr txBox="1"/>
          <p:nvPr/>
        </p:nvSpPr>
        <p:spPr>
          <a:xfrm>
            <a:off x="9512300" y="1917700"/>
            <a:ext cx="15875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INVOICE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609D80-FB88-BFEB-43BB-E91BF63B2863}"/>
              </a:ext>
            </a:extLst>
          </p:cNvPr>
          <p:cNvCxnSpPr/>
          <p:nvPr/>
        </p:nvCxnSpPr>
        <p:spPr>
          <a:xfrm>
            <a:off x="9296400" y="2095500"/>
            <a:ext cx="0" cy="279400"/>
          </a:xfrm>
          <a:prstGeom prst="straightConnector1">
            <a:avLst/>
          </a:prstGeom>
          <a:ln w="12700">
            <a:solidFill>
              <a:srgbClr val="4653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FACD7768-9491-E27F-4119-8D80D3AE45C5}"/>
              </a:ext>
            </a:extLst>
          </p:cNvPr>
          <p:cNvSpPr/>
          <p:nvPr/>
        </p:nvSpPr>
        <p:spPr>
          <a:xfrm>
            <a:off x="9232900" y="2413000"/>
            <a:ext cx="127000" cy="127000"/>
          </a:xfrm>
          <a:prstGeom prst="ellipse">
            <a:avLst/>
          </a:prstGeom>
          <a:solidFill>
            <a:srgbClr val="8666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6D3902-0501-4936-5560-ED09730BFA3E}"/>
              </a:ext>
            </a:extLst>
          </p:cNvPr>
          <p:cNvSpPr txBox="1"/>
          <p:nvPr/>
        </p:nvSpPr>
        <p:spPr>
          <a:xfrm>
            <a:off x="9512300" y="2374900"/>
            <a:ext cx="15875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AI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BC48772-E22E-30E0-B8FC-7EE17E53D135}"/>
              </a:ext>
            </a:extLst>
          </p:cNvPr>
          <p:cNvCxnSpPr/>
          <p:nvPr/>
        </p:nvCxnSpPr>
        <p:spPr>
          <a:xfrm>
            <a:off x="9296400" y="2552700"/>
            <a:ext cx="0" cy="279400"/>
          </a:xfrm>
          <a:prstGeom prst="straightConnector1">
            <a:avLst/>
          </a:prstGeom>
          <a:ln w="12700">
            <a:solidFill>
              <a:srgbClr val="4653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EB4948C9-2663-0BEE-8CD1-F686CEC1CB3A}"/>
              </a:ext>
            </a:extLst>
          </p:cNvPr>
          <p:cNvSpPr/>
          <p:nvPr/>
        </p:nvSpPr>
        <p:spPr>
          <a:xfrm>
            <a:off x="9232900" y="2870200"/>
            <a:ext cx="127000" cy="127000"/>
          </a:xfrm>
          <a:prstGeom prst="ellipse">
            <a:avLst/>
          </a:prstGeom>
          <a:solidFill>
            <a:srgbClr val="178B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D6C6A0-D9BB-DC80-DC32-B9C06C4618C0}"/>
              </a:ext>
            </a:extLst>
          </p:cNvPr>
          <p:cNvSpPr txBox="1"/>
          <p:nvPr/>
        </p:nvSpPr>
        <p:spPr>
          <a:xfrm>
            <a:off x="9512300" y="2832100"/>
            <a:ext cx="15875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VALIDATE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0B74F87-B76B-A11F-2D92-3631D11EF617}"/>
              </a:ext>
            </a:extLst>
          </p:cNvPr>
          <p:cNvCxnSpPr/>
          <p:nvPr/>
        </p:nvCxnSpPr>
        <p:spPr>
          <a:xfrm>
            <a:off x="9296400" y="3009900"/>
            <a:ext cx="0" cy="279400"/>
          </a:xfrm>
          <a:prstGeom prst="straightConnector1">
            <a:avLst/>
          </a:prstGeom>
          <a:ln w="12700">
            <a:solidFill>
              <a:srgbClr val="4653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21336EEC-98C7-8792-795F-A4A4FBF0DBDE}"/>
              </a:ext>
            </a:extLst>
          </p:cNvPr>
          <p:cNvSpPr/>
          <p:nvPr/>
        </p:nvSpPr>
        <p:spPr>
          <a:xfrm>
            <a:off x="9232900" y="3327400"/>
            <a:ext cx="127000" cy="127000"/>
          </a:xfrm>
          <a:prstGeom prst="ellipse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E788E4-E61E-C004-2965-E91A4B0B82C7}"/>
              </a:ext>
            </a:extLst>
          </p:cNvPr>
          <p:cNvSpPr txBox="1"/>
          <p:nvPr/>
        </p:nvSpPr>
        <p:spPr>
          <a:xfrm>
            <a:off x="9512300" y="3289300"/>
            <a:ext cx="15875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APPROVE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CABC113-2FB8-861A-280E-EA679C366849}"/>
              </a:ext>
            </a:extLst>
          </p:cNvPr>
          <p:cNvCxnSpPr/>
          <p:nvPr/>
        </p:nvCxnSpPr>
        <p:spPr>
          <a:xfrm>
            <a:off x="9296400" y="3467100"/>
            <a:ext cx="0" cy="279400"/>
          </a:xfrm>
          <a:prstGeom prst="straightConnector1">
            <a:avLst/>
          </a:prstGeom>
          <a:ln w="12700">
            <a:solidFill>
              <a:srgbClr val="4653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B6364FDB-E088-7C0B-B5E4-16052D0B355F}"/>
              </a:ext>
            </a:extLst>
          </p:cNvPr>
          <p:cNvSpPr/>
          <p:nvPr/>
        </p:nvSpPr>
        <p:spPr>
          <a:xfrm>
            <a:off x="9232900" y="3784600"/>
            <a:ext cx="127000" cy="127000"/>
          </a:xfrm>
          <a:prstGeom prst="ellipse">
            <a:avLst/>
          </a:prstGeom>
          <a:solidFill>
            <a:srgbClr val="178B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D61583-FA03-5F26-3ED3-4FF5F24EF4FA}"/>
              </a:ext>
            </a:extLst>
          </p:cNvPr>
          <p:cNvSpPr txBox="1"/>
          <p:nvPr/>
        </p:nvSpPr>
        <p:spPr>
          <a:xfrm>
            <a:off x="9512300" y="3746500"/>
            <a:ext cx="15875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PAY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E760E45-E5E6-0331-F1E6-C35F9FAB271B}"/>
              </a:ext>
            </a:extLst>
          </p:cNvPr>
          <p:cNvCxnSpPr/>
          <p:nvPr/>
        </p:nvCxnSpPr>
        <p:spPr>
          <a:xfrm>
            <a:off x="9296400" y="3924300"/>
            <a:ext cx="0" cy="279400"/>
          </a:xfrm>
          <a:prstGeom prst="straightConnector1">
            <a:avLst/>
          </a:prstGeom>
          <a:ln w="12700">
            <a:solidFill>
              <a:srgbClr val="4653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1D8626BC-2778-7CC6-E995-448E63064612}"/>
              </a:ext>
            </a:extLst>
          </p:cNvPr>
          <p:cNvSpPr/>
          <p:nvPr/>
        </p:nvSpPr>
        <p:spPr>
          <a:xfrm>
            <a:off x="9232900" y="4241800"/>
            <a:ext cx="127000" cy="127000"/>
          </a:xfrm>
          <a:prstGeom prst="ellipse">
            <a:avLst/>
          </a:prstGeom>
          <a:solidFill>
            <a:srgbClr val="8666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ECE8A2-EF38-224B-37A1-F2B30FE56530}"/>
              </a:ext>
            </a:extLst>
          </p:cNvPr>
          <p:cNvSpPr txBox="1"/>
          <p:nvPr/>
        </p:nvSpPr>
        <p:spPr>
          <a:xfrm>
            <a:off x="9512300" y="4203700"/>
            <a:ext cx="15875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INSIGHTS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16BBF6-77DA-0027-0E70-EBC416AA73A3}"/>
              </a:ext>
            </a:extLst>
          </p:cNvPr>
          <p:cNvSpPr txBox="1"/>
          <p:nvPr/>
        </p:nvSpPr>
        <p:spPr>
          <a:xfrm>
            <a:off x="825500" y="6057900"/>
            <a:ext cx="7112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200">
                <a:solidFill>
                  <a:srgbClr val="DCE4F3"/>
                </a:solidFill>
                <a:latin typeface="Aptos" panose="020B0004020202020204" pitchFamily="34" charset="0"/>
              </a:rPr>
              <a:t>The operating layer between invoices and business payments.</a:t>
            </a:r>
            <a:endParaRPr lang="en-IN" sz="1200">
              <a:solidFill>
                <a:srgbClr val="DCE4F3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8F1896-B2CA-4CE9-5153-B4E341E5441B}"/>
              </a:ext>
            </a:extLst>
          </p:cNvPr>
          <p:cNvSpPr txBox="1"/>
          <p:nvPr/>
        </p:nvSpPr>
        <p:spPr>
          <a:xfrm>
            <a:off x="11049000" y="64897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800" b="1">
                <a:solidFill>
                  <a:srgbClr val="AEBAD0"/>
                </a:solidFill>
                <a:latin typeface="Aptos" panose="020B00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88720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12B272-6834-2FEF-31D9-E71B26B61252}"/>
              </a:ext>
            </a:extLst>
          </p:cNvPr>
          <p:cNvSpPr txBox="1"/>
          <p:nvPr/>
        </p:nvSpPr>
        <p:spPr>
          <a:xfrm>
            <a:off x="685800" y="304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PAYOPS / BUSINESS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946553-335A-0794-278E-4CF6B999AAEA}"/>
              </a:ext>
            </a:extLst>
          </p:cNvPr>
          <p:cNvSpPr txBox="1"/>
          <p:nvPr/>
        </p:nvSpPr>
        <p:spPr>
          <a:xfrm>
            <a:off x="685800" y="647700"/>
            <a:ext cx="10795000" cy="8309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700" b="1">
                <a:solidFill>
                  <a:srgbClr val="182238"/>
                </a:solidFill>
                <a:latin typeface="Aptos" panose="020B0004020202020204" pitchFamily="34" charset="0"/>
              </a:rPr>
              <a:t>Finance teams don't have an invoice problem. They have an operations problem.</a:t>
            </a:r>
            <a:endParaRPr lang="en-IN" sz="2700" b="1">
              <a:solidFill>
                <a:srgbClr val="182238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CE28D5C-F2B0-A940-9BEB-2E24BA836888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straightConnector1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7BFD2F3-D137-2347-BACB-51CB07A5D92A}"/>
              </a:ext>
            </a:extLst>
          </p:cNvPr>
          <p:cNvSpPr txBox="1"/>
          <p:nvPr/>
        </p:nvSpPr>
        <p:spPr>
          <a:xfrm>
            <a:off x="685800" y="64897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PAYOPS  ·  INVOICE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2D532C-6F99-C28F-69A5-F5B88B6286A7}"/>
              </a:ext>
            </a:extLst>
          </p:cNvPr>
          <p:cNvSpPr txBox="1"/>
          <p:nvPr/>
        </p:nvSpPr>
        <p:spPr>
          <a:xfrm>
            <a:off x="11049000" y="64897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F7DD23-8037-601F-B09C-B2703EDDC3A4}"/>
              </a:ext>
            </a:extLst>
          </p:cNvPr>
          <p:cNvSpPr txBox="1"/>
          <p:nvPr/>
        </p:nvSpPr>
        <p:spPr>
          <a:xfrm>
            <a:off x="736600" y="1676400"/>
            <a:ext cx="4826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68758C"/>
                </a:solidFill>
                <a:latin typeface="Aptos" panose="020B0004020202020204" pitchFamily="34" charset="0"/>
              </a:rPr>
              <a:t>A FRAGMENTED, MANUAL FLOW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72B225B-5753-BE3B-5105-CB771361E382}"/>
              </a:ext>
            </a:extLst>
          </p:cNvPr>
          <p:cNvSpPr/>
          <p:nvPr/>
        </p:nvSpPr>
        <p:spPr>
          <a:xfrm>
            <a:off x="825500" y="2095500"/>
            <a:ext cx="139700" cy="139700"/>
          </a:xfrm>
          <a:prstGeom prst="ellipse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595F0B-7F33-9DAF-230A-186747812AE8}"/>
              </a:ext>
            </a:extLst>
          </p:cNvPr>
          <p:cNvSpPr txBox="1"/>
          <p:nvPr/>
        </p:nvSpPr>
        <p:spPr>
          <a:xfrm>
            <a:off x="1104900" y="2044700"/>
            <a:ext cx="381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400">
                <a:solidFill>
                  <a:srgbClr val="182238"/>
                </a:solidFill>
                <a:latin typeface="Aptos" panose="020B0004020202020204" pitchFamily="34" charset="0"/>
              </a:rPr>
              <a:t>Invoice received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70A997C-B6CF-90C5-2FDE-4D3A232EB562}"/>
              </a:ext>
            </a:extLst>
          </p:cNvPr>
          <p:cNvCxnSpPr/>
          <p:nvPr/>
        </p:nvCxnSpPr>
        <p:spPr>
          <a:xfrm>
            <a:off x="889000" y="2235200"/>
            <a:ext cx="0" cy="381000"/>
          </a:xfrm>
          <a:prstGeom prst="straightConnector1">
            <a:avLst/>
          </a:prstGeom>
          <a:ln w="1905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2BFA4721-DD75-F347-4DE6-7CA836A49876}"/>
              </a:ext>
            </a:extLst>
          </p:cNvPr>
          <p:cNvSpPr/>
          <p:nvPr/>
        </p:nvSpPr>
        <p:spPr>
          <a:xfrm>
            <a:off x="825500" y="2667000"/>
            <a:ext cx="139700" cy="139700"/>
          </a:xfrm>
          <a:prstGeom prst="ellipse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F4BAC6-35B7-CCC2-7FE7-66D90C31486C}"/>
              </a:ext>
            </a:extLst>
          </p:cNvPr>
          <p:cNvSpPr txBox="1"/>
          <p:nvPr/>
        </p:nvSpPr>
        <p:spPr>
          <a:xfrm>
            <a:off x="1104900" y="2616200"/>
            <a:ext cx="381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400">
                <a:solidFill>
                  <a:srgbClr val="182238"/>
                </a:solidFill>
                <a:latin typeface="Aptos" panose="020B0004020202020204" pitchFamily="34" charset="0"/>
              </a:rPr>
              <a:t>Open and read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1262A79-316D-8830-8D0D-86D46C70B0BB}"/>
              </a:ext>
            </a:extLst>
          </p:cNvPr>
          <p:cNvCxnSpPr/>
          <p:nvPr/>
        </p:nvCxnSpPr>
        <p:spPr>
          <a:xfrm>
            <a:off x="889000" y="2806700"/>
            <a:ext cx="0" cy="381000"/>
          </a:xfrm>
          <a:prstGeom prst="straightConnector1">
            <a:avLst/>
          </a:prstGeom>
          <a:ln w="1905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82122F66-7D66-02D5-F1F8-24A90AFB319B}"/>
              </a:ext>
            </a:extLst>
          </p:cNvPr>
          <p:cNvSpPr/>
          <p:nvPr/>
        </p:nvSpPr>
        <p:spPr>
          <a:xfrm>
            <a:off x="825500" y="3238500"/>
            <a:ext cx="139700" cy="139700"/>
          </a:xfrm>
          <a:prstGeom prst="ellipse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B6B6C6-F67F-94FC-60A6-89FC23450D74}"/>
              </a:ext>
            </a:extLst>
          </p:cNvPr>
          <p:cNvSpPr txBox="1"/>
          <p:nvPr/>
        </p:nvSpPr>
        <p:spPr>
          <a:xfrm>
            <a:off x="1104900" y="3187700"/>
            <a:ext cx="381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400">
                <a:solidFill>
                  <a:srgbClr val="182238"/>
                </a:solidFill>
                <a:latin typeface="Aptos" panose="020B0004020202020204" pitchFamily="34" charset="0"/>
              </a:rPr>
              <a:t>Enter data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44EDD59-1B34-DA5A-678F-45F12938EB33}"/>
              </a:ext>
            </a:extLst>
          </p:cNvPr>
          <p:cNvCxnSpPr/>
          <p:nvPr/>
        </p:nvCxnSpPr>
        <p:spPr>
          <a:xfrm>
            <a:off x="889000" y="3378200"/>
            <a:ext cx="0" cy="381000"/>
          </a:xfrm>
          <a:prstGeom prst="straightConnector1">
            <a:avLst/>
          </a:prstGeom>
          <a:ln w="1905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315D3C46-E46B-A9C0-170A-A92F3FBA4A1B}"/>
              </a:ext>
            </a:extLst>
          </p:cNvPr>
          <p:cNvSpPr/>
          <p:nvPr/>
        </p:nvSpPr>
        <p:spPr>
          <a:xfrm>
            <a:off x="825500" y="3810000"/>
            <a:ext cx="139700" cy="139700"/>
          </a:xfrm>
          <a:prstGeom prst="ellipse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B8C76E-42CB-8933-BCF0-1B00CCFF4483}"/>
              </a:ext>
            </a:extLst>
          </p:cNvPr>
          <p:cNvSpPr txBox="1"/>
          <p:nvPr/>
        </p:nvSpPr>
        <p:spPr>
          <a:xfrm>
            <a:off x="1104900" y="3759200"/>
            <a:ext cx="381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400">
                <a:solidFill>
                  <a:srgbClr val="182238"/>
                </a:solidFill>
                <a:latin typeface="Aptos" panose="020B0004020202020204" pitchFamily="34" charset="0"/>
              </a:rPr>
              <a:t>Check tax + totals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2F568E7-0A35-E6E5-50C5-024D2B1F17DA}"/>
              </a:ext>
            </a:extLst>
          </p:cNvPr>
          <p:cNvCxnSpPr/>
          <p:nvPr/>
        </p:nvCxnSpPr>
        <p:spPr>
          <a:xfrm>
            <a:off x="889000" y="3949700"/>
            <a:ext cx="0" cy="381000"/>
          </a:xfrm>
          <a:prstGeom prst="straightConnector1">
            <a:avLst/>
          </a:prstGeom>
          <a:ln w="1905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B8FA58F5-AE32-E9DB-D40F-9A2B2278E2DF}"/>
              </a:ext>
            </a:extLst>
          </p:cNvPr>
          <p:cNvSpPr/>
          <p:nvPr/>
        </p:nvSpPr>
        <p:spPr>
          <a:xfrm>
            <a:off x="825500" y="4381500"/>
            <a:ext cx="139700" cy="139700"/>
          </a:xfrm>
          <a:prstGeom prst="ellipse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1392B4-D1B6-D412-97F6-FCAE0A96A664}"/>
              </a:ext>
            </a:extLst>
          </p:cNvPr>
          <p:cNvSpPr txBox="1"/>
          <p:nvPr/>
        </p:nvSpPr>
        <p:spPr>
          <a:xfrm>
            <a:off x="1104900" y="4330700"/>
            <a:ext cx="381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400">
                <a:solidFill>
                  <a:srgbClr val="182238"/>
                </a:solidFill>
                <a:latin typeface="Aptos" panose="020B0004020202020204" pitchFamily="34" charset="0"/>
              </a:rPr>
              <a:t>Find approval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01977F3-97A5-39AE-864F-CEBDAB7A412F}"/>
              </a:ext>
            </a:extLst>
          </p:cNvPr>
          <p:cNvCxnSpPr/>
          <p:nvPr/>
        </p:nvCxnSpPr>
        <p:spPr>
          <a:xfrm>
            <a:off x="889000" y="4521200"/>
            <a:ext cx="0" cy="381000"/>
          </a:xfrm>
          <a:prstGeom prst="straightConnector1">
            <a:avLst/>
          </a:prstGeom>
          <a:ln w="1905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7AF2C61E-ED37-C9FA-CF5A-4A8523682586}"/>
              </a:ext>
            </a:extLst>
          </p:cNvPr>
          <p:cNvSpPr/>
          <p:nvPr/>
        </p:nvSpPr>
        <p:spPr>
          <a:xfrm>
            <a:off x="825500" y="4953000"/>
            <a:ext cx="139700" cy="139700"/>
          </a:xfrm>
          <a:prstGeom prst="ellipse">
            <a:avLst/>
          </a:prstGeom>
          <a:solidFill>
            <a:srgbClr val="8666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B055D3-8C22-9C82-780C-F206EEB10060}"/>
              </a:ext>
            </a:extLst>
          </p:cNvPr>
          <p:cNvSpPr txBox="1"/>
          <p:nvPr/>
        </p:nvSpPr>
        <p:spPr>
          <a:xfrm>
            <a:off x="1104900" y="4902200"/>
            <a:ext cx="381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400" b="1">
                <a:solidFill>
                  <a:srgbClr val="182238"/>
                </a:solidFill>
                <a:latin typeface="Aptos" panose="020B0004020202020204" pitchFamily="34" charset="0"/>
              </a:rPr>
              <a:t>Track payment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88DB02F-068C-0D4B-FFE6-94FB82421A39}"/>
              </a:ext>
            </a:extLst>
          </p:cNvPr>
          <p:cNvSpPr/>
          <p:nvPr/>
        </p:nvSpPr>
        <p:spPr>
          <a:xfrm>
            <a:off x="5969000" y="1841500"/>
            <a:ext cx="5283200" cy="4051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0C3B29-0C65-AC24-4934-A470B66B21C2}"/>
              </a:ext>
            </a:extLst>
          </p:cNvPr>
          <p:cNvSpPr txBox="1"/>
          <p:nvPr/>
        </p:nvSpPr>
        <p:spPr>
          <a:xfrm>
            <a:off x="6350000" y="2159000"/>
            <a:ext cx="4445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900" b="1">
                <a:solidFill>
                  <a:srgbClr val="182238"/>
                </a:solidFill>
                <a:latin typeface="Aptos" panose="020B0004020202020204" pitchFamily="34" charset="0"/>
              </a:rPr>
              <a:t>Invoices arrive everywhere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076EABF-1F63-821B-777E-A4F6F2FD49B6}"/>
              </a:ext>
            </a:extLst>
          </p:cNvPr>
          <p:cNvSpPr/>
          <p:nvPr/>
        </p:nvSpPr>
        <p:spPr>
          <a:xfrm>
            <a:off x="6350000" y="2794000"/>
            <a:ext cx="1841500" cy="304800"/>
          </a:xfrm>
          <a:prstGeom prst="roundRect">
            <a:avLst/>
          </a:prstGeom>
          <a:solidFill>
            <a:srgbClr val="EAF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323E32-2570-C7AC-8544-BBF75F8CEB9C}"/>
              </a:ext>
            </a:extLst>
          </p:cNvPr>
          <p:cNvSpPr txBox="1"/>
          <p:nvPr/>
        </p:nvSpPr>
        <p:spPr>
          <a:xfrm>
            <a:off x="6438900" y="2844800"/>
            <a:ext cx="16637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PDF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E20FA13-E71F-65EF-8765-AD7863060046}"/>
              </a:ext>
            </a:extLst>
          </p:cNvPr>
          <p:cNvSpPr/>
          <p:nvPr/>
        </p:nvSpPr>
        <p:spPr>
          <a:xfrm>
            <a:off x="8559800" y="2794000"/>
            <a:ext cx="1841500" cy="304800"/>
          </a:xfrm>
          <a:prstGeom prst="roundRect">
            <a:avLst/>
          </a:prstGeom>
          <a:solidFill>
            <a:srgbClr val="F1E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44043A-8C30-312E-EBFB-C616D38BEF32}"/>
              </a:ext>
            </a:extLst>
          </p:cNvPr>
          <p:cNvSpPr txBox="1"/>
          <p:nvPr/>
        </p:nvSpPr>
        <p:spPr>
          <a:xfrm>
            <a:off x="8648700" y="2844800"/>
            <a:ext cx="16637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8666F5"/>
                </a:solidFill>
                <a:latin typeface="Aptos" panose="020B0004020202020204" pitchFamily="34" charset="0"/>
              </a:rPr>
              <a:t>EMAIL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F3E0345-65A6-8CAA-3931-32F19F83EAE9}"/>
              </a:ext>
            </a:extLst>
          </p:cNvPr>
          <p:cNvSpPr/>
          <p:nvPr/>
        </p:nvSpPr>
        <p:spPr>
          <a:xfrm>
            <a:off x="6350000" y="3340100"/>
            <a:ext cx="1841500" cy="304800"/>
          </a:xfrm>
          <a:prstGeom prst="roundRect">
            <a:avLst/>
          </a:prstGeom>
          <a:solidFill>
            <a:srgbClr val="E8F6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62AEDA-D90E-63E4-EEA5-029ADA82E545}"/>
              </a:ext>
            </a:extLst>
          </p:cNvPr>
          <p:cNvSpPr txBox="1"/>
          <p:nvPr/>
        </p:nvSpPr>
        <p:spPr>
          <a:xfrm>
            <a:off x="6438900" y="3390900"/>
            <a:ext cx="16637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178B69"/>
                </a:solidFill>
                <a:latin typeface="Aptos" panose="020B0004020202020204" pitchFamily="34" charset="0"/>
              </a:rPr>
              <a:t>WHATSAPP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C9414A5-B057-9504-BCA7-4A14B9ABD9E7}"/>
              </a:ext>
            </a:extLst>
          </p:cNvPr>
          <p:cNvSpPr/>
          <p:nvPr/>
        </p:nvSpPr>
        <p:spPr>
          <a:xfrm>
            <a:off x="8559800" y="3340100"/>
            <a:ext cx="1841500" cy="304800"/>
          </a:xfrm>
          <a:prstGeom prst="roundRect">
            <a:avLst/>
          </a:prstGeom>
          <a:solidFill>
            <a:srgbClr val="FFF4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225A1F-B7DE-95C4-57EE-68C55CE8BCAD}"/>
              </a:ext>
            </a:extLst>
          </p:cNvPr>
          <p:cNvSpPr txBox="1"/>
          <p:nvPr/>
        </p:nvSpPr>
        <p:spPr>
          <a:xfrm>
            <a:off x="8648700" y="3390900"/>
            <a:ext cx="16637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B67616"/>
                </a:solidFill>
                <a:latin typeface="Aptos" panose="020B0004020202020204" pitchFamily="34" charset="0"/>
              </a:rPr>
              <a:t>SCAN / PHOTO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07EFFAD-D807-6E71-1679-16EA74D04D88}"/>
              </a:ext>
            </a:extLst>
          </p:cNvPr>
          <p:cNvCxnSpPr/>
          <p:nvPr/>
        </p:nvCxnSpPr>
        <p:spPr>
          <a:xfrm>
            <a:off x="6350000" y="4140200"/>
            <a:ext cx="4521200" cy="0"/>
          </a:xfrm>
          <a:prstGeom prst="straightConnector1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9661DFA-FB5A-C82C-7635-D244B61C97D9}"/>
              </a:ext>
            </a:extLst>
          </p:cNvPr>
          <p:cNvSpPr txBox="1"/>
          <p:nvPr/>
        </p:nvSpPr>
        <p:spPr>
          <a:xfrm>
            <a:off x="6350000" y="4368800"/>
            <a:ext cx="4394200" cy="69249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500">
                <a:solidFill>
                  <a:srgbClr val="68758C"/>
                </a:solidFill>
                <a:latin typeface="Aptos" panose="020B0004020202020204" pitchFamily="34" charset="0"/>
              </a:rPr>
              <a:t>Manual entry. Repeated checks. Duplicate risk. Approval chasing. Payment follow-up. Spreadsheet updates.</a:t>
            </a:r>
            <a:endParaRPr lang="en-IN" sz="15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E2705B-22BA-0E8A-F1EB-A093DCEA70E9}"/>
              </a:ext>
            </a:extLst>
          </p:cNvPr>
          <p:cNvSpPr txBox="1"/>
          <p:nvPr/>
        </p:nvSpPr>
        <p:spPr>
          <a:xfrm>
            <a:off x="6350000" y="5461000"/>
            <a:ext cx="4394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 b="1">
                <a:solidFill>
                  <a:srgbClr val="D65C67"/>
                </a:solidFill>
                <a:latin typeface="Aptos" panose="020B0004020202020204" pitchFamily="34" charset="0"/>
              </a:rPr>
              <a:t>Work is scattered; visibility arrives late.</a:t>
            </a:r>
            <a:endParaRPr lang="en-IN" sz="1300" b="1">
              <a:solidFill>
                <a:srgbClr val="D65C6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194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9A4037-E8DA-C901-888A-A0345E1ED5A5}"/>
              </a:ext>
            </a:extLst>
          </p:cNvPr>
          <p:cNvSpPr txBox="1"/>
          <p:nvPr/>
        </p:nvSpPr>
        <p:spPr>
          <a:xfrm>
            <a:off x="685800" y="304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PAYOPS / BUSINESS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2B6430-4FAA-2002-D231-24DB27013DC1}"/>
              </a:ext>
            </a:extLst>
          </p:cNvPr>
          <p:cNvSpPr txBox="1"/>
          <p:nvPr/>
        </p:nvSpPr>
        <p:spPr>
          <a:xfrm>
            <a:off x="685800" y="6477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700" b="1">
                <a:solidFill>
                  <a:srgbClr val="182238"/>
                </a:solidFill>
                <a:latin typeface="Aptos" panose="020B0004020202020204" pitchFamily="34" charset="0"/>
              </a:rPr>
              <a:t>Every invoice creates operational work</a:t>
            </a:r>
            <a:endParaRPr lang="en-IN" sz="2700" b="1">
              <a:solidFill>
                <a:srgbClr val="182238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19B7D52-ECF7-67DF-A305-45AF13743FA4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straightConnector1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793C372-FCCD-913E-4FB7-6C7671AE871D}"/>
              </a:ext>
            </a:extLst>
          </p:cNvPr>
          <p:cNvSpPr txBox="1"/>
          <p:nvPr/>
        </p:nvSpPr>
        <p:spPr>
          <a:xfrm>
            <a:off x="685800" y="64897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PAYOPS  ·  INVOICE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7199BF-52F7-4726-8D75-A7C346C31B36}"/>
              </a:ext>
            </a:extLst>
          </p:cNvPr>
          <p:cNvSpPr txBox="1"/>
          <p:nvPr/>
        </p:nvSpPr>
        <p:spPr>
          <a:xfrm>
            <a:off x="11049000" y="64897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0D5107-F690-7505-6857-C4B512CDCD1F}"/>
              </a:ext>
            </a:extLst>
          </p:cNvPr>
          <p:cNvSpPr/>
          <p:nvPr/>
        </p:nvSpPr>
        <p:spPr>
          <a:xfrm>
            <a:off x="711200" y="1917700"/>
            <a:ext cx="2032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E6DE690-0B9C-F615-D93C-158D97F0717D}"/>
              </a:ext>
            </a:extLst>
          </p:cNvPr>
          <p:cNvSpPr/>
          <p:nvPr/>
        </p:nvSpPr>
        <p:spPr>
          <a:xfrm>
            <a:off x="914400" y="2133600"/>
            <a:ext cx="50800" cy="304800"/>
          </a:xfrm>
          <a:prstGeom prst="roundRect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1A4BEE-1214-1C8D-A8D8-514A304B6591}"/>
              </a:ext>
            </a:extLst>
          </p:cNvPr>
          <p:cNvSpPr txBox="1"/>
          <p:nvPr/>
        </p:nvSpPr>
        <p:spPr>
          <a:xfrm>
            <a:off x="1092200" y="2120900"/>
            <a:ext cx="1473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b="1">
                <a:solidFill>
                  <a:srgbClr val="182238"/>
                </a:solidFill>
                <a:latin typeface="Aptos" panose="020B0004020202020204" pitchFamily="34" charset="0"/>
              </a:rPr>
              <a:t>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D75B40-E880-6068-9B51-F972CA78B839}"/>
              </a:ext>
            </a:extLst>
          </p:cNvPr>
          <p:cNvSpPr txBox="1"/>
          <p:nvPr/>
        </p:nvSpPr>
        <p:spPr>
          <a:xfrm>
            <a:off x="1092200" y="2540000"/>
            <a:ext cx="14478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100">
                <a:solidFill>
                  <a:srgbClr val="68758C"/>
                </a:solidFill>
                <a:latin typeface="Aptos" panose="020B0004020202020204" pitchFamily="34" charset="0"/>
              </a:rPr>
              <a:t>Read, enter and re-check the same details.</a:t>
            </a:r>
            <a:endParaRPr lang="en-IN" sz="11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2CE8DFB-1090-4612-5E18-8E381A01956D}"/>
              </a:ext>
            </a:extLst>
          </p:cNvPr>
          <p:cNvSpPr/>
          <p:nvPr/>
        </p:nvSpPr>
        <p:spPr>
          <a:xfrm>
            <a:off x="2921000" y="1917700"/>
            <a:ext cx="2032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2624009-1815-11DD-799B-A530FFA13702}"/>
              </a:ext>
            </a:extLst>
          </p:cNvPr>
          <p:cNvSpPr/>
          <p:nvPr/>
        </p:nvSpPr>
        <p:spPr>
          <a:xfrm>
            <a:off x="3124200" y="2133600"/>
            <a:ext cx="50800" cy="304800"/>
          </a:xfrm>
          <a:prstGeom prst="roundRect">
            <a:avLst/>
          </a:prstGeom>
          <a:solidFill>
            <a:srgbClr val="D65C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9C76AE-956A-2A5A-F17F-D058F29C8355}"/>
              </a:ext>
            </a:extLst>
          </p:cNvPr>
          <p:cNvSpPr txBox="1"/>
          <p:nvPr/>
        </p:nvSpPr>
        <p:spPr>
          <a:xfrm>
            <a:off x="3302000" y="2120900"/>
            <a:ext cx="1473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b="1">
                <a:solidFill>
                  <a:srgbClr val="182238"/>
                </a:solidFill>
                <a:latin typeface="Aptos" panose="020B0004020202020204" pitchFamily="34" charset="0"/>
              </a:rPr>
              <a:t>ERROR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54F95F-A780-B1AF-2576-F5598F954EF7}"/>
              </a:ext>
            </a:extLst>
          </p:cNvPr>
          <p:cNvSpPr txBox="1"/>
          <p:nvPr/>
        </p:nvSpPr>
        <p:spPr>
          <a:xfrm>
            <a:off x="3302000" y="2540000"/>
            <a:ext cx="1447800" cy="5078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100">
                <a:solidFill>
                  <a:srgbClr val="68758C"/>
                </a:solidFill>
                <a:latin typeface="Aptos" panose="020B0004020202020204" pitchFamily="34" charset="0"/>
              </a:rPr>
              <a:t>Mistyped values create payment and reconciliation friction.</a:t>
            </a:r>
            <a:endParaRPr lang="en-IN" sz="11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46D619F-627C-A51D-C5C0-DE172CF72014}"/>
              </a:ext>
            </a:extLst>
          </p:cNvPr>
          <p:cNvSpPr/>
          <p:nvPr/>
        </p:nvSpPr>
        <p:spPr>
          <a:xfrm>
            <a:off x="5130800" y="1917700"/>
            <a:ext cx="2032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755087F-F078-B9E7-D07A-F4D516C6E526}"/>
              </a:ext>
            </a:extLst>
          </p:cNvPr>
          <p:cNvSpPr/>
          <p:nvPr/>
        </p:nvSpPr>
        <p:spPr>
          <a:xfrm>
            <a:off x="5334000" y="2133600"/>
            <a:ext cx="50800" cy="304800"/>
          </a:xfrm>
          <a:prstGeom prst="roundRect">
            <a:avLst/>
          </a:prstGeom>
          <a:solidFill>
            <a:srgbClr val="E99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C7C0B4-BC8D-7F0E-0670-70A13D6C0620}"/>
              </a:ext>
            </a:extLst>
          </p:cNvPr>
          <p:cNvSpPr txBox="1"/>
          <p:nvPr/>
        </p:nvSpPr>
        <p:spPr>
          <a:xfrm>
            <a:off x="5511800" y="2120900"/>
            <a:ext cx="1473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b="1">
                <a:solidFill>
                  <a:srgbClr val="182238"/>
                </a:solidFill>
                <a:latin typeface="Aptos" panose="020B0004020202020204" pitchFamily="34" charset="0"/>
              </a:rPr>
              <a:t>CONTROL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BC8AE8-36FB-B87C-B3F8-FC3B819AB33F}"/>
              </a:ext>
            </a:extLst>
          </p:cNvPr>
          <p:cNvSpPr txBox="1"/>
          <p:nvPr/>
        </p:nvSpPr>
        <p:spPr>
          <a:xfrm>
            <a:off x="5511800" y="2540000"/>
            <a:ext cx="1447800" cy="5078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100">
                <a:solidFill>
                  <a:srgbClr val="68758C"/>
                </a:solidFill>
                <a:latin typeface="Aptos" panose="020B0004020202020204" pitchFamily="34" charset="0"/>
              </a:rPr>
              <a:t>Teams manually verify what is legitimate and approved.</a:t>
            </a:r>
            <a:endParaRPr lang="en-IN" sz="11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AD25C81-5E2A-B4F4-EF56-7EF903276105}"/>
              </a:ext>
            </a:extLst>
          </p:cNvPr>
          <p:cNvSpPr/>
          <p:nvPr/>
        </p:nvSpPr>
        <p:spPr>
          <a:xfrm>
            <a:off x="7340600" y="1917700"/>
            <a:ext cx="2032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E71EF97-91AE-717E-9DD7-B7EA06E56850}"/>
              </a:ext>
            </a:extLst>
          </p:cNvPr>
          <p:cNvSpPr/>
          <p:nvPr/>
        </p:nvSpPr>
        <p:spPr>
          <a:xfrm>
            <a:off x="7543800" y="2133600"/>
            <a:ext cx="50800" cy="304800"/>
          </a:xfrm>
          <a:prstGeom prst="roundRect">
            <a:avLst/>
          </a:prstGeom>
          <a:solidFill>
            <a:srgbClr val="8666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FE76AC-E9D3-715A-53BB-F87431B88861}"/>
              </a:ext>
            </a:extLst>
          </p:cNvPr>
          <p:cNvSpPr txBox="1"/>
          <p:nvPr/>
        </p:nvSpPr>
        <p:spPr>
          <a:xfrm>
            <a:off x="7721600" y="2120900"/>
            <a:ext cx="1473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b="1">
                <a:solidFill>
                  <a:srgbClr val="182238"/>
                </a:solidFill>
                <a:latin typeface="Aptos" panose="020B0004020202020204" pitchFamily="34" charset="0"/>
              </a:rPr>
              <a:t>VISIBILITY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FF3063-B7D8-E2E7-D892-64FDBCE5E39F}"/>
              </a:ext>
            </a:extLst>
          </p:cNvPr>
          <p:cNvSpPr txBox="1"/>
          <p:nvPr/>
        </p:nvSpPr>
        <p:spPr>
          <a:xfrm>
            <a:off x="7721600" y="2540000"/>
            <a:ext cx="1447800" cy="5078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100">
                <a:solidFill>
                  <a:srgbClr val="68758C"/>
                </a:solidFill>
                <a:latin typeface="Aptos" panose="020B0004020202020204" pitchFamily="34" charset="0"/>
              </a:rPr>
              <a:t>Unpaid, overdue and pending work is hard to answer.</a:t>
            </a:r>
            <a:endParaRPr lang="en-IN" sz="11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8C34A41-56FC-AEAB-3805-3510EBD6F980}"/>
              </a:ext>
            </a:extLst>
          </p:cNvPr>
          <p:cNvSpPr/>
          <p:nvPr/>
        </p:nvSpPr>
        <p:spPr>
          <a:xfrm>
            <a:off x="9550400" y="1917700"/>
            <a:ext cx="2032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B69E7FB-88DC-9CCD-348B-3131BFE9AFFC}"/>
              </a:ext>
            </a:extLst>
          </p:cNvPr>
          <p:cNvSpPr/>
          <p:nvPr/>
        </p:nvSpPr>
        <p:spPr>
          <a:xfrm>
            <a:off x="9753600" y="2133600"/>
            <a:ext cx="50800" cy="304800"/>
          </a:xfrm>
          <a:prstGeom prst="roundRect">
            <a:avLst/>
          </a:prstGeom>
          <a:solidFill>
            <a:srgbClr val="178B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4B1BB4-2827-9BAA-A67A-FB87A5F74028}"/>
              </a:ext>
            </a:extLst>
          </p:cNvPr>
          <p:cNvSpPr txBox="1"/>
          <p:nvPr/>
        </p:nvSpPr>
        <p:spPr>
          <a:xfrm>
            <a:off x="9931400" y="2120900"/>
            <a:ext cx="1473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b="1">
                <a:solidFill>
                  <a:srgbClr val="182238"/>
                </a:solidFill>
                <a:latin typeface="Aptos" panose="020B0004020202020204" pitchFamily="34" charset="0"/>
              </a:rPr>
              <a:t>SCALE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140ED2-DBA8-6A48-7FF6-D543EC042ECA}"/>
              </a:ext>
            </a:extLst>
          </p:cNvPr>
          <p:cNvSpPr txBox="1"/>
          <p:nvPr/>
        </p:nvSpPr>
        <p:spPr>
          <a:xfrm>
            <a:off x="9931400" y="2540000"/>
            <a:ext cx="1447800" cy="5078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100">
                <a:solidFill>
                  <a:srgbClr val="68758C"/>
                </a:solidFill>
                <a:latin typeface="Aptos" panose="020B0004020202020204" pitchFamily="34" charset="0"/>
              </a:rPr>
              <a:t>More volume can mean more people and more follow-up.</a:t>
            </a:r>
            <a:endParaRPr lang="en-IN" sz="11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E40AD1C-F355-3EFE-26E4-5EF6F7FFACE4}"/>
              </a:ext>
            </a:extLst>
          </p:cNvPr>
          <p:cNvSpPr/>
          <p:nvPr/>
        </p:nvSpPr>
        <p:spPr>
          <a:xfrm>
            <a:off x="711200" y="4140200"/>
            <a:ext cx="10769600" cy="1549400"/>
          </a:xfrm>
          <a:prstGeom prst="roundRect">
            <a:avLst/>
          </a:prstGeom>
          <a:solidFill>
            <a:srgbClr val="10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2266F6-37AD-12EA-5606-AA3E1BFD800C}"/>
              </a:ext>
            </a:extLst>
          </p:cNvPr>
          <p:cNvSpPr txBox="1"/>
          <p:nvPr/>
        </p:nvSpPr>
        <p:spPr>
          <a:xfrm>
            <a:off x="1041400" y="4406900"/>
            <a:ext cx="10109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700" b="1">
                <a:solidFill>
                  <a:srgbClr val="FFFFFF"/>
                </a:solidFill>
                <a:latin typeface="Aptos" panose="020B0004020202020204" pitchFamily="34" charset="0"/>
              </a:rPr>
              <a:t>MORE INVOICES  →  MORE MANUAL WORK  →  MORE OPERATIONAL COST</a:t>
            </a:r>
            <a:endParaRPr lang="en-IN" sz="17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837C4C-8969-100F-5EE4-15B7EC6A04C3}"/>
              </a:ext>
            </a:extLst>
          </p:cNvPr>
          <p:cNvSpPr txBox="1"/>
          <p:nvPr/>
        </p:nvSpPr>
        <p:spPr>
          <a:xfrm>
            <a:off x="1041400" y="5003800"/>
            <a:ext cx="101092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700">
                <a:solidFill>
                  <a:srgbClr val="C9D4E9"/>
                </a:solidFill>
                <a:latin typeface="Aptos" panose="020B0004020202020204" pitchFamily="34" charset="0"/>
              </a:rPr>
              <a:t>Traditional invoice processing scales people. PayOps scales intelligence.</a:t>
            </a:r>
          </a:p>
        </p:txBody>
      </p:sp>
    </p:spTree>
    <p:extLst>
      <p:ext uri="{BB962C8B-B14F-4D97-AF65-F5344CB8AC3E}">
        <p14:creationId xmlns:p14="http://schemas.microsoft.com/office/powerpoint/2010/main" val="1186731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779346-E372-6B13-3967-2987B01802D9}"/>
              </a:ext>
            </a:extLst>
          </p:cNvPr>
          <p:cNvSpPr txBox="1"/>
          <p:nvPr/>
        </p:nvSpPr>
        <p:spPr>
          <a:xfrm>
            <a:off x="685800" y="304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900" b="1">
                <a:solidFill>
                  <a:srgbClr val="456BFF"/>
                </a:solidFill>
                <a:latin typeface="Aptos" panose="020B0004020202020204" pitchFamily="34" charset="0"/>
              </a:rPr>
              <a:t>PAYOPS / OUR POINT OF VIEW</a:t>
            </a:r>
            <a:endParaRPr lang="en-IN" sz="900" b="1">
              <a:solidFill>
                <a:srgbClr val="456BFF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491ED6-D978-C540-BAA2-4C6FD9C0ECFF}"/>
              </a:ext>
            </a:extLst>
          </p:cNvPr>
          <p:cNvSpPr txBox="1"/>
          <p:nvPr/>
        </p:nvSpPr>
        <p:spPr>
          <a:xfrm>
            <a:off x="685800" y="6477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700" b="1">
                <a:solidFill>
                  <a:srgbClr val="FFFFFF"/>
                </a:solidFill>
                <a:latin typeface="Aptos" panose="020B0004020202020204" pitchFamily="34" charset="0"/>
              </a:rPr>
              <a:t>Invoices are business events, not just documents.</a:t>
            </a:r>
            <a:endParaRPr lang="en-IN" sz="27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184F3B8-31FB-28AB-5ABB-F62DA01A3FD7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straightConnector1">
            <a:avLst/>
          </a:prstGeom>
          <a:ln w="12700">
            <a:solidFill>
              <a:srgbClr val="303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4825243-E99D-BCE5-1A79-9D0A815CBB0B}"/>
              </a:ext>
            </a:extLst>
          </p:cNvPr>
          <p:cNvSpPr txBox="1"/>
          <p:nvPr/>
        </p:nvSpPr>
        <p:spPr>
          <a:xfrm>
            <a:off x="685800" y="64897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B9C3D5"/>
                </a:solidFill>
                <a:latin typeface="Aptos" panose="020B0004020202020204" pitchFamily="34" charset="0"/>
              </a:rPr>
              <a:t>PAYOPS  ·  INVOICE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953337-7AAA-D987-C1D3-E9F7C6BB666D}"/>
              </a:ext>
            </a:extLst>
          </p:cNvPr>
          <p:cNvSpPr txBox="1"/>
          <p:nvPr/>
        </p:nvSpPr>
        <p:spPr>
          <a:xfrm>
            <a:off x="11049000" y="64897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800" b="1">
                <a:solidFill>
                  <a:srgbClr val="B9C3D5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BADB9E-1F3F-A896-9A50-A04F33F60CE0}"/>
              </a:ext>
            </a:extLst>
          </p:cNvPr>
          <p:cNvSpPr txBox="1"/>
          <p:nvPr/>
        </p:nvSpPr>
        <p:spPr>
          <a:xfrm>
            <a:off x="863600" y="1752600"/>
            <a:ext cx="101600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200" b="1">
                <a:solidFill>
                  <a:srgbClr val="FFFFFF"/>
                </a:solidFill>
                <a:latin typeface="Aptos" panose="020B0004020202020204" pitchFamily="34" charset="0"/>
              </a:rPr>
              <a:t>An invoice contains information that should trigger the right next action.</a:t>
            </a:r>
            <a:endParaRPr lang="en-IN" sz="2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4F3DF22-0AAB-DF9A-E4D3-9E70BADD03AA}"/>
              </a:ext>
            </a:extLst>
          </p:cNvPr>
          <p:cNvSpPr/>
          <p:nvPr/>
        </p:nvSpPr>
        <p:spPr>
          <a:xfrm>
            <a:off x="736600" y="3200400"/>
            <a:ext cx="1333500" cy="850900"/>
          </a:xfrm>
          <a:prstGeom prst="roundRect">
            <a:avLst/>
          </a:prstGeom>
          <a:solidFill>
            <a:srgbClr val="202B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351093-98B5-B0B0-76B9-5457EEA1FF21}"/>
              </a:ext>
            </a:extLst>
          </p:cNvPr>
          <p:cNvSpPr txBox="1"/>
          <p:nvPr/>
        </p:nvSpPr>
        <p:spPr>
          <a:xfrm>
            <a:off x="889000" y="3327400"/>
            <a:ext cx="10287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8666F5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1BC064-9BEB-55DC-996D-A951F88646B2}"/>
              </a:ext>
            </a:extLst>
          </p:cNvPr>
          <p:cNvSpPr txBox="1"/>
          <p:nvPr/>
        </p:nvSpPr>
        <p:spPr>
          <a:xfrm>
            <a:off x="889000" y="3594100"/>
            <a:ext cx="10795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ptos" panose="020B0004020202020204" pitchFamily="34" charset="0"/>
              </a:rPr>
              <a:t>INVOICE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1DBC58B-6F97-3E21-9788-E70CA592BECB}"/>
              </a:ext>
            </a:extLst>
          </p:cNvPr>
          <p:cNvCxnSpPr/>
          <p:nvPr/>
        </p:nvCxnSpPr>
        <p:spPr>
          <a:xfrm>
            <a:off x="2082800" y="3619500"/>
            <a:ext cx="203200" cy="0"/>
          </a:xfrm>
          <a:prstGeom prst="straightConnector1">
            <a:avLst/>
          </a:prstGeom>
          <a:ln w="16510">
            <a:solidFill>
              <a:srgbClr val="586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590B2EA-90B6-7657-3EC3-F954B7A556C8}"/>
              </a:ext>
            </a:extLst>
          </p:cNvPr>
          <p:cNvSpPr/>
          <p:nvPr/>
        </p:nvSpPr>
        <p:spPr>
          <a:xfrm>
            <a:off x="2286000" y="3200400"/>
            <a:ext cx="1333500" cy="850900"/>
          </a:xfrm>
          <a:prstGeom prst="roundRect">
            <a:avLst/>
          </a:prstGeom>
          <a:solidFill>
            <a:srgbClr val="202B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205AC7-1744-3414-6314-BBC2A1B1D19F}"/>
              </a:ext>
            </a:extLst>
          </p:cNvPr>
          <p:cNvSpPr txBox="1"/>
          <p:nvPr/>
        </p:nvSpPr>
        <p:spPr>
          <a:xfrm>
            <a:off x="2438400" y="3327400"/>
            <a:ext cx="10287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8666F5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D5CD2C-02BA-ECC9-E97F-E63F9326D0B7}"/>
              </a:ext>
            </a:extLst>
          </p:cNvPr>
          <p:cNvSpPr txBox="1"/>
          <p:nvPr/>
        </p:nvSpPr>
        <p:spPr>
          <a:xfrm>
            <a:off x="2438400" y="3594100"/>
            <a:ext cx="10795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ptos" panose="020B0004020202020204" pitchFamily="34" charset="0"/>
              </a:rPr>
              <a:t>DATA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30FC4E6-10BF-CC7A-AA1F-9089C4978F52}"/>
              </a:ext>
            </a:extLst>
          </p:cNvPr>
          <p:cNvCxnSpPr/>
          <p:nvPr/>
        </p:nvCxnSpPr>
        <p:spPr>
          <a:xfrm>
            <a:off x="3632200" y="3619500"/>
            <a:ext cx="203200" cy="0"/>
          </a:xfrm>
          <a:prstGeom prst="straightConnector1">
            <a:avLst/>
          </a:prstGeom>
          <a:ln w="16510">
            <a:solidFill>
              <a:srgbClr val="586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B05736-8EC1-30D5-20BE-5E2DAC9DEF8E}"/>
              </a:ext>
            </a:extLst>
          </p:cNvPr>
          <p:cNvSpPr/>
          <p:nvPr/>
        </p:nvSpPr>
        <p:spPr>
          <a:xfrm>
            <a:off x="3835400" y="3200400"/>
            <a:ext cx="1333500" cy="850900"/>
          </a:xfrm>
          <a:prstGeom prst="roundRect">
            <a:avLst/>
          </a:prstGeom>
          <a:solidFill>
            <a:srgbClr val="202B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17BDAC-48D7-3FEB-BC84-74387882A3C5}"/>
              </a:ext>
            </a:extLst>
          </p:cNvPr>
          <p:cNvSpPr txBox="1"/>
          <p:nvPr/>
        </p:nvSpPr>
        <p:spPr>
          <a:xfrm>
            <a:off x="3987800" y="3327400"/>
            <a:ext cx="10287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8666F5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0E2A1B-1A52-A45C-E7E4-B3E815BA4AA2}"/>
              </a:ext>
            </a:extLst>
          </p:cNvPr>
          <p:cNvSpPr txBox="1"/>
          <p:nvPr/>
        </p:nvSpPr>
        <p:spPr>
          <a:xfrm>
            <a:off x="3987800" y="3594100"/>
            <a:ext cx="10795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ptos" panose="020B0004020202020204" pitchFamily="34" charset="0"/>
              </a:rPr>
              <a:t>VALIDATE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FF62963-31F7-4F53-D872-F1F8059BA01D}"/>
              </a:ext>
            </a:extLst>
          </p:cNvPr>
          <p:cNvCxnSpPr/>
          <p:nvPr/>
        </p:nvCxnSpPr>
        <p:spPr>
          <a:xfrm>
            <a:off x="5181600" y="3619500"/>
            <a:ext cx="203200" cy="0"/>
          </a:xfrm>
          <a:prstGeom prst="straightConnector1">
            <a:avLst/>
          </a:prstGeom>
          <a:ln w="16510">
            <a:solidFill>
              <a:srgbClr val="586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7A66291-D36B-9131-6C99-84DA65DAEB45}"/>
              </a:ext>
            </a:extLst>
          </p:cNvPr>
          <p:cNvSpPr/>
          <p:nvPr/>
        </p:nvSpPr>
        <p:spPr>
          <a:xfrm>
            <a:off x="5384800" y="3200400"/>
            <a:ext cx="1333500" cy="850900"/>
          </a:xfrm>
          <a:prstGeom prst="roundRect">
            <a:avLst/>
          </a:prstGeom>
          <a:solidFill>
            <a:srgbClr val="202B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38D79D-8A8A-4D57-1B5F-ADD380517076}"/>
              </a:ext>
            </a:extLst>
          </p:cNvPr>
          <p:cNvSpPr txBox="1"/>
          <p:nvPr/>
        </p:nvSpPr>
        <p:spPr>
          <a:xfrm>
            <a:off x="5537200" y="3327400"/>
            <a:ext cx="10287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8666F5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F348F5-2CC7-3466-659B-C0663B73B4A0}"/>
              </a:ext>
            </a:extLst>
          </p:cNvPr>
          <p:cNvSpPr txBox="1"/>
          <p:nvPr/>
        </p:nvSpPr>
        <p:spPr>
          <a:xfrm>
            <a:off x="5537200" y="3594100"/>
            <a:ext cx="10795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ptos" panose="020B0004020202020204" pitchFamily="34" charset="0"/>
              </a:rPr>
              <a:t>DECIDE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317AC8F-CA62-CB48-38C8-EAADB27CFFEA}"/>
              </a:ext>
            </a:extLst>
          </p:cNvPr>
          <p:cNvCxnSpPr/>
          <p:nvPr/>
        </p:nvCxnSpPr>
        <p:spPr>
          <a:xfrm>
            <a:off x="6731000" y="3619500"/>
            <a:ext cx="203200" cy="0"/>
          </a:xfrm>
          <a:prstGeom prst="straightConnector1">
            <a:avLst/>
          </a:prstGeom>
          <a:ln w="16510">
            <a:solidFill>
              <a:srgbClr val="586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CE7A50A-8856-83C6-5273-1EA43B2113B0}"/>
              </a:ext>
            </a:extLst>
          </p:cNvPr>
          <p:cNvSpPr/>
          <p:nvPr/>
        </p:nvSpPr>
        <p:spPr>
          <a:xfrm>
            <a:off x="6934200" y="3200400"/>
            <a:ext cx="1333500" cy="850900"/>
          </a:xfrm>
          <a:prstGeom prst="roundRect">
            <a:avLst/>
          </a:prstGeom>
          <a:solidFill>
            <a:srgbClr val="202B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43F95A-9CF6-7057-A4A1-F33C38A9B130}"/>
              </a:ext>
            </a:extLst>
          </p:cNvPr>
          <p:cNvSpPr txBox="1"/>
          <p:nvPr/>
        </p:nvSpPr>
        <p:spPr>
          <a:xfrm>
            <a:off x="7086600" y="3327400"/>
            <a:ext cx="10287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8666F5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1C407E-1FF0-E9F7-9F49-AF5FACFF3640}"/>
              </a:ext>
            </a:extLst>
          </p:cNvPr>
          <p:cNvSpPr txBox="1"/>
          <p:nvPr/>
        </p:nvSpPr>
        <p:spPr>
          <a:xfrm>
            <a:off x="7086600" y="3594100"/>
            <a:ext cx="10795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ptos" panose="020B0004020202020204" pitchFamily="34" charset="0"/>
              </a:rPr>
              <a:t>APPROVE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9F38E47-00AB-359C-330C-13EA97E354A4}"/>
              </a:ext>
            </a:extLst>
          </p:cNvPr>
          <p:cNvCxnSpPr/>
          <p:nvPr/>
        </p:nvCxnSpPr>
        <p:spPr>
          <a:xfrm>
            <a:off x="8280400" y="3619500"/>
            <a:ext cx="203200" cy="0"/>
          </a:xfrm>
          <a:prstGeom prst="straightConnector1">
            <a:avLst/>
          </a:prstGeom>
          <a:ln w="16510">
            <a:solidFill>
              <a:srgbClr val="586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82DDD7B-8BFD-1F2B-6973-9630F19954B8}"/>
              </a:ext>
            </a:extLst>
          </p:cNvPr>
          <p:cNvSpPr/>
          <p:nvPr/>
        </p:nvSpPr>
        <p:spPr>
          <a:xfrm>
            <a:off x="8483600" y="3200400"/>
            <a:ext cx="1333500" cy="850900"/>
          </a:xfrm>
          <a:prstGeom prst="roundRect">
            <a:avLst/>
          </a:prstGeom>
          <a:solidFill>
            <a:srgbClr val="202B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240192-505D-C229-B331-8698050215BA}"/>
              </a:ext>
            </a:extLst>
          </p:cNvPr>
          <p:cNvSpPr txBox="1"/>
          <p:nvPr/>
        </p:nvSpPr>
        <p:spPr>
          <a:xfrm>
            <a:off x="8636000" y="3327400"/>
            <a:ext cx="10287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8666F5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702BB5-F1E9-0848-5E6D-05192779E448}"/>
              </a:ext>
            </a:extLst>
          </p:cNvPr>
          <p:cNvSpPr txBox="1"/>
          <p:nvPr/>
        </p:nvSpPr>
        <p:spPr>
          <a:xfrm>
            <a:off x="8636000" y="3594100"/>
            <a:ext cx="10795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ptos" panose="020B0004020202020204" pitchFamily="34" charset="0"/>
              </a:rPr>
              <a:t>PAY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B47A14B-EA11-29D9-D6BA-788EAF36F367}"/>
              </a:ext>
            </a:extLst>
          </p:cNvPr>
          <p:cNvCxnSpPr/>
          <p:nvPr/>
        </p:nvCxnSpPr>
        <p:spPr>
          <a:xfrm>
            <a:off x="9829800" y="3619500"/>
            <a:ext cx="203200" cy="0"/>
          </a:xfrm>
          <a:prstGeom prst="straightConnector1">
            <a:avLst/>
          </a:prstGeom>
          <a:ln w="16510">
            <a:solidFill>
              <a:srgbClr val="586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3922531-FAA6-3B24-E127-BA923E4288BC}"/>
              </a:ext>
            </a:extLst>
          </p:cNvPr>
          <p:cNvSpPr/>
          <p:nvPr/>
        </p:nvSpPr>
        <p:spPr>
          <a:xfrm>
            <a:off x="10033000" y="3200400"/>
            <a:ext cx="1333500" cy="850900"/>
          </a:xfrm>
          <a:prstGeom prst="roundRect">
            <a:avLst/>
          </a:prstGeom>
          <a:solidFill>
            <a:srgbClr val="202B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9D0E65-5D14-BEAA-2255-773699270B90}"/>
              </a:ext>
            </a:extLst>
          </p:cNvPr>
          <p:cNvSpPr txBox="1"/>
          <p:nvPr/>
        </p:nvSpPr>
        <p:spPr>
          <a:xfrm>
            <a:off x="10185400" y="3327400"/>
            <a:ext cx="10287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8666F5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88C825-6A10-BC29-DDEB-CD3466BCCE5B}"/>
              </a:ext>
            </a:extLst>
          </p:cNvPr>
          <p:cNvSpPr txBox="1"/>
          <p:nvPr/>
        </p:nvSpPr>
        <p:spPr>
          <a:xfrm>
            <a:off x="10185400" y="3594100"/>
            <a:ext cx="10795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ptos" panose="020B0004020202020204" pitchFamily="34" charset="0"/>
              </a:rPr>
              <a:t>INSIGHT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8D6B5C-40A6-4C55-0A1B-E84A7BF44F99}"/>
              </a:ext>
            </a:extLst>
          </p:cNvPr>
          <p:cNvSpPr txBox="1"/>
          <p:nvPr/>
        </p:nvSpPr>
        <p:spPr>
          <a:xfrm>
            <a:off x="965200" y="4686300"/>
            <a:ext cx="45593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 b="1">
                <a:solidFill>
                  <a:srgbClr val="B9C3D5"/>
                </a:solidFill>
                <a:latin typeface="Aptos" panose="020B0004020202020204" pitchFamily="34" charset="0"/>
              </a:rPr>
              <a:t>TRADITIONAL  ·  CAPTURE → STORE → SEARCH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6613DB-1FB4-FBF1-8FB4-D0A596D858DD}"/>
              </a:ext>
            </a:extLst>
          </p:cNvPr>
          <p:cNvSpPr txBox="1"/>
          <p:nvPr/>
        </p:nvSpPr>
        <p:spPr>
          <a:xfrm>
            <a:off x="965200" y="5105400"/>
            <a:ext cx="10414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PAYOPS  ·  UNDERSTAND → VALIDATE → ACT → TRACK → EXPLAIN</a:t>
            </a:r>
            <a:endParaRPr lang="en-IN" sz="1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D832A2-001B-3C44-EF84-2492BD8991D8}"/>
              </a:ext>
            </a:extLst>
          </p:cNvPr>
          <p:cNvSpPr txBox="1"/>
          <p:nvPr/>
        </p:nvSpPr>
        <p:spPr>
          <a:xfrm>
            <a:off x="965200" y="5816600"/>
            <a:ext cx="10160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200">
                <a:solidFill>
                  <a:srgbClr val="B9C3D5"/>
                </a:solidFill>
                <a:latin typeface="Aptos" panose="020B0004020202020204" pitchFamily="34" charset="0"/>
              </a:rPr>
              <a:t>We focus on what should happen next—not only where invoice data is stored.</a:t>
            </a:r>
            <a:endParaRPr lang="en-IN" sz="1200">
              <a:solidFill>
                <a:srgbClr val="B9C3D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791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C21F56-3EAD-6C3F-5DD9-B8ED4791366A}"/>
              </a:ext>
            </a:extLst>
          </p:cNvPr>
          <p:cNvSpPr txBox="1"/>
          <p:nvPr/>
        </p:nvSpPr>
        <p:spPr>
          <a:xfrm>
            <a:off x="685800" y="304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PAYOPS / BUSINESS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738DF1-ACA1-9D07-4211-5D367014963A}"/>
              </a:ext>
            </a:extLst>
          </p:cNvPr>
          <p:cNvSpPr txBox="1"/>
          <p:nvPr/>
        </p:nvSpPr>
        <p:spPr>
          <a:xfrm>
            <a:off x="685800" y="6477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700" b="1">
                <a:solidFill>
                  <a:srgbClr val="182238"/>
                </a:solidFill>
                <a:latin typeface="Aptos" panose="020B0004020202020204" pitchFamily="34" charset="0"/>
              </a:rPr>
              <a:t>PayOps is not just an invoice management tool</a:t>
            </a:r>
            <a:endParaRPr lang="en-IN" sz="2700" b="1">
              <a:solidFill>
                <a:srgbClr val="182238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4146B33-22DF-A37D-FFAA-7BE0D565677E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straightConnector1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510BDA2-6740-6208-3815-E472A5D22327}"/>
              </a:ext>
            </a:extLst>
          </p:cNvPr>
          <p:cNvSpPr txBox="1"/>
          <p:nvPr/>
        </p:nvSpPr>
        <p:spPr>
          <a:xfrm>
            <a:off x="685800" y="64897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PAYOPS  ·  INVOICE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153F8-FA14-1C5E-8946-CFE591B11A52}"/>
              </a:ext>
            </a:extLst>
          </p:cNvPr>
          <p:cNvSpPr txBox="1"/>
          <p:nvPr/>
        </p:nvSpPr>
        <p:spPr>
          <a:xfrm>
            <a:off x="11049000" y="64897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35ECDF-EE50-B227-1082-4C935A9377B9}"/>
              </a:ext>
            </a:extLst>
          </p:cNvPr>
          <p:cNvSpPr txBox="1"/>
          <p:nvPr/>
        </p:nvSpPr>
        <p:spPr>
          <a:xfrm>
            <a:off x="749300" y="1676400"/>
            <a:ext cx="103886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700">
                <a:solidFill>
                  <a:srgbClr val="68758C"/>
                </a:solidFill>
                <a:latin typeface="Aptos" panose="020B0004020202020204" pitchFamily="34" charset="0"/>
              </a:rPr>
              <a:t>An AI-powered Invoice Operations Agent for the lifecycle from intake to payment visibility.</a:t>
            </a:r>
            <a:endParaRPr lang="en-IN" sz="17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741FBE-BD03-C586-5900-DB1F9BBA9CC3}"/>
              </a:ext>
            </a:extLst>
          </p:cNvPr>
          <p:cNvSpPr/>
          <p:nvPr/>
        </p:nvSpPr>
        <p:spPr>
          <a:xfrm>
            <a:off x="762000" y="2628900"/>
            <a:ext cx="23368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B8957B-AB6F-583E-2C5D-31C467A5591F}"/>
              </a:ext>
            </a:extLst>
          </p:cNvPr>
          <p:cNvSpPr txBox="1"/>
          <p:nvPr/>
        </p:nvSpPr>
        <p:spPr>
          <a:xfrm>
            <a:off x="1041400" y="2921000"/>
            <a:ext cx="1778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100" b="1">
                <a:solidFill>
                  <a:srgbClr val="68758C"/>
                </a:solidFill>
                <a:latin typeface="Aptos" panose="020B0004020202020204" pitchFamily="34" charset="0"/>
              </a:rPr>
              <a:t>INVOICE SOURCES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C8710-059E-8D27-0BCB-0A0060BF9D0D}"/>
              </a:ext>
            </a:extLst>
          </p:cNvPr>
          <p:cNvSpPr txBox="1"/>
          <p:nvPr/>
        </p:nvSpPr>
        <p:spPr>
          <a:xfrm>
            <a:off x="1041400" y="3352800"/>
            <a:ext cx="1778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200" b="1">
                <a:solidFill>
                  <a:srgbClr val="182238"/>
                </a:solidFill>
                <a:latin typeface="Aptos" panose="020B0004020202020204" pitchFamily="34" charset="0"/>
              </a:rPr>
              <a:t>PDF · Email · Scan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2DEF310-9591-538F-2271-F18E806F8B6C}"/>
              </a:ext>
            </a:extLst>
          </p:cNvPr>
          <p:cNvSpPr/>
          <p:nvPr/>
        </p:nvSpPr>
        <p:spPr>
          <a:xfrm>
            <a:off x="3733800" y="2324100"/>
            <a:ext cx="4699000" cy="2006600"/>
          </a:xfrm>
          <a:prstGeom prst="roundRect">
            <a:avLst/>
          </a:prstGeom>
          <a:solidFill>
            <a:srgbClr val="10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457900-CECB-97A8-B0BE-EACD971D4EDB}"/>
              </a:ext>
            </a:extLst>
          </p:cNvPr>
          <p:cNvSpPr txBox="1"/>
          <p:nvPr/>
        </p:nvSpPr>
        <p:spPr>
          <a:xfrm>
            <a:off x="4114800" y="2667000"/>
            <a:ext cx="3937000" cy="3847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2500" b="1">
                <a:solidFill>
                  <a:srgbClr val="FFFFFF"/>
                </a:solidFill>
                <a:latin typeface="Aptos" panose="020B0004020202020204" pitchFamily="34" charset="0"/>
              </a:rPr>
              <a:t>PayOps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25AA69-27FA-C396-F21A-691B4F8E47A3}"/>
              </a:ext>
            </a:extLst>
          </p:cNvPr>
          <p:cNvSpPr txBox="1"/>
          <p:nvPr/>
        </p:nvSpPr>
        <p:spPr>
          <a:xfrm>
            <a:off x="4114800" y="3162300"/>
            <a:ext cx="39370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300">
                <a:solidFill>
                  <a:srgbClr val="C9D4E9"/>
                </a:solidFill>
                <a:latin typeface="Aptos" panose="020B0004020202020204" pitchFamily="34" charset="0"/>
              </a:rPr>
              <a:t>AI understanding · rules · workflow
review · payment visibility · insights</a:t>
            </a:r>
            <a:endParaRPr lang="en-IN" sz="1300">
              <a:solidFill>
                <a:srgbClr val="C9D4E9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36BE807-B87E-D19D-5C2C-B3B1058F3A62}"/>
              </a:ext>
            </a:extLst>
          </p:cNvPr>
          <p:cNvSpPr/>
          <p:nvPr/>
        </p:nvSpPr>
        <p:spPr>
          <a:xfrm>
            <a:off x="9067800" y="2628900"/>
            <a:ext cx="23368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154595-89E3-6E84-DC59-8F01569C5900}"/>
              </a:ext>
            </a:extLst>
          </p:cNvPr>
          <p:cNvSpPr txBox="1"/>
          <p:nvPr/>
        </p:nvSpPr>
        <p:spPr>
          <a:xfrm>
            <a:off x="9347200" y="2921000"/>
            <a:ext cx="1778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100" b="1">
                <a:solidFill>
                  <a:srgbClr val="68758C"/>
                </a:solidFill>
                <a:latin typeface="Aptos" panose="020B0004020202020204" pitchFamily="34" charset="0"/>
              </a:rPr>
              <a:t>BUSINESS SYSTEMS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D6A19F-BA2B-146E-6C8A-DA6E01D60687}"/>
              </a:ext>
            </a:extLst>
          </p:cNvPr>
          <p:cNvSpPr txBox="1"/>
          <p:nvPr/>
        </p:nvSpPr>
        <p:spPr>
          <a:xfrm>
            <a:off x="9347200" y="3352800"/>
            <a:ext cx="1778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200" b="1">
                <a:solidFill>
                  <a:srgbClr val="182238"/>
                </a:solidFill>
                <a:latin typeface="Aptos" panose="020B0004020202020204" pitchFamily="34" charset="0"/>
              </a:rPr>
              <a:t>Approval · Payment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4F4552-6E4D-ADF5-AD18-800764C09653}"/>
              </a:ext>
            </a:extLst>
          </p:cNvPr>
          <p:cNvCxnSpPr/>
          <p:nvPr/>
        </p:nvCxnSpPr>
        <p:spPr>
          <a:xfrm>
            <a:off x="3098800" y="3302000"/>
            <a:ext cx="635000" cy="0"/>
          </a:xfrm>
          <a:prstGeom prst="straightConnector1">
            <a:avLst/>
          </a:prstGeom>
          <a:ln w="25400">
            <a:solidFill>
              <a:srgbClr val="45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6054AF-E0B4-A1C8-5A88-CC2618ABF4C2}"/>
              </a:ext>
            </a:extLst>
          </p:cNvPr>
          <p:cNvCxnSpPr/>
          <p:nvPr/>
        </p:nvCxnSpPr>
        <p:spPr>
          <a:xfrm>
            <a:off x="8432800" y="3302000"/>
            <a:ext cx="635000" cy="0"/>
          </a:xfrm>
          <a:prstGeom prst="straightConnector1">
            <a:avLst/>
          </a:prstGeom>
          <a:ln w="25400">
            <a:solidFill>
              <a:srgbClr val="178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E239263-9CBF-75A9-CEAF-8BEC86744598}"/>
              </a:ext>
            </a:extLst>
          </p:cNvPr>
          <p:cNvSpPr txBox="1"/>
          <p:nvPr/>
        </p:nvSpPr>
        <p:spPr>
          <a:xfrm>
            <a:off x="762000" y="4838700"/>
            <a:ext cx="10668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400">
                <a:solidFill>
                  <a:srgbClr val="68758C"/>
                </a:solidFill>
                <a:latin typeface="Aptos" panose="020B0004020202020204" pitchFamily="34" charset="0"/>
              </a:rPr>
              <a:t>A focused operations layer—not a replacement for the ledger, tax platform or full ERP.</a:t>
            </a:r>
            <a:endParaRPr lang="en-IN" sz="14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46DF704-B2E5-D5FD-66EF-DEA1FB61DFD1}"/>
              </a:ext>
            </a:extLst>
          </p:cNvPr>
          <p:cNvSpPr/>
          <p:nvPr/>
        </p:nvSpPr>
        <p:spPr>
          <a:xfrm>
            <a:off x="4178300" y="5499100"/>
            <a:ext cx="3810000" cy="304800"/>
          </a:xfrm>
          <a:prstGeom prst="roundRect">
            <a:avLst/>
          </a:prstGeom>
          <a:solidFill>
            <a:srgbClr val="F1E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308493-769A-5F9E-8041-D25BF8EF856D}"/>
              </a:ext>
            </a:extLst>
          </p:cNvPr>
          <p:cNvSpPr txBox="1"/>
          <p:nvPr/>
        </p:nvSpPr>
        <p:spPr>
          <a:xfrm>
            <a:off x="4267200" y="5549900"/>
            <a:ext cx="36322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900" b="1">
                <a:solidFill>
                  <a:srgbClr val="8666F5"/>
                </a:solidFill>
                <a:latin typeface="Aptos" panose="020B0004020202020204" pitchFamily="34" charset="0"/>
              </a:rPr>
              <a:t>INVOICE OPERATIONS + AP WORKFLOW + AI</a:t>
            </a:r>
            <a:endParaRPr lang="en-IN" sz="900" b="1">
              <a:solidFill>
                <a:srgbClr val="8666F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870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09A227-A316-7CC3-5FAE-8C674E1264C4}"/>
              </a:ext>
            </a:extLst>
          </p:cNvPr>
          <p:cNvSpPr txBox="1"/>
          <p:nvPr/>
        </p:nvSpPr>
        <p:spPr>
          <a:xfrm>
            <a:off x="685800" y="304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PAYOPS / BUSINESS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9B77A6-57CD-A48B-775C-0BDAAE7829A6}"/>
              </a:ext>
            </a:extLst>
          </p:cNvPr>
          <p:cNvSpPr txBox="1"/>
          <p:nvPr/>
        </p:nvSpPr>
        <p:spPr>
          <a:xfrm>
            <a:off x="685800" y="6477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700" b="1">
                <a:solidFill>
                  <a:srgbClr val="182238"/>
                </a:solidFill>
                <a:latin typeface="Aptos" panose="020B0004020202020204" pitchFamily="34" charset="0"/>
              </a:rPr>
              <a:t>From document processing to business operations</a:t>
            </a:r>
            <a:endParaRPr lang="en-IN" sz="2700" b="1">
              <a:solidFill>
                <a:srgbClr val="182238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DA20BE7-71C0-3989-441C-840DB8963709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straightConnector1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51113D2-DF7C-3981-4BFB-A209EFB6E592}"/>
              </a:ext>
            </a:extLst>
          </p:cNvPr>
          <p:cNvSpPr txBox="1"/>
          <p:nvPr/>
        </p:nvSpPr>
        <p:spPr>
          <a:xfrm>
            <a:off x="685800" y="64897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PAYOPS  ·  INVOICE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60CD0D-1923-C3BF-9396-51B9345875CD}"/>
              </a:ext>
            </a:extLst>
          </p:cNvPr>
          <p:cNvSpPr txBox="1"/>
          <p:nvPr/>
        </p:nvSpPr>
        <p:spPr>
          <a:xfrm>
            <a:off x="11049000" y="64897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DE804A7-86C3-F96C-B8E8-2A8875B273CA}"/>
              </a:ext>
            </a:extLst>
          </p:cNvPr>
          <p:cNvSpPr/>
          <p:nvPr/>
        </p:nvSpPr>
        <p:spPr>
          <a:xfrm>
            <a:off x="736600" y="1917700"/>
            <a:ext cx="3352800" cy="154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E93242-0BA8-48A2-B7F7-0D295B696EE2}"/>
              </a:ext>
            </a:extLst>
          </p:cNvPr>
          <p:cNvSpPr/>
          <p:nvPr/>
        </p:nvSpPr>
        <p:spPr>
          <a:xfrm>
            <a:off x="939800" y="2133600"/>
            <a:ext cx="50800" cy="304800"/>
          </a:xfrm>
          <a:prstGeom prst="roundRect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472FCE-8FDE-8622-CD55-B8A4394BA093}"/>
              </a:ext>
            </a:extLst>
          </p:cNvPr>
          <p:cNvSpPr txBox="1"/>
          <p:nvPr/>
        </p:nvSpPr>
        <p:spPr>
          <a:xfrm>
            <a:off x="1117600" y="21209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400" b="1">
                <a:solidFill>
                  <a:srgbClr val="182238"/>
                </a:solidFill>
                <a:latin typeface="Aptos" panose="020B0004020202020204" pitchFamily="34" charset="0"/>
              </a:rPr>
              <a:t>01  INGEST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F3DF78-2EB6-BF30-05F1-15C50BA647F6}"/>
              </a:ext>
            </a:extLst>
          </p:cNvPr>
          <p:cNvSpPr txBox="1"/>
          <p:nvPr/>
        </p:nvSpPr>
        <p:spPr>
          <a:xfrm>
            <a:off x="1117600" y="2540000"/>
            <a:ext cx="27686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200">
                <a:solidFill>
                  <a:srgbClr val="68758C"/>
                </a:solidFill>
                <a:latin typeface="Aptos" panose="020B0004020202020204" pitchFamily="34" charset="0"/>
              </a:rPr>
              <a:t>Bring files into one intake flow.</a:t>
            </a:r>
            <a:endParaRPr lang="en-IN" sz="12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776874B-EF2F-3763-DB04-434A6D573F7F}"/>
              </a:ext>
            </a:extLst>
          </p:cNvPr>
          <p:cNvSpPr/>
          <p:nvPr/>
        </p:nvSpPr>
        <p:spPr>
          <a:xfrm>
            <a:off x="4368800" y="1917700"/>
            <a:ext cx="3352800" cy="154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D32E459-BCB5-F86E-A696-B8C9C2EE955D}"/>
              </a:ext>
            </a:extLst>
          </p:cNvPr>
          <p:cNvSpPr/>
          <p:nvPr/>
        </p:nvSpPr>
        <p:spPr>
          <a:xfrm>
            <a:off x="4572000" y="2133600"/>
            <a:ext cx="50800" cy="304800"/>
          </a:xfrm>
          <a:prstGeom prst="roundRect">
            <a:avLst/>
          </a:prstGeom>
          <a:solidFill>
            <a:srgbClr val="8666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D5DE5E-30F1-58A7-B083-978C79FB3351}"/>
              </a:ext>
            </a:extLst>
          </p:cNvPr>
          <p:cNvSpPr txBox="1"/>
          <p:nvPr/>
        </p:nvSpPr>
        <p:spPr>
          <a:xfrm>
            <a:off x="4749800" y="21209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400" b="1">
                <a:solidFill>
                  <a:srgbClr val="182238"/>
                </a:solidFill>
                <a:latin typeface="Aptos" panose="020B0004020202020204" pitchFamily="34" charset="0"/>
              </a:rPr>
              <a:t>02  UNDERSTAND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7DE839-504B-2969-CB87-10958399FF57}"/>
              </a:ext>
            </a:extLst>
          </p:cNvPr>
          <p:cNvSpPr txBox="1"/>
          <p:nvPr/>
        </p:nvSpPr>
        <p:spPr>
          <a:xfrm>
            <a:off x="4749800" y="2540000"/>
            <a:ext cx="27686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>
                <a:solidFill>
                  <a:srgbClr val="68758C"/>
                </a:solidFill>
                <a:latin typeface="Aptos" panose="020B0004020202020204" pitchFamily="34" charset="0"/>
              </a:rPr>
              <a:t>Extract structured invoice data.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39DC8CC-4629-7E11-DAF3-0A7331CB17B3}"/>
              </a:ext>
            </a:extLst>
          </p:cNvPr>
          <p:cNvSpPr/>
          <p:nvPr/>
        </p:nvSpPr>
        <p:spPr>
          <a:xfrm>
            <a:off x="8001000" y="1917700"/>
            <a:ext cx="3352800" cy="154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D560087-D374-2044-BED8-082D9EE83C4A}"/>
              </a:ext>
            </a:extLst>
          </p:cNvPr>
          <p:cNvSpPr/>
          <p:nvPr/>
        </p:nvSpPr>
        <p:spPr>
          <a:xfrm>
            <a:off x="8204200" y="2133600"/>
            <a:ext cx="50800" cy="304800"/>
          </a:xfrm>
          <a:prstGeom prst="roundRect">
            <a:avLst/>
          </a:prstGeom>
          <a:solidFill>
            <a:srgbClr val="178B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4DEDC6-8F48-0F6D-A89F-63746D0D5794}"/>
              </a:ext>
            </a:extLst>
          </p:cNvPr>
          <p:cNvSpPr txBox="1"/>
          <p:nvPr/>
        </p:nvSpPr>
        <p:spPr>
          <a:xfrm>
            <a:off x="8382000" y="21209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400" b="1">
                <a:solidFill>
                  <a:srgbClr val="182238"/>
                </a:solidFill>
                <a:latin typeface="Aptos" panose="020B0004020202020204" pitchFamily="34" charset="0"/>
              </a:rPr>
              <a:t>03  VALIDATE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8E1B90-223E-F77D-88E9-C89E7829358B}"/>
              </a:ext>
            </a:extLst>
          </p:cNvPr>
          <p:cNvSpPr txBox="1"/>
          <p:nvPr/>
        </p:nvSpPr>
        <p:spPr>
          <a:xfrm>
            <a:off x="8382000" y="2540000"/>
            <a:ext cx="27686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200">
                <a:solidFill>
                  <a:srgbClr val="68758C"/>
                </a:solidFill>
                <a:latin typeface="Aptos" panose="020B0004020202020204" pitchFamily="34" charset="0"/>
              </a:rPr>
              <a:t>Check totals, tax, dates and fields.</a:t>
            </a:r>
            <a:endParaRPr lang="en-IN" sz="12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2B2857A-0C23-0B36-07C7-A4C2AC30DD1B}"/>
              </a:ext>
            </a:extLst>
          </p:cNvPr>
          <p:cNvSpPr/>
          <p:nvPr/>
        </p:nvSpPr>
        <p:spPr>
          <a:xfrm>
            <a:off x="736600" y="3784600"/>
            <a:ext cx="3352800" cy="154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799DC25-CAFD-A688-6C3A-FEBC7F3A8A83}"/>
              </a:ext>
            </a:extLst>
          </p:cNvPr>
          <p:cNvSpPr/>
          <p:nvPr/>
        </p:nvSpPr>
        <p:spPr>
          <a:xfrm>
            <a:off x="939800" y="4000500"/>
            <a:ext cx="50800" cy="304800"/>
          </a:xfrm>
          <a:prstGeom prst="roundRect">
            <a:avLst/>
          </a:prstGeom>
          <a:solidFill>
            <a:srgbClr val="E99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481C44-4AB8-BF0E-2368-29CF57D74014}"/>
              </a:ext>
            </a:extLst>
          </p:cNvPr>
          <p:cNvSpPr txBox="1"/>
          <p:nvPr/>
        </p:nvSpPr>
        <p:spPr>
          <a:xfrm>
            <a:off x="1117600" y="39878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400" b="1">
                <a:solidFill>
                  <a:srgbClr val="182238"/>
                </a:solidFill>
                <a:latin typeface="Aptos" panose="020B0004020202020204" pitchFamily="34" charset="0"/>
              </a:rPr>
              <a:t>04  DECIDE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C79495-BE18-0F45-0E38-7CCC21803985}"/>
              </a:ext>
            </a:extLst>
          </p:cNvPr>
          <p:cNvSpPr txBox="1"/>
          <p:nvPr/>
        </p:nvSpPr>
        <p:spPr>
          <a:xfrm>
            <a:off x="1117600" y="4406900"/>
            <a:ext cx="27686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200">
                <a:solidFill>
                  <a:srgbClr val="68758C"/>
                </a:solidFill>
                <a:latin typeface="Aptos" panose="020B0004020202020204" pitchFamily="34" charset="0"/>
              </a:rPr>
              <a:t>Flag duplicates, anomalies and gaps.</a:t>
            </a:r>
            <a:endParaRPr lang="en-IN" sz="12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961BE2D-CA58-CA52-6A9D-95A029C6CFBB}"/>
              </a:ext>
            </a:extLst>
          </p:cNvPr>
          <p:cNvSpPr/>
          <p:nvPr/>
        </p:nvSpPr>
        <p:spPr>
          <a:xfrm>
            <a:off x="4368800" y="3784600"/>
            <a:ext cx="3352800" cy="154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4410AAE-EB36-CDC1-46B9-E976B51912AB}"/>
              </a:ext>
            </a:extLst>
          </p:cNvPr>
          <p:cNvSpPr/>
          <p:nvPr/>
        </p:nvSpPr>
        <p:spPr>
          <a:xfrm>
            <a:off x="4572000" y="4000500"/>
            <a:ext cx="50800" cy="304800"/>
          </a:xfrm>
          <a:prstGeom prst="roundRect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EC6EFD-B71F-99D8-FBAA-7CAA8D051FF1}"/>
              </a:ext>
            </a:extLst>
          </p:cNvPr>
          <p:cNvSpPr txBox="1"/>
          <p:nvPr/>
        </p:nvSpPr>
        <p:spPr>
          <a:xfrm>
            <a:off x="4749800" y="39878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400" b="1">
                <a:solidFill>
                  <a:srgbClr val="182238"/>
                </a:solidFill>
                <a:latin typeface="Aptos" panose="020B0004020202020204" pitchFamily="34" charset="0"/>
              </a:rPr>
              <a:t>05  EXECUTE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D339DF-9168-7748-A933-E15748AC7D30}"/>
              </a:ext>
            </a:extLst>
          </p:cNvPr>
          <p:cNvSpPr txBox="1"/>
          <p:nvPr/>
        </p:nvSpPr>
        <p:spPr>
          <a:xfrm>
            <a:off x="4749800" y="4406900"/>
            <a:ext cx="2768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200">
                <a:solidFill>
                  <a:srgbClr val="68758C"/>
                </a:solidFill>
                <a:latin typeface="Aptos" panose="020B0004020202020204" pitchFamily="34" charset="0"/>
              </a:rPr>
              <a:t>Route review, approval and payment status.</a:t>
            </a:r>
            <a:endParaRPr lang="en-IN" sz="12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CD9D00E-2D03-5D7D-303A-89BA8DDE8D58}"/>
              </a:ext>
            </a:extLst>
          </p:cNvPr>
          <p:cNvSpPr/>
          <p:nvPr/>
        </p:nvSpPr>
        <p:spPr>
          <a:xfrm>
            <a:off x="8001000" y="3784600"/>
            <a:ext cx="3352800" cy="154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0D6A853-CE98-B54E-73A9-82A114EFBA16}"/>
              </a:ext>
            </a:extLst>
          </p:cNvPr>
          <p:cNvSpPr/>
          <p:nvPr/>
        </p:nvSpPr>
        <p:spPr>
          <a:xfrm>
            <a:off x="8204200" y="4000500"/>
            <a:ext cx="50800" cy="304800"/>
          </a:xfrm>
          <a:prstGeom prst="roundRect">
            <a:avLst/>
          </a:prstGeom>
          <a:solidFill>
            <a:srgbClr val="8666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88F452-7211-9431-FAE0-C84B9EEF829F}"/>
              </a:ext>
            </a:extLst>
          </p:cNvPr>
          <p:cNvSpPr txBox="1"/>
          <p:nvPr/>
        </p:nvSpPr>
        <p:spPr>
          <a:xfrm>
            <a:off x="8382000" y="39878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400" b="1">
                <a:solidFill>
                  <a:srgbClr val="182238"/>
                </a:solidFill>
                <a:latin typeface="Aptos" panose="020B0004020202020204" pitchFamily="34" charset="0"/>
              </a:rPr>
              <a:t>06  ASSIST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761D18-F15A-0CAF-10E7-AEBF9FD20436}"/>
              </a:ext>
            </a:extLst>
          </p:cNvPr>
          <p:cNvSpPr txBox="1"/>
          <p:nvPr/>
        </p:nvSpPr>
        <p:spPr>
          <a:xfrm>
            <a:off x="8382000" y="4406900"/>
            <a:ext cx="27686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200">
                <a:solidFill>
                  <a:srgbClr val="68758C"/>
                </a:solidFill>
                <a:latin typeface="Aptos" panose="020B0004020202020204" pitchFamily="34" charset="0"/>
              </a:rPr>
              <a:t>Ask questions in natural language.</a:t>
            </a:r>
            <a:endParaRPr lang="en-IN" sz="12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F47364-0092-BD38-6CB7-AE4F402C6D5F}"/>
              </a:ext>
            </a:extLst>
          </p:cNvPr>
          <p:cNvSpPr txBox="1"/>
          <p:nvPr/>
        </p:nvSpPr>
        <p:spPr>
          <a:xfrm>
            <a:off x="762000" y="5956300"/>
            <a:ext cx="10668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200">
                <a:solidFill>
                  <a:srgbClr val="68758C"/>
                </a:solidFill>
                <a:latin typeface="Aptos" panose="020B0004020202020204" pitchFamily="34" charset="0"/>
              </a:rPr>
              <a:t>Ingestion → extraction → validation → business action → payment visibility → AI insights</a:t>
            </a:r>
            <a:endParaRPr lang="en-IN" sz="12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145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F62BE7-7B0F-A27B-F8FB-91423E2B3F86}"/>
              </a:ext>
            </a:extLst>
          </p:cNvPr>
          <p:cNvSpPr txBox="1"/>
          <p:nvPr/>
        </p:nvSpPr>
        <p:spPr>
          <a:xfrm>
            <a:off x="685800" y="304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PAYOPS / BUSINESS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EF585-354F-D265-72FC-6AECA0FAA8A6}"/>
              </a:ext>
            </a:extLst>
          </p:cNvPr>
          <p:cNvSpPr txBox="1"/>
          <p:nvPr/>
        </p:nvSpPr>
        <p:spPr>
          <a:xfrm>
            <a:off x="685800" y="6477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2700" b="1">
                <a:solidFill>
                  <a:srgbClr val="182238"/>
                </a:solidFill>
                <a:latin typeface="Aptos" panose="020B0004020202020204" pitchFamily="34" charset="0"/>
              </a:rPr>
              <a:t>The PayOps intelligence pipeline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F8D03AB-BEC1-286A-FF42-1FC78FCE27D6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straightConnector1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89E8B3A-A4D9-789C-47BE-526046AB8AAB}"/>
              </a:ext>
            </a:extLst>
          </p:cNvPr>
          <p:cNvSpPr txBox="1"/>
          <p:nvPr/>
        </p:nvSpPr>
        <p:spPr>
          <a:xfrm>
            <a:off x="685800" y="64897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PAYOPS  ·  INVOICE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23D321-1839-E428-4125-DA1CEC22D803}"/>
              </a:ext>
            </a:extLst>
          </p:cNvPr>
          <p:cNvSpPr txBox="1"/>
          <p:nvPr/>
        </p:nvSpPr>
        <p:spPr>
          <a:xfrm>
            <a:off x="11049000" y="64897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6F81D7B-6B40-633B-4354-CFA23C50A740}"/>
              </a:ext>
            </a:extLst>
          </p:cNvPr>
          <p:cNvSpPr/>
          <p:nvPr/>
        </p:nvSpPr>
        <p:spPr>
          <a:xfrm>
            <a:off x="736600" y="2794000"/>
            <a:ext cx="1320800" cy="132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9B9858-13E7-5303-E7AD-331C7A7D4C3E}"/>
              </a:ext>
            </a:extLst>
          </p:cNvPr>
          <p:cNvSpPr txBox="1"/>
          <p:nvPr/>
        </p:nvSpPr>
        <p:spPr>
          <a:xfrm>
            <a:off x="889000" y="3022600"/>
            <a:ext cx="9906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898EBF-E6D2-1A96-F507-A0022EA94501}"/>
              </a:ext>
            </a:extLst>
          </p:cNvPr>
          <p:cNvSpPr txBox="1"/>
          <p:nvPr/>
        </p:nvSpPr>
        <p:spPr>
          <a:xfrm>
            <a:off x="850900" y="3390900"/>
            <a:ext cx="10922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200" b="1">
                <a:solidFill>
                  <a:srgbClr val="182238"/>
                </a:solidFill>
                <a:latin typeface="Aptos" panose="020B0004020202020204" pitchFamily="34" charset="0"/>
              </a:rPr>
              <a:t>INGEST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34182D-1600-8014-5830-8BE217060246}"/>
              </a:ext>
            </a:extLst>
          </p:cNvPr>
          <p:cNvCxnSpPr/>
          <p:nvPr/>
        </p:nvCxnSpPr>
        <p:spPr>
          <a:xfrm>
            <a:off x="2057400" y="3454400"/>
            <a:ext cx="228600" cy="0"/>
          </a:xfrm>
          <a:prstGeom prst="straightConnector1">
            <a:avLst/>
          </a:prstGeom>
          <a:ln w="19050">
            <a:solidFill>
              <a:srgbClr val="45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EA1EAB2-D5B4-E2CF-3F51-7E17ED697708}"/>
              </a:ext>
            </a:extLst>
          </p:cNvPr>
          <p:cNvSpPr/>
          <p:nvPr/>
        </p:nvSpPr>
        <p:spPr>
          <a:xfrm>
            <a:off x="2298700" y="2794000"/>
            <a:ext cx="1320800" cy="1320800"/>
          </a:xfrm>
          <a:prstGeom prst="roundRect">
            <a:avLst/>
          </a:prstGeom>
          <a:solidFill>
            <a:srgbClr val="F1ED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A5ED62-D1B3-7E65-3A4E-457B548A99EC}"/>
              </a:ext>
            </a:extLst>
          </p:cNvPr>
          <p:cNvSpPr txBox="1"/>
          <p:nvPr/>
        </p:nvSpPr>
        <p:spPr>
          <a:xfrm>
            <a:off x="2451100" y="3022600"/>
            <a:ext cx="9906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8666F5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9D858C-EEC9-298F-0A53-2A3D81FBE867}"/>
              </a:ext>
            </a:extLst>
          </p:cNvPr>
          <p:cNvSpPr txBox="1"/>
          <p:nvPr/>
        </p:nvSpPr>
        <p:spPr>
          <a:xfrm>
            <a:off x="2413000" y="3390900"/>
            <a:ext cx="1092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200" b="1">
                <a:solidFill>
                  <a:srgbClr val="182238"/>
                </a:solidFill>
                <a:latin typeface="Aptos" panose="020B0004020202020204" pitchFamily="34" charset="0"/>
              </a:rPr>
              <a:t>OCR + AI
EXTRACTION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D4C4CC2-F367-92A5-FAB9-8D4D0473BD14}"/>
              </a:ext>
            </a:extLst>
          </p:cNvPr>
          <p:cNvCxnSpPr/>
          <p:nvPr/>
        </p:nvCxnSpPr>
        <p:spPr>
          <a:xfrm>
            <a:off x="3619500" y="3454400"/>
            <a:ext cx="228600" cy="0"/>
          </a:xfrm>
          <a:prstGeom prst="straightConnector1">
            <a:avLst/>
          </a:prstGeom>
          <a:ln w="19050">
            <a:solidFill>
              <a:srgbClr val="45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AFAFA1F-A585-A234-7C6E-9448AA172651}"/>
              </a:ext>
            </a:extLst>
          </p:cNvPr>
          <p:cNvSpPr/>
          <p:nvPr/>
        </p:nvSpPr>
        <p:spPr>
          <a:xfrm>
            <a:off x="3860800" y="2794000"/>
            <a:ext cx="1320800" cy="132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C3E0D4-55F7-2886-C88F-E3A731D1B19C}"/>
              </a:ext>
            </a:extLst>
          </p:cNvPr>
          <p:cNvSpPr txBox="1"/>
          <p:nvPr/>
        </p:nvSpPr>
        <p:spPr>
          <a:xfrm>
            <a:off x="4013200" y="3022600"/>
            <a:ext cx="9906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B21D37-4F94-12F0-1231-F81EC8F526F7}"/>
              </a:ext>
            </a:extLst>
          </p:cNvPr>
          <p:cNvSpPr txBox="1"/>
          <p:nvPr/>
        </p:nvSpPr>
        <p:spPr>
          <a:xfrm>
            <a:off x="3975100" y="3390900"/>
            <a:ext cx="10922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200" b="1">
                <a:solidFill>
                  <a:srgbClr val="182238"/>
                </a:solidFill>
                <a:latin typeface="Aptos" panose="020B0004020202020204" pitchFamily="34" charset="0"/>
              </a:rPr>
              <a:t>VALIDATION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09F5CDC-BE7E-0E0E-F5EE-7C4624AA1E73}"/>
              </a:ext>
            </a:extLst>
          </p:cNvPr>
          <p:cNvCxnSpPr/>
          <p:nvPr/>
        </p:nvCxnSpPr>
        <p:spPr>
          <a:xfrm>
            <a:off x="5181600" y="3454400"/>
            <a:ext cx="228600" cy="0"/>
          </a:xfrm>
          <a:prstGeom prst="straightConnector1">
            <a:avLst/>
          </a:prstGeom>
          <a:ln w="19050">
            <a:solidFill>
              <a:srgbClr val="45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FFAD32D-A4E8-134F-BDC7-FFB0DA64DE39}"/>
              </a:ext>
            </a:extLst>
          </p:cNvPr>
          <p:cNvSpPr/>
          <p:nvPr/>
        </p:nvSpPr>
        <p:spPr>
          <a:xfrm>
            <a:off x="5422900" y="2794000"/>
            <a:ext cx="1320800" cy="132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FC294F-F1D5-CB87-BCC4-6189C72D4859}"/>
              </a:ext>
            </a:extLst>
          </p:cNvPr>
          <p:cNvSpPr txBox="1"/>
          <p:nvPr/>
        </p:nvSpPr>
        <p:spPr>
          <a:xfrm>
            <a:off x="5575300" y="3022600"/>
            <a:ext cx="9906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1BEC91-842C-2AEA-994C-1B2111DCB64E}"/>
              </a:ext>
            </a:extLst>
          </p:cNvPr>
          <p:cNvSpPr txBox="1"/>
          <p:nvPr/>
        </p:nvSpPr>
        <p:spPr>
          <a:xfrm>
            <a:off x="5537200" y="3390900"/>
            <a:ext cx="1092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200" b="1">
                <a:solidFill>
                  <a:srgbClr val="182238"/>
                </a:solidFill>
                <a:latin typeface="Aptos" panose="020B0004020202020204" pitchFamily="34" charset="0"/>
              </a:rPr>
              <a:t>DUPLICATE +
ANOMALY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86D276A-DBDD-6670-DF2C-48BCB1D87414}"/>
              </a:ext>
            </a:extLst>
          </p:cNvPr>
          <p:cNvCxnSpPr/>
          <p:nvPr/>
        </p:nvCxnSpPr>
        <p:spPr>
          <a:xfrm>
            <a:off x="6743700" y="3454400"/>
            <a:ext cx="228600" cy="0"/>
          </a:xfrm>
          <a:prstGeom prst="straightConnector1">
            <a:avLst/>
          </a:prstGeom>
          <a:ln w="19050">
            <a:solidFill>
              <a:srgbClr val="45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C2654B2-B6C5-BF02-DB15-10BCF7E79C52}"/>
              </a:ext>
            </a:extLst>
          </p:cNvPr>
          <p:cNvSpPr/>
          <p:nvPr/>
        </p:nvSpPr>
        <p:spPr>
          <a:xfrm>
            <a:off x="6985000" y="2794000"/>
            <a:ext cx="1320800" cy="132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48F3FC-4CA1-1405-D895-0BC7542926D0}"/>
              </a:ext>
            </a:extLst>
          </p:cNvPr>
          <p:cNvSpPr txBox="1"/>
          <p:nvPr/>
        </p:nvSpPr>
        <p:spPr>
          <a:xfrm>
            <a:off x="7137400" y="3022600"/>
            <a:ext cx="9906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4252AD-A076-E878-F5C5-E4162CC6C55D}"/>
              </a:ext>
            </a:extLst>
          </p:cNvPr>
          <p:cNvSpPr txBox="1"/>
          <p:nvPr/>
        </p:nvSpPr>
        <p:spPr>
          <a:xfrm>
            <a:off x="7099300" y="3390900"/>
            <a:ext cx="1092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200" b="1">
                <a:solidFill>
                  <a:srgbClr val="182238"/>
                </a:solidFill>
                <a:latin typeface="Aptos" panose="020B0004020202020204" pitchFamily="34" charset="0"/>
              </a:rPr>
              <a:t>REVIEW +
APPROVAL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BD67428-CB8B-6487-C7AD-F3A8D9CD1391}"/>
              </a:ext>
            </a:extLst>
          </p:cNvPr>
          <p:cNvCxnSpPr/>
          <p:nvPr/>
        </p:nvCxnSpPr>
        <p:spPr>
          <a:xfrm>
            <a:off x="8305800" y="3454400"/>
            <a:ext cx="228600" cy="0"/>
          </a:xfrm>
          <a:prstGeom prst="straightConnector1">
            <a:avLst/>
          </a:prstGeom>
          <a:ln w="19050">
            <a:solidFill>
              <a:srgbClr val="45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B717B2A-0380-D158-D7EB-BC7CCEF40FB8}"/>
              </a:ext>
            </a:extLst>
          </p:cNvPr>
          <p:cNvSpPr/>
          <p:nvPr/>
        </p:nvSpPr>
        <p:spPr>
          <a:xfrm>
            <a:off x="8547100" y="2794000"/>
            <a:ext cx="1320800" cy="132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38BB5E-F0F7-DF30-6B60-FF069BE70118}"/>
              </a:ext>
            </a:extLst>
          </p:cNvPr>
          <p:cNvSpPr txBox="1"/>
          <p:nvPr/>
        </p:nvSpPr>
        <p:spPr>
          <a:xfrm>
            <a:off x="8699500" y="3022600"/>
            <a:ext cx="9906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9088FB-748A-9E67-8192-F56AB0A8D7D8}"/>
              </a:ext>
            </a:extLst>
          </p:cNvPr>
          <p:cNvSpPr txBox="1"/>
          <p:nvPr/>
        </p:nvSpPr>
        <p:spPr>
          <a:xfrm>
            <a:off x="8661400" y="3390900"/>
            <a:ext cx="1092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200" b="1">
                <a:solidFill>
                  <a:srgbClr val="182238"/>
                </a:solidFill>
                <a:latin typeface="Aptos" panose="020B0004020202020204" pitchFamily="34" charset="0"/>
              </a:rPr>
              <a:t>PAYMENT
TRACKING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B345CFD-A596-9DD0-9A52-82481565F01F}"/>
              </a:ext>
            </a:extLst>
          </p:cNvPr>
          <p:cNvCxnSpPr/>
          <p:nvPr/>
        </p:nvCxnSpPr>
        <p:spPr>
          <a:xfrm>
            <a:off x="9867900" y="3454400"/>
            <a:ext cx="228600" cy="0"/>
          </a:xfrm>
          <a:prstGeom prst="straightConnector1">
            <a:avLst/>
          </a:prstGeom>
          <a:ln w="19050">
            <a:solidFill>
              <a:srgbClr val="45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5CF892F-E3F8-6B50-8E1E-00C2BB84FDC5}"/>
              </a:ext>
            </a:extLst>
          </p:cNvPr>
          <p:cNvSpPr/>
          <p:nvPr/>
        </p:nvSpPr>
        <p:spPr>
          <a:xfrm>
            <a:off x="10109200" y="2794000"/>
            <a:ext cx="1320800" cy="1320800"/>
          </a:xfrm>
          <a:prstGeom prst="roundRect">
            <a:avLst/>
          </a:prstGeom>
          <a:solidFill>
            <a:srgbClr val="F1ED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320A09-69EE-EAEA-F81F-23FA1C36037D}"/>
              </a:ext>
            </a:extLst>
          </p:cNvPr>
          <p:cNvSpPr txBox="1"/>
          <p:nvPr/>
        </p:nvSpPr>
        <p:spPr>
          <a:xfrm>
            <a:off x="10261600" y="3022600"/>
            <a:ext cx="9906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8666F5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04EF2E-59C1-CE2A-CF14-C9E62EEF2873}"/>
              </a:ext>
            </a:extLst>
          </p:cNvPr>
          <p:cNvSpPr txBox="1"/>
          <p:nvPr/>
        </p:nvSpPr>
        <p:spPr>
          <a:xfrm>
            <a:off x="10223500" y="3390900"/>
            <a:ext cx="1092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200" b="1">
                <a:solidFill>
                  <a:srgbClr val="182238"/>
                </a:solidFill>
                <a:latin typeface="Aptos" panose="020B0004020202020204" pitchFamily="34" charset="0"/>
              </a:rPr>
              <a:t>AI
ASSISTANT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F2017C-5EF4-DA69-AE3B-912E74FBF101}"/>
              </a:ext>
            </a:extLst>
          </p:cNvPr>
          <p:cNvSpPr txBox="1"/>
          <p:nvPr/>
        </p:nvSpPr>
        <p:spPr>
          <a:xfrm>
            <a:off x="1206500" y="4749800"/>
            <a:ext cx="9779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600">
                <a:solidFill>
                  <a:srgbClr val="68758C"/>
                </a:solidFill>
                <a:latin typeface="Aptos" panose="020B0004020202020204" pitchFamily="34" charset="0"/>
              </a:rPr>
              <a:t>One controlled flow carries an invoice from incoming file to an explainable business outcome.</a:t>
            </a:r>
            <a:endParaRPr lang="en-IN" sz="16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3D8589F-76D2-21F0-3E46-D1CA14A2B566}"/>
              </a:ext>
            </a:extLst>
          </p:cNvPr>
          <p:cNvSpPr/>
          <p:nvPr/>
        </p:nvSpPr>
        <p:spPr>
          <a:xfrm>
            <a:off x="4470400" y="5651500"/>
            <a:ext cx="3251200" cy="304800"/>
          </a:xfrm>
          <a:prstGeom prst="roundRect">
            <a:avLst/>
          </a:prstGeom>
          <a:solidFill>
            <a:srgbClr val="E8F6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5CD01B-445C-E6A7-8B5E-F034F011AA90}"/>
              </a:ext>
            </a:extLst>
          </p:cNvPr>
          <p:cNvSpPr txBox="1"/>
          <p:nvPr/>
        </p:nvSpPr>
        <p:spPr>
          <a:xfrm>
            <a:off x="4559300" y="5702300"/>
            <a:ext cx="3073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178B69"/>
                </a:solidFill>
                <a:latin typeface="Aptos" panose="020B0004020202020204" pitchFamily="34" charset="0"/>
              </a:rPr>
              <a:t>HUMAN REVIEW WHEN NEEDED</a:t>
            </a:r>
          </a:p>
        </p:txBody>
      </p:sp>
    </p:spTree>
    <p:extLst>
      <p:ext uri="{BB962C8B-B14F-4D97-AF65-F5344CB8AC3E}">
        <p14:creationId xmlns:p14="http://schemas.microsoft.com/office/powerpoint/2010/main" val="4022973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73FEAC-8840-BAD7-36E2-2408C8120ED2}"/>
              </a:ext>
            </a:extLst>
          </p:cNvPr>
          <p:cNvSpPr txBox="1"/>
          <p:nvPr/>
        </p:nvSpPr>
        <p:spPr>
          <a:xfrm>
            <a:off x="685800" y="304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PAYOPS / BUSINESS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538BC8-02E0-D2D4-1C11-C54B89E58D4C}"/>
              </a:ext>
            </a:extLst>
          </p:cNvPr>
          <p:cNvSpPr txBox="1"/>
          <p:nvPr/>
        </p:nvSpPr>
        <p:spPr>
          <a:xfrm>
            <a:off x="685800" y="6477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700" b="1">
                <a:solidFill>
                  <a:srgbClr val="182238"/>
                </a:solidFill>
                <a:latin typeface="Aptos" panose="020B0004020202020204" pitchFamily="34" charset="0"/>
              </a:rPr>
              <a:t>AI turns unstructured invoices into structured data</a:t>
            </a:r>
            <a:endParaRPr lang="en-IN" sz="2700" b="1">
              <a:solidFill>
                <a:srgbClr val="182238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0ACA8B1-1E09-B69F-B044-ABAD55A47473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straightConnector1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A8FE2C1-3D6C-73F8-DCDA-005DAD67A45A}"/>
              </a:ext>
            </a:extLst>
          </p:cNvPr>
          <p:cNvSpPr txBox="1"/>
          <p:nvPr/>
        </p:nvSpPr>
        <p:spPr>
          <a:xfrm>
            <a:off x="685800" y="64897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PAYOPS  ·  INVOICE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8297A4-C987-19F9-AD03-4A58808CE2DD}"/>
              </a:ext>
            </a:extLst>
          </p:cNvPr>
          <p:cNvSpPr txBox="1"/>
          <p:nvPr/>
        </p:nvSpPr>
        <p:spPr>
          <a:xfrm>
            <a:off x="11049000" y="64897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31DFEFF-5A7D-3568-34AB-2770AA1E0E57}"/>
              </a:ext>
            </a:extLst>
          </p:cNvPr>
          <p:cNvSpPr/>
          <p:nvPr/>
        </p:nvSpPr>
        <p:spPr>
          <a:xfrm>
            <a:off x="762000" y="1866900"/>
            <a:ext cx="38100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EF63DD-05C6-B167-3DA7-CEA5DC8FCD64}"/>
              </a:ext>
            </a:extLst>
          </p:cNvPr>
          <p:cNvSpPr txBox="1"/>
          <p:nvPr/>
        </p:nvSpPr>
        <p:spPr>
          <a:xfrm>
            <a:off x="1092200" y="2120900"/>
            <a:ext cx="31115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68758C"/>
                </a:solidFill>
                <a:latin typeface="Aptos" panose="020B0004020202020204" pitchFamily="34" charset="0"/>
              </a:rPr>
              <a:t>INCOMING DOCUMENT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5E9A2A-2FBE-CB37-DBC9-37FF3DD34CCA}"/>
              </a:ext>
            </a:extLst>
          </p:cNvPr>
          <p:cNvSpPr/>
          <p:nvPr/>
        </p:nvSpPr>
        <p:spPr>
          <a:xfrm>
            <a:off x="1511300" y="2654300"/>
            <a:ext cx="2298700" cy="2578100"/>
          </a:xfrm>
          <a:prstGeom prst="rect">
            <a:avLst/>
          </a:prstGeom>
          <a:solidFill>
            <a:srgbClr val="F5F7FB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E4179B-19A0-3B18-F069-E39F775C1C6D}"/>
              </a:ext>
            </a:extLst>
          </p:cNvPr>
          <p:cNvSpPr txBox="1"/>
          <p:nvPr/>
        </p:nvSpPr>
        <p:spPr>
          <a:xfrm>
            <a:off x="1727200" y="2895600"/>
            <a:ext cx="18669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>
                <a:solidFill>
                  <a:srgbClr val="456BFF"/>
                </a:solidFill>
                <a:latin typeface="Aptos" panose="020B0004020202020204" pitchFamily="34" charset="0"/>
              </a:rPr>
              <a:t>TAX INVOICE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B93D480-2AC6-E678-47ED-12E5732DAA3D}"/>
              </a:ext>
            </a:extLst>
          </p:cNvPr>
          <p:cNvCxnSpPr/>
          <p:nvPr/>
        </p:nvCxnSpPr>
        <p:spPr>
          <a:xfrm>
            <a:off x="1727200" y="3340100"/>
            <a:ext cx="1828800" cy="0"/>
          </a:xfrm>
          <a:prstGeom prst="straightConnector1">
            <a:avLst/>
          </a:prstGeom>
          <a:ln w="254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5099F0E-27D0-1798-ABF7-09CA43E4F8C1}"/>
              </a:ext>
            </a:extLst>
          </p:cNvPr>
          <p:cNvSpPr txBox="1"/>
          <p:nvPr/>
        </p:nvSpPr>
        <p:spPr>
          <a:xfrm>
            <a:off x="1727200" y="3505200"/>
            <a:ext cx="18415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182238"/>
                </a:solidFill>
                <a:latin typeface="Aptos" panose="020B0004020202020204" pitchFamily="34" charset="0"/>
              </a:rPr>
              <a:t>ABC INDUSTRIES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498420-03B9-4F39-60AF-DEE6CF1328BC}"/>
              </a:ext>
            </a:extLst>
          </p:cNvPr>
          <p:cNvSpPr txBox="1"/>
          <p:nvPr/>
        </p:nvSpPr>
        <p:spPr>
          <a:xfrm>
            <a:off x="1727200" y="3797300"/>
            <a:ext cx="18415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>
                <a:solidFill>
                  <a:srgbClr val="68758C"/>
                </a:solidFill>
                <a:latin typeface="Aptos" panose="020B0004020202020204" pitchFamily="34" charset="0"/>
              </a:rPr>
              <a:t>INV-1024  ·  15 OCT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DCCB76-F603-8FEB-F6CB-B22B992F4EF5}"/>
              </a:ext>
            </a:extLst>
          </p:cNvPr>
          <p:cNvCxnSpPr/>
          <p:nvPr/>
        </p:nvCxnSpPr>
        <p:spPr>
          <a:xfrm>
            <a:off x="1727200" y="4102100"/>
            <a:ext cx="1701800" cy="0"/>
          </a:xfrm>
          <a:prstGeom prst="straightConnector1">
            <a:avLst/>
          </a:prstGeom>
          <a:ln w="1651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07C8D4-992B-B45C-14A0-B97BC20CFE4A}"/>
              </a:ext>
            </a:extLst>
          </p:cNvPr>
          <p:cNvCxnSpPr/>
          <p:nvPr/>
        </p:nvCxnSpPr>
        <p:spPr>
          <a:xfrm>
            <a:off x="1727200" y="4305300"/>
            <a:ext cx="1612900" cy="0"/>
          </a:xfrm>
          <a:prstGeom prst="straightConnector1">
            <a:avLst/>
          </a:prstGeom>
          <a:ln w="1651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C27F1A6-73F9-476E-D049-2C3265708525}"/>
              </a:ext>
            </a:extLst>
          </p:cNvPr>
          <p:cNvCxnSpPr/>
          <p:nvPr/>
        </p:nvCxnSpPr>
        <p:spPr>
          <a:xfrm>
            <a:off x="1727200" y="4508500"/>
            <a:ext cx="1422400" cy="0"/>
          </a:xfrm>
          <a:prstGeom prst="straightConnector1">
            <a:avLst/>
          </a:prstGeom>
          <a:ln w="1651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3BEA901-BE48-CAAA-AEF3-6D9FFCC76C43}"/>
              </a:ext>
            </a:extLst>
          </p:cNvPr>
          <p:cNvSpPr/>
          <p:nvPr/>
        </p:nvSpPr>
        <p:spPr>
          <a:xfrm>
            <a:off x="1905000" y="4749800"/>
            <a:ext cx="1524000" cy="304800"/>
          </a:xfrm>
          <a:prstGeom prst="roundRect">
            <a:avLst/>
          </a:prstGeom>
          <a:solidFill>
            <a:srgbClr val="EAF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A6D16C-08D6-4AD7-ABF3-2DA79288E032}"/>
              </a:ext>
            </a:extLst>
          </p:cNvPr>
          <p:cNvSpPr txBox="1"/>
          <p:nvPr/>
        </p:nvSpPr>
        <p:spPr>
          <a:xfrm>
            <a:off x="1993900" y="4800600"/>
            <a:ext cx="13462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PDF / IMAGE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159D9A-7A49-92D0-67DC-703C53CA845B}"/>
              </a:ext>
            </a:extLst>
          </p:cNvPr>
          <p:cNvSpPr txBox="1"/>
          <p:nvPr/>
        </p:nvSpPr>
        <p:spPr>
          <a:xfrm>
            <a:off x="4902200" y="29083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b="1">
                <a:solidFill>
                  <a:srgbClr val="8666F5"/>
                </a:solidFill>
                <a:latin typeface="Aptos" panose="020B0004020202020204" pitchFamily="34" charset="0"/>
              </a:rPr>
              <a:t>OCR + AI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6F488C-C475-2338-1ADB-E854B2402574}"/>
              </a:ext>
            </a:extLst>
          </p:cNvPr>
          <p:cNvSpPr txBox="1"/>
          <p:nvPr/>
        </p:nvSpPr>
        <p:spPr>
          <a:xfrm>
            <a:off x="4902200" y="3314700"/>
            <a:ext cx="2159000" cy="4001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300">
                <a:solidFill>
                  <a:srgbClr val="68758C"/>
                </a:solidFill>
                <a:latin typeface="Aptos" panose="020B0004020202020204" pitchFamily="34" charset="0"/>
              </a:rPr>
              <a:t>Document
understanding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707FDC9-5A65-CE04-94A0-50C3EF60406D}"/>
              </a:ext>
            </a:extLst>
          </p:cNvPr>
          <p:cNvCxnSpPr/>
          <p:nvPr/>
        </p:nvCxnSpPr>
        <p:spPr>
          <a:xfrm>
            <a:off x="4648200" y="3937000"/>
            <a:ext cx="2552700" cy="0"/>
          </a:xfrm>
          <a:prstGeom prst="straightConnector1">
            <a:avLst/>
          </a:prstGeom>
          <a:ln w="25400">
            <a:solidFill>
              <a:srgbClr val="8666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45BEDC8-E066-8A42-F043-9432CAAA6059}"/>
              </a:ext>
            </a:extLst>
          </p:cNvPr>
          <p:cNvSpPr/>
          <p:nvPr/>
        </p:nvSpPr>
        <p:spPr>
          <a:xfrm>
            <a:off x="7429500" y="1866900"/>
            <a:ext cx="3987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E17A5A-E8EB-2B21-B35E-09E7C3529B2A}"/>
              </a:ext>
            </a:extLst>
          </p:cNvPr>
          <p:cNvSpPr txBox="1"/>
          <p:nvPr/>
        </p:nvSpPr>
        <p:spPr>
          <a:xfrm>
            <a:off x="7734300" y="2120900"/>
            <a:ext cx="3429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68758C"/>
                </a:solidFill>
                <a:latin typeface="Aptos" panose="020B0004020202020204" pitchFamily="34" charset="0"/>
              </a:rPr>
              <a:t>STRUCTURED INVOICE RECORD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10098D8-EEDA-FFB8-F954-B773E69548F3}"/>
              </a:ext>
            </a:extLst>
          </p:cNvPr>
          <p:cNvSpPr/>
          <p:nvPr/>
        </p:nvSpPr>
        <p:spPr>
          <a:xfrm>
            <a:off x="7759700" y="2679700"/>
            <a:ext cx="101600" cy="101600"/>
          </a:xfrm>
          <a:prstGeom prst="ellipse">
            <a:avLst/>
          </a:prstGeom>
          <a:solidFill>
            <a:srgbClr val="178B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0F90A4-47B3-9BFB-F867-A3DD17694582}"/>
              </a:ext>
            </a:extLst>
          </p:cNvPr>
          <p:cNvSpPr txBox="1"/>
          <p:nvPr/>
        </p:nvSpPr>
        <p:spPr>
          <a:xfrm>
            <a:off x="7988300" y="2628900"/>
            <a:ext cx="3048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>
                <a:solidFill>
                  <a:srgbClr val="182238"/>
                </a:solidFill>
                <a:latin typeface="Aptos" panose="020B0004020202020204" pitchFamily="34" charset="0"/>
              </a:rPr>
              <a:t>Vendor + GSTIN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BBD5A74-6E23-AD05-09B4-88AE62896CA3}"/>
              </a:ext>
            </a:extLst>
          </p:cNvPr>
          <p:cNvSpPr/>
          <p:nvPr/>
        </p:nvSpPr>
        <p:spPr>
          <a:xfrm>
            <a:off x="7759700" y="3111500"/>
            <a:ext cx="101600" cy="101600"/>
          </a:xfrm>
          <a:prstGeom prst="ellipse">
            <a:avLst/>
          </a:prstGeom>
          <a:solidFill>
            <a:srgbClr val="178B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67E168-318D-57BA-5A45-8DC23C95B287}"/>
              </a:ext>
            </a:extLst>
          </p:cNvPr>
          <p:cNvSpPr txBox="1"/>
          <p:nvPr/>
        </p:nvSpPr>
        <p:spPr>
          <a:xfrm>
            <a:off x="7988300" y="3060700"/>
            <a:ext cx="3048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>
                <a:solidFill>
                  <a:srgbClr val="182238"/>
                </a:solidFill>
                <a:latin typeface="Aptos" panose="020B0004020202020204" pitchFamily="34" charset="0"/>
              </a:rPr>
              <a:t>Invoice no. + dates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01C691E-50DB-B787-A5EB-3393629E3185}"/>
              </a:ext>
            </a:extLst>
          </p:cNvPr>
          <p:cNvSpPr/>
          <p:nvPr/>
        </p:nvSpPr>
        <p:spPr>
          <a:xfrm>
            <a:off x="7759700" y="3543300"/>
            <a:ext cx="101600" cy="101600"/>
          </a:xfrm>
          <a:prstGeom prst="ellipse">
            <a:avLst/>
          </a:prstGeom>
          <a:solidFill>
            <a:srgbClr val="178B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F69AA3-9202-03E7-B82E-73193A581B85}"/>
              </a:ext>
            </a:extLst>
          </p:cNvPr>
          <p:cNvSpPr txBox="1"/>
          <p:nvPr/>
        </p:nvSpPr>
        <p:spPr>
          <a:xfrm>
            <a:off x="7988300" y="3492500"/>
            <a:ext cx="3048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>
                <a:solidFill>
                  <a:srgbClr val="182238"/>
                </a:solidFill>
                <a:latin typeface="Aptos" panose="020B0004020202020204" pitchFamily="34" charset="0"/>
              </a:rPr>
              <a:t>Subtotal + tax + total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84B5EB7-7BB1-C7EB-8208-56952488617C}"/>
              </a:ext>
            </a:extLst>
          </p:cNvPr>
          <p:cNvSpPr/>
          <p:nvPr/>
        </p:nvSpPr>
        <p:spPr>
          <a:xfrm>
            <a:off x="7759700" y="3975100"/>
            <a:ext cx="101600" cy="101600"/>
          </a:xfrm>
          <a:prstGeom prst="ellipse">
            <a:avLst/>
          </a:prstGeom>
          <a:solidFill>
            <a:srgbClr val="178B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D80FD4-D887-D55C-1337-2FF889B27C33}"/>
              </a:ext>
            </a:extLst>
          </p:cNvPr>
          <p:cNvSpPr txBox="1"/>
          <p:nvPr/>
        </p:nvSpPr>
        <p:spPr>
          <a:xfrm>
            <a:off x="7988300" y="3924300"/>
            <a:ext cx="3048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>
                <a:solidFill>
                  <a:srgbClr val="182238"/>
                </a:solidFill>
                <a:latin typeface="Aptos" panose="020B0004020202020204" pitchFamily="34" charset="0"/>
              </a:rPr>
              <a:t>Line items + terms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06E6D8F-C8E5-0347-7873-049EF988CE98}"/>
              </a:ext>
            </a:extLst>
          </p:cNvPr>
          <p:cNvSpPr/>
          <p:nvPr/>
        </p:nvSpPr>
        <p:spPr>
          <a:xfrm>
            <a:off x="7759700" y="4406900"/>
            <a:ext cx="101600" cy="101600"/>
          </a:xfrm>
          <a:prstGeom prst="ellipse">
            <a:avLst/>
          </a:prstGeom>
          <a:solidFill>
            <a:srgbClr val="178B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140B2D-D9F9-5D6F-DEA9-9724085D0FB9}"/>
              </a:ext>
            </a:extLst>
          </p:cNvPr>
          <p:cNvSpPr txBox="1"/>
          <p:nvPr/>
        </p:nvSpPr>
        <p:spPr>
          <a:xfrm>
            <a:off x="7988300" y="4356100"/>
            <a:ext cx="3048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>
                <a:solidFill>
                  <a:srgbClr val="182238"/>
                </a:solidFill>
                <a:latin typeface="Aptos" panose="020B0004020202020204" pitchFamily="34" charset="0"/>
              </a:rPr>
              <a:t>Bank details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3E49631-0946-5169-FCD6-C747711E02A7}"/>
              </a:ext>
            </a:extLst>
          </p:cNvPr>
          <p:cNvSpPr/>
          <p:nvPr/>
        </p:nvSpPr>
        <p:spPr>
          <a:xfrm>
            <a:off x="7734300" y="4889500"/>
            <a:ext cx="3390900" cy="546100"/>
          </a:xfrm>
          <a:prstGeom prst="roundRect">
            <a:avLst/>
          </a:prstGeom>
          <a:solidFill>
            <a:srgbClr val="F1E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34A9DD-C7FB-7040-6734-4C4CEB7F8EE2}"/>
              </a:ext>
            </a:extLst>
          </p:cNvPr>
          <p:cNvSpPr txBox="1"/>
          <p:nvPr/>
        </p:nvSpPr>
        <p:spPr>
          <a:xfrm>
            <a:off x="7899400" y="5054600"/>
            <a:ext cx="30988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900" b="1">
                <a:solidFill>
                  <a:srgbClr val="8666F5"/>
                </a:solidFill>
                <a:latin typeface="Aptos" panose="020B0004020202020204" pitchFamily="34" charset="0"/>
              </a:rPr>
              <a:t>CONFIDENCE SCORE  ·  REVIEW LOW SCORES</a:t>
            </a:r>
            <a:endParaRPr lang="en-IN" sz="900" b="1">
              <a:solidFill>
                <a:srgbClr val="8666F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463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D4F1D3-29D7-0468-8E7E-4E0AAE45D59B}"/>
              </a:ext>
            </a:extLst>
          </p:cNvPr>
          <p:cNvSpPr txBox="1"/>
          <p:nvPr/>
        </p:nvSpPr>
        <p:spPr>
          <a:xfrm>
            <a:off x="685800" y="304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PAYOPS / BUSINESS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F75002-057A-4B98-82F3-4C83573A9EF9}"/>
              </a:ext>
            </a:extLst>
          </p:cNvPr>
          <p:cNvSpPr txBox="1"/>
          <p:nvPr/>
        </p:nvSpPr>
        <p:spPr>
          <a:xfrm>
            <a:off x="685800" y="6477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2700" b="1">
                <a:solidFill>
                  <a:srgbClr val="182238"/>
                </a:solidFill>
                <a:latin typeface="Aptos" panose="020B0004020202020204" pitchFamily="34" charset="0"/>
              </a:rPr>
              <a:t>AI extracts. Rules verify.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BA7CAC5-C3AB-1E24-6159-F8002CAD48A5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straightConnector1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4140C41-F286-3815-1C2D-DCEDA87A6B80}"/>
              </a:ext>
            </a:extLst>
          </p:cNvPr>
          <p:cNvSpPr txBox="1"/>
          <p:nvPr/>
        </p:nvSpPr>
        <p:spPr>
          <a:xfrm>
            <a:off x="685800" y="64897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PAYOPS  ·  INVOICE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97C2E6-B9A2-5312-5BB3-C64AE8A8440D}"/>
              </a:ext>
            </a:extLst>
          </p:cNvPr>
          <p:cNvSpPr txBox="1"/>
          <p:nvPr/>
        </p:nvSpPr>
        <p:spPr>
          <a:xfrm>
            <a:off x="11049000" y="64897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ADC7A8-5355-D09B-6587-C52311C08025}"/>
              </a:ext>
            </a:extLst>
          </p:cNvPr>
          <p:cNvSpPr txBox="1"/>
          <p:nvPr/>
        </p:nvSpPr>
        <p:spPr>
          <a:xfrm>
            <a:off x="749300" y="16764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400">
                <a:solidFill>
                  <a:srgbClr val="68758C"/>
                </a:solidFill>
                <a:latin typeface="Aptos" panose="020B0004020202020204" pitchFamily="34" charset="0"/>
              </a:rPr>
              <a:t>Extraction alone is not enough: combine document understanding with deterministic checks.</a:t>
            </a:r>
            <a:endParaRPr lang="en-IN" sz="14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C57707-3757-268E-0380-9CD1DF88B96B}"/>
              </a:ext>
            </a:extLst>
          </p:cNvPr>
          <p:cNvSpPr/>
          <p:nvPr/>
        </p:nvSpPr>
        <p:spPr>
          <a:xfrm>
            <a:off x="762000" y="2286000"/>
            <a:ext cx="5041900" cy="132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53E967-FC32-3492-F330-DC7DA62F4F9D}"/>
              </a:ext>
            </a:extLst>
          </p:cNvPr>
          <p:cNvSpPr/>
          <p:nvPr/>
        </p:nvSpPr>
        <p:spPr>
          <a:xfrm>
            <a:off x="1016000" y="2603500"/>
            <a:ext cx="431800" cy="431800"/>
          </a:xfrm>
          <a:prstGeom prst="ellipse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6C85E8-C2A7-5DE1-46A4-66C0D61B58C9}"/>
              </a:ext>
            </a:extLst>
          </p:cNvPr>
          <p:cNvSpPr txBox="1"/>
          <p:nvPr/>
        </p:nvSpPr>
        <p:spPr>
          <a:xfrm>
            <a:off x="1016000" y="2717800"/>
            <a:ext cx="4318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E7408B-C486-274C-3E3E-A3EDD2090FF5}"/>
              </a:ext>
            </a:extLst>
          </p:cNvPr>
          <p:cNvSpPr txBox="1"/>
          <p:nvPr/>
        </p:nvSpPr>
        <p:spPr>
          <a:xfrm>
            <a:off x="1651000" y="2527300"/>
            <a:ext cx="37846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500" b="1">
                <a:solidFill>
                  <a:srgbClr val="182238"/>
                </a:solidFill>
                <a:latin typeface="Aptos" panose="020B0004020202020204" pitchFamily="34" charset="0"/>
              </a:rPr>
              <a:t>Mathematical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9C326A-95AD-F538-46E4-C85363731E32}"/>
              </a:ext>
            </a:extLst>
          </p:cNvPr>
          <p:cNvSpPr txBox="1"/>
          <p:nvPr/>
        </p:nvSpPr>
        <p:spPr>
          <a:xfrm>
            <a:off x="1651000" y="2959100"/>
            <a:ext cx="37846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>
                <a:solidFill>
                  <a:srgbClr val="68758C"/>
                </a:solidFill>
                <a:latin typeface="Aptos" panose="020B0004020202020204" pitchFamily="34" charset="0"/>
              </a:rPr>
              <a:t>Subtotal + tax = total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D8B0A7E-807A-0DE4-3C7F-94EB8578F368}"/>
              </a:ext>
            </a:extLst>
          </p:cNvPr>
          <p:cNvSpPr/>
          <p:nvPr/>
        </p:nvSpPr>
        <p:spPr>
          <a:xfrm>
            <a:off x="6184900" y="2286000"/>
            <a:ext cx="5041900" cy="132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F8B974E-8AAF-DE94-65A5-AB065E9827BA}"/>
              </a:ext>
            </a:extLst>
          </p:cNvPr>
          <p:cNvSpPr/>
          <p:nvPr/>
        </p:nvSpPr>
        <p:spPr>
          <a:xfrm>
            <a:off x="6438900" y="2603500"/>
            <a:ext cx="431800" cy="431800"/>
          </a:xfrm>
          <a:prstGeom prst="ellipse">
            <a:avLst/>
          </a:prstGeom>
          <a:solidFill>
            <a:srgbClr val="8666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8E63F8-9564-D949-F3EC-105819F2CC61}"/>
              </a:ext>
            </a:extLst>
          </p:cNvPr>
          <p:cNvSpPr txBox="1"/>
          <p:nvPr/>
        </p:nvSpPr>
        <p:spPr>
          <a:xfrm>
            <a:off x="6438900" y="2717800"/>
            <a:ext cx="4318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8AF3CF-27F9-F8C8-2C52-E21A4A7026CA}"/>
              </a:ext>
            </a:extLst>
          </p:cNvPr>
          <p:cNvSpPr txBox="1"/>
          <p:nvPr/>
        </p:nvSpPr>
        <p:spPr>
          <a:xfrm>
            <a:off x="7073900" y="2527300"/>
            <a:ext cx="37846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500" b="1">
                <a:solidFill>
                  <a:srgbClr val="182238"/>
                </a:solidFill>
                <a:latin typeface="Aptos" panose="020B0004020202020204" pitchFamily="34" charset="0"/>
              </a:rPr>
              <a:t>GST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726723-87C0-EDBD-5A03-9F858D12D47C}"/>
              </a:ext>
            </a:extLst>
          </p:cNvPr>
          <p:cNvSpPr txBox="1"/>
          <p:nvPr/>
        </p:nvSpPr>
        <p:spPr>
          <a:xfrm>
            <a:off x="7073900" y="2959100"/>
            <a:ext cx="37846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>
                <a:solidFill>
                  <a:srgbClr val="68758C"/>
                </a:solidFill>
                <a:latin typeface="Aptos" panose="020B0004020202020204" pitchFamily="34" charset="0"/>
              </a:rPr>
              <a:t>GSTIN and CGST / SGST / IGST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B45EE68-022E-AF4B-D9DA-080E3D5B9671}"/>
              </a:ext>
            </a:extLst>
          </p:cNvPr>
          <p:cNvSpPr/>
          <p:nvPr/>
        </p:nvSpPr>
        <p:spPr>
          <a:xfrm>
            <a:off x="762000" y="3937000"/>
            <a:ext cx="5041900" cy="132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EC579D3-63EA-15F9-98A5-D15EE692ABEB}"/>
              </a:ext>
            </a:extLst>
          </p:cNvPr>
          <p:cNvSpPr/>
          <p:nvPr/>
        </p:nvSpPr>
        <p:spPr>
          <a:xfrm>
            <a:off x="1016000" y="4254500"/>
            <a:ext cx="431800" cy="431800"/>
          </a:xfrm>
          <a:prstGeom prst="ellipse">
            <a:avLst/>
          </a:prstGeom>
          <a:solidFill>
            <a:srgbClr val="178B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E793CB-1752-9A32-55F2-316FE8FC797F}"/>
              </a:ext>
            </a:extLst>
          </p:cNvPr>
          <p:cNvSpPr txBox="1"/>
          <p:nvPr/>
        </p:nvSpPr>
        <p:spPr>
          <a:xfrm>
            <a:off x="1016000" y="4368800"/>
            <a:ext cx="4318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C7F184-0408-26BE-73E1-3974EEA96C9C}"/>
              </a:ext>
            </a:extLst>
          </p:cNvPr>
          <p:cNvSpPr txBox="1"/>
          <p:nvPr/>
        </p:nvSpPr>
        <p:spPr>
          <a:xfrm>
            <a:off x="1651000" y="4178300"/>
            <a:ext cx="37846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500" b="1">
                <a:solidFill>
                  <a:srgbClr val="182238"/>
                </a:solidFill>
                <a:latin typeface="Aptos" panose="020B0004020202020204" pitchFamily="34" charset="0"/>
              </a:rPr>
              <a:t>Dates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0930F9-27FA-166C-3291-53026AADE26B}"/>
              </a:ext>
            </a:extLst>
          </p:cNvPr>
          <p:cNvSpPr txBox="1"/>
          <p:nvPr/>
        </p:nvSpPr>
        <p:spPr>
          <a:xfrm>
            <a:off x="1651000" y="4610100"/>
            <a:ext cx="37846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200">
                <a:solidFill>
                  <a:srgbClr val="68758C"/>
                </a:solidFill>
                <a:latin typeface="Aptos" panose="020B0004020202020204" pitchFamily="34" charset="0"/>
              </a:rPr>
              <a:t>Due date is not before invoice date</a:t>
            </a:r>
            <a:endParaRPr lang="en-IN" sz="12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2F1D77D-B046-9488-CB9B-71059D9BFF37}"/>
              </a:ext>
            </a:extLst>
          </p:cNvPr>
          <p:cNvSpPr/>
          <p:nvPr/>
        </p:nvSpPr>
        <p:spPr>
          <a:xfrm>
            <a:off x="6184900" y="3937000"/>
            <a:ext cx="5041900" cy="132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0D43AC8-109F-4E4C-A6EA-5C21E279A203}"/>
              </a:ext>
            </a:extLst>
          </p:cNvPr>
          <p:cNvSpPr/>
          <p:nvPr/>
        </p:nvSpPr>
        <p:spPr>
          <a:xfrm>
            <a:off x="6438900" y="4254500"/>
            <a:ext cx="431800" cy="431800"/>
          </a:xfrm>
          <a:prstGeom prst="ellipse">
            <a:avLst/>
          </a:prstGeom>
          <a:solidFill>
            <a:srgbClr val="E99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2DA62A-1F41-07CD-E059-C80C95DC2DCC}"/>
              </a:ext>
            </a:extLst>
          </p:cNvPr>
          <p:cNvSpPr txBox="1"/>
          <p:nvPr/>
        </p:nvSpPr>
        <p:spPr>
          <a:xfrm>
            <a:off x="6438900" y="4368800"/>
            <a:ext cx="4318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FFFFFF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07DE66-0DC5-ECA1-CA2C-63D9DCA3672A}"/>
              </a:ext>
            </a:extLst>
          </p:cNvPr>
          <p:cNvSpPr txBox="1"/>
          <p:nvPr/>
        </p:nvSpPr>
        <p:spPr>
          <a:xfrm>
            <a:off x="7073900" y="4178300"/>
            <a:ext cx="37846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500" b="1">
                <a:solidFill>
                  <a:srgbClr val="182238"/>
                </a:solidFill>
                <a:latin typeface="Aptos" panose="020B0004020202020204" pitchFamily="34" charset="0"/>
              </a:rPr>
              <a:t>Required fields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268095-B780-0C4C-82AA-D7ADB0C1F084}"/>
              </a:ext>
            </a:extLst>
          </p:cNvPr>
          <p:cNvSpPr txBox="1"/>
          <p:nvPr/>
        </p:nvSpPr>
        <p:spPr>
          <a:xfrm>
            <a:off x="7073900" y="4610100"/>
            <a:ext cx="37846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200">
                <a:solidFill>
                  <a:srgbClr val="68758C"/>
                </a:solidFill>
                <a:latin typeface="Aptos" panose="020B0004020202020204" pitchFamily="34" charset="0"/>
              </a:rPr>
              <a:t>Invoice no., vendor, date, amount</a:t>
            </a:r>
            <a:endParaRPr lang="en-IN" sz="12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4B7DCE-84B5-CA03-6C25-4A901FC0363E}"/>
              </a:ext>
            </a:extLst>
          </p:cNvPr>
          <p:cNvSpPr txBox="1"/>
          <p:nvPr/>
        </p:nvSpPr>
        <p:spPr>
          <a:xfrm>
            <a:off x="762000" y="5905500"/>
            <a:ext cx="10414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300" b="1">
                <a:solidFill>
                  <a:srgbClr val="178B69"/>
                </a:solidFill>
                <a:latin typeface="Aptos" panose="020B0004020202020204" pitchFamily="34" charset="0"/>
              </a:rPr>
              <a:t>Deterministic rules keep critical finance checks explicit and reviewable.</a:t>
            </a:r>
            <a:endParaRPr lang="en-IN" sz="1300" b="1">
              <a:solidFill>
                <a:srgbClr val="178B69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307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89BE90-F5D4-4BB9-ADFE-4695A3B43004}"/>
              </a:ext>
            </a:extLst>
          </p:cNvPr>
          <p:cNvSpPr txBox="1"/>
          <p:nvPr/>
        </p:nvSpPr>
        <p:spPr>
          <a:xfrm>
            <a:off x="685800" y="304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PAYOPS / BUSINESS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369A5-C346-3150-ED18-7F47042653B6}"/>
              </a:ext>
            </a:extLst>
          </p:cNvPr>
          <p:cNvSpPr txBox="1"/>
          <p:nvPr/>
        </p:nvSpPr>
        <p:spPr>
          <a:xfrm>
            <a:off x="685800" y="6477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700" b="1">
                <a:solidFill>
                  <a:srgbClr val="182238"/>
                </a:solidFill>
                <a:latin typeface="Aptos" panose="020B0004020202020204" pitchFamily="34" charset="0"/>
              </a:rPr>
              <a:t>Prevent financial leakage before it happens</a:t>
            </a:r>
            <a:endParaRPr lang="en-IN" sz="2700" b="1">
              <a:solidFill>
                <a:srgbClr val="182238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7B09B4B-71E2-E97C-E135-93F93B6112CA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straightConnector1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1B782CD-DE75-4ACB-C732-7C63EB8784A6}"/>
              </a:ext>
            </a:extLst>
          </p:cNvPr>
          <p:cNvSpPr txBox="1"/>
          <p:nvPr/>
        </p:nvSpPr>
        <p:spPr>
          <a:xfrm>
            <a:off x="685800" y="64897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PAYOPS  ·  INVOICE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165D0C-1288-8DDB-1720-26E9B459615E}"/>
              </a:ext>
            </a:extLst>
          </p:cNvPr>
          <p:cNvSpPr txBox="1"/>
          <p:nvPr/>
        </p:nvSpPr>
        <p:spPr>
          <a:xfrm>
            <a:off x="11049000" y="64897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2D5AA3A-C74A-C307-6322-6AC039119E3B}"/>
              </a:ext>
            </a:extLst>
          </p:cNvPr>
          <p:cNvSpPr/>
          <p:nvPr/>
        </p:nvSpPr>
        <p:spPr>
          <a:xfrm>
            <a:off x="762000" y="1879600"/>
            <a:ext cx="4724400" cy="378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CBF17F-26F5-49C5-37C3-344FEDC09FBE}"/>
              </a:ext>
            </a:extLst>
          </p:cNvPr>
          <p:cNvSpPr txBox="1"/>
          <p:nvPr/>
        </p:nvSpPr>
        <p:spPr>
          <a:xfrm>
            <a:off x="1092200" y="2171700"/>
            <a:ext cx="4064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 b="1">
                <a:solidFill>
                  <a:srgbClr val="D65C67"/>
                </a:solidFill>
                <a:latin typeface="Aptos" panose="020B0004020202020204" pitchFamily="34" charset="0"/>
              </a:rPr>
              <a:t>POTENTIAL DUPLICATE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1B847A-1EEC-1C1B-438A-9472247632FF}"/>
              </a:ext>
            </a:extLst>
          </p:cNvPr>
          <p:cNvSpPr txBox="1"/>
          <p:nvPr/>
        </p:nvSpPr>
        <p:spPr>
          <a:xfrm>
            <a:off x="1092200" y="2679700"/>
            <a:ext cx="40640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900" b="1">
                <a:solidFill>
                  <a:srgbClr val="182238"/>
                </a:solidFill>
                <a:latin typeface="Aptos" panose="020B0004020202020204" pitchFamily="34" charset="0"/>
              </a:rPr>
              <a:t>ABC Industries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0F5041-1266-15B2-1335-46AB6171AEC5}"/>
              </a:ext>
            </a:extLst>
          </p:cNvPr>
          <p:cNvSpPr txBox="1"/>
          <p:nvPr/>
        </p:nvSpPr>
        <p:spPr>
          <a:xfrm>
            <a:off x="1092200" y="3175000"/>
            <a:ext cx="4064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400">
                <a:solidFill>
                  <a:srgbClr val="68758C"/>
                </a:solidFill>
                <a:latin typeface="Aptos" panose="020B0004020202020204" pitchFamily="34" charset="0"/>
              </a:rPr>
              <a:t>Invoice INV-1024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0BCB7D-4011-7A77-C8D7-E7B3457AA228}"/>
              </a:ext>
            </a:extLst>
          </p:cNvPr>
          <p:cNvSpPr txBox="1"/>
          <p:nvPr/>
        </p:nvSpPr>
        <p:spPr>
          <a:xfrm>
            <a:off x="1092200" y="3581400"/>
            <a:ext cx="4064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400" b="1">
                <a:solidFill>
                  <a:srgbClr val="182238"/>
                </a:solidFill>
                <a:latin typeface="Aptos" panose="020B0004020202020204" pitchFamily="34" charset="0"/>
              </a:rPr>
              <a:t>₹1,25,000  ·  15 Oct 2026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6CD1B29-3505-32AC-DEDA-7556682371BF}"/>
              </a:ext>
            </a:extLst>
          </p:cNvPr>
          <p:cNvSpPr/>
          <p:nvPr/>
        </p:nvSpPr>
        <p:spPr>
          <a:xfrm>
            <a:off x="1092200" y="4191000"/>
            <a:ext cx="4000500" cy="533400"/>
          </a:xfrm>
          <a:prstGeom prst="roundRect">
            <a:avLst/>
          </a:prstGeom>
          <a:solidFill>
            <a:srgbClr val="FFF4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249121-2903-CABE-CB07-AAC226344C2D}"/>
              </a:ext>
            </a:extLst>
          </p:cNvPr>
          <p:cNvSpPr txBox="1"/>
          <p:nvPr/>
        </p:nvSpPr>
        <p:spPr>
          <a:xfrm>
            <a:off x="1282700" y="4343400"/>
            <a:ext cx="36195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900" b="1">
                <a:solidFill>
                  <a:srgbClr val="B67616"/>
                </a:solidFill>
                <a:latin typeface="Aptos" panose="020B0004020202020204" pitchFamily="34" charset="0"/>
              </a:rPr>
              <a:t>MATCHED ON VENDOR + NO. + AMOUNT</a:t>
            </a:r>
            <a:endParaRPr lang="en-IN" sz="900" b="1">
              <a:solidFill>
                <a:srgbClr val="B67616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9BDDE0-AF5A-3BEF-412E-FA3393002EE6}"/>
              </a:ext>
            </a:extLst>
          </p:cNvPr>
          <p:cNvSpPr txBox="1"/>
          <p:nvPr/>
        </p:nvSpPr>
        <p:spPr>
          <a:xfrm>
            <a:off x="1092200" y="5003800"/>
            <a:ext cx="4064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200">
                <a:solidFill>
                  <a:srgbClr val="68758C"/>
                </a:solidFill>
                <a:latin typeface="Aptos" panose="020B0004020202020204" pitchFamily="34" charset="0"/>
              </a:rPr>
              <a:t>Hold for review before approval.</a:t>
            </a:r>
            <a:endParaRPr lang="en-IN" sz="12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5A185A-515C-A841-00C6-4D2908AD9A79}"/>
              </a:ext>
            </a:extLst>
          </p:cNvPr>
          <p:cNvSpPr txBox="1"/>
          <p:nvPr/>
        </p:nvSpPr>
        <p:spPr>
          <a:xfrm>
            <a:off x="6159500" y="2006600"/>
            <a:ext cx="4572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68758C"/>
                </a:solidFill>
                <a:latin typeface="Aptos" panose="020B0004020202020204" pitchFamily="34" charset="0"/>
              </a:rPr>
              <a:t>CHECKS THAT HELP SURFACE RISK</a:t>
            </a:r>
            <a:endParaRPr lang="en-IN" sz="1000" b="1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CB1121F-6DFD-84E9-086F-C7CCDAC07C6B}"/>
              </a:ext>
            </a:extLst>
          </p:cNvPr>
          <p:cNvSpPr/>
          <p:nvPr/>
        </p:nvSpPr>
        <p:spPr>
          <a:xfrm>
            <a:off x="6235700" y="2628900"/>
            <a:ext cx="114300" cy="114300"/>
          </a:xfrm>
          <a:prstGeom prst="ellipse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C68D7D-DC1A-6611-58EB-A543F0671DFC}"/>
              </a:ext>
            </a:extLst>
          </p:cNvPr>
          <p:cNvSpPr txBox="1"/>
          <p:nvPr/>
        </p:nvSpPr>
        <p:spPr>
          <a:xfrm>
            <a:off x="6515100" y="2590800"/>
            <a:ext cx="4318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>
                <a:solidFill>
                  <a:srgbClr val="182238"/>
                </a:solidFill>
                <a:latin typeface="Aptos" panose="020B0004020202020204" pitchFamily="34" charset="0"/>
              </a:rPr>
              <a:t>Vendor + invoice number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AA4756D-4454-2970-6453-A2D6BDBCB78D}"/>
              </a:ext>
            </a:extLst>
          </p:cNvPr>
          <p:cNvSpPr/>
          <p:nvPr/>
        </p:nvSpPr>
        <p:spPr>
          <a:xfrm>
            <a:off x="6235700" y="3175000"/>
            <a:ext cx="114300" cy="114300"/>
          </a:xfrm>
          <a:prstGeom prst="ellipse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23C73F-2897-52AD-B29F-D59BBB45745F}"/>
              </a:ext>
            </a:extLst>
          </p:cNvPr>
          <p:cNvSpPr txBox="1"/>
          <p:nvPr/>
        </p:nvSpPr>
        <p:spPr>
          <a:xfrm>
            <a:off x="6515100" y="3136900"/>
            <a:ext cx="4318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>
                <a:solidFill>
                  <a:srgbClr val="182238"/>
                </a:solidFill>
                <a:latin typeface="Aptos" panose="020B0004020202020204" pitchFamily="34" charset="0"/>
              </a:rPr>
              <a:t>Amount + invoice date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DB1DFD2-72C4-951D-3B27-92155DB63DE8}"/>
              </a:ext>
            </a:extLst>
          </p:cNvPr>
          <p:cNvSpPr/>
          <p:nvPr/>
        </p:nvSpPr>
        <p:spPr>
          <a:xfrm>
            <a:off x="6235700" y="3721100"/>
            <a:ext cx="114300" cy="114300"/>
          </a:xfrm>
          <a:prstGeom prst="ellipse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4211AB-ACD0-EA21-A683-BEE90AFFCD07}"/>
              </a:ext>
            </a:extLst>
          </p:cNvPr>
          <p:cNvSpPr txBox="1"/>
          <p:nvPr/>
        </p:nvSpPr>
        <p:spPr>
          <a:xfrm>
            <a:off x="6515100" y="3683000"/>
            <a:ext cx="4318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>
                <a:solidFill>
                  <a:srgbClr val="182238"/>
                </a:solidFill>
                <a:latin typeface="Aptos" panose="020B0004020202020204" pitchFamily="34" charset="0"/>
              </a:rPr>
              <a:t>Normalized invoice content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6394940-2E27-492B-2CD6-54A5E49AC203}"/>
              </a:ext>
            </a:extLst>
          </p:cNvPr>
          <p:cNvSpPr/>
          <p:nvPr/>
        </p:nvSpPr>
        <p:spPr>
          <a:xfrm>
            <a:off x="6235700" y="4267200"/>
            <a:ext cx="114300" cy="114300"/>
          </a:xfrm>
          <a:prstGeom prst="ellipse">
            <a:avLst/>
          </a:prstGeom>
          <a:solidFill>
            <a:srgbClr val="E99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AA5822-A3B6-341B-D762-C3408BBCEC3F}"/>
              </a:ext>
            </a:extLst>
          </p:cNvPr>
          <p:cNvSpPr txBox="1"/>
          <p:nvPr/>
        </p:nvSpPr>
        <p:spPr>
          <a:xfrm>
            <a:off x="6515100" y="4229100"/>
            <a:ext cx="4318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>
                <a:solidFill>
                  <a:srgbClr val="182238"/>
                </a:solidFill>
                <a:latin typeface="Aptos" panose="020B0004020202020204" pitchFamily="34" charset="0"/>
              </a:rPr>
              <a:t>Unusually high value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E7DBB27-9AE1-DB9E-47CD-C65BD308D4FA}"/>
              </a:ext>
            </a:extLst>
          </p:cNvPr>
          <p:cNvSpPr/>
          <p:nvPr/>
        </p:nvSpPr>
        <p:spPr>
          <a:xfrm>
            <a:off x="6235700" y="4813300"/>
            <a:ext cx="114300" cy="114300"/>
          </a:xfrm>
          <a:prstGeom prst="ellipse">
            <a:avLst/>
          </a:prstGeom>
          <a:solidFill>
            <a:srgbClr val="E99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2FDF67-6E33-0DED-4CC8-184C0E8700C1}"/>
              </a:ext>
            </a:extLst>
          </p:cNvPr>
          <p:cNvSpPr txBox="1"/>
          <p:nvPr/>
        </p:nvSpPr>
        <p:spPr>
          <a:xfrm>
            <a:off x="6515100" y="4775200"/>
            <a:ext cx="4318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>
                <a:solidFill>
                  <a:srgbClr val="182238"/>
                </a:solidFill>
                <a:latin typeface="Aptos" panose="020B0004020202020204" pitchFamily="34" charset="0"/>
              </a:rPr>
              <a:t>Missing or inconsistent data</a:t>
            </a:r>
          </a:p>
        </p:txBody>
      </p:sp>
    </p:spTree>
    <p:extLst>
      <p:ext uri="{BB962C8B-B14F-4D97-AF65-F5344CB8AC3E}">
        <p14:creationId xmlns:p14="http://schemas.microsoft.com/office/powerpoint/2010/main" val="337319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A124FD-213F-DC5B-9364-1948986D48DD}"/>
              </a:ext>
            </a:extLst>
          </p:cNvPr>
          <p:cNvSpPr txBox="1"/>
          <p:nvPr/>
        </p:nvSpPr>
        <p:spPr>
          <a:xfrm>
            <a:off x="685800" y="304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PAYOPS / BUSINESS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8F2CCA-5375-B7B4-904E-0E839C171874}"/>
              </a:ext>
            </a:extLst>
          </p:cNvPr>
          <p:cNvSpPr txBox="1"/>
          <p:nvPr/>
        </p:nvSpPr>
        <p:spPr>
          <a:xfrm>
            <a:off x="685800" y="6477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700" b="1">
                <a:solidFill>
                  <a:srgbClr val="182238"/>
                </a:solidFill>
                <a:latin typeface="Aptos" panose="020B0004020202020204" pitchFamily="34" charset="0"/>
              </a:rPr>
              <a:t>AI should not stop at detection</a:t>
            </a:r>
            <a:endParaRPr lang="en-IN" sz="2700" b="1">
              <a:solidFill>
                <a:srgbClr val="182238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D510715-AEC0-8AE6-2695-585D75F46C96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straightConnector1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D187852-AB99-3323-BB4E-1DE4AC6DAFA6}"/>
              </a:ext>
            </a:extLst>
          </p:cNvPr>
          <p:cNvSpPr txBox="1"/>
          <p:nvPr/>
        </p:nvSpPr>
        <p:spPr>
          <a:xfrm>
            <a:off x="685800" y="64897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PAYOPS  ·  INVOICE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2A0545-3B64-C3A2-6939-BD5672CD4652}"/>
              </a:ext>
            </a:extLst>
          </p:cNvPr>
          <p:cNvSpPr txBox="1"/>
          <p:nvPr/>
        </p:nvSpPr>
        <p:spPr>
          <a:xfrm>
            <a:off x="11049000" y="64897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4E6B82-D29A-E558-1B79-4F727F71DB6D}"/>
              </a:ext>
            </a:extLst>
          </p:cNvPr>
          <p:cNvSpPr/>
          <p:nvPr/>
        </p:nvSpPr>
        <p:spPr>
          <a:xfrm>
            <a:off x="749300" y="2768600"/>
            <a:ext cx="19177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888BD4-9258-06A7-EE70-8C50ED3B9899}"/>
              </a:ext>
            </a:extLst>
          </p:cNvPr>
          <p:cNvSpPr txBox="1"/>
          <p:nvPr/>
        </p:nvSpPr>
        <p:spPr>
          <a:xfrm>
            <a:off x="901700" y="3060700"/>
            <a:ext cx="16129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200" b="1">
                <a:solidFill>
                  <a:srgbClr val="182238"/>
                </a:solidFill>
                <a:latin typeface="Aptos" panose="020B0004020202020204" pitchFamily="34" charset="0"/>
              </a:rPr>
              <a:t>ISSUE FOUND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1BBA9EB-6784-4ABE-8287-9EE3B97B9B2E}"/>
              </a:ext>
            </a:extLst>
          </p:cNvPr>
          <p:cNvCxnSpPr/>
          <p:nvPr/>
        </p:nvCxnSpPr>
        <p:spPr>
          <a:xfrm>
            <a:off x="2667000" y="3340100"/>
            <a:ext cx="266700" cy="0"/>
          </a:xfrm>
          <a:prstGeom prst="straightConnector1">
            <a:avLst/>
          </a:prstGeom>
          <a:ln w="20320">
            <a:solidFill>
              <a:srgbClr val="45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D44540-2D44-2626-4017-707496C02D17}"/>
              </a:ext>
            </a:extLst>
          </p:cNvPr>
          <p:cNvSpPr/>
          <p:nvPr/>
        </p:nvSpPr>
        <p:spPr>
          <a:xfrm>
            <a:off x="2933700" y="2768600"/>
            <a:ext cx="19177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3624D3-061F-ACEE-52C4-E172BE86992B}"/>
              </a:ext>
            </a:extLst>
          </p:cNvPr>
          <p:cNvSpPr txBox="1"/>
          <p:nvPr/>
        </p:nvSpPr>
        <p:spPr>
          <a:xfrm>
            <a:off x="3086100" y="3060700"/>
            <a:ext cx="16129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200" b="1">
                <a:solidFill>
                  <a:srgbClr val="182238"/>
                </a:solidFill>
                <a:latin typeface="Aptos" panose="020B0004020202020204" pitchFamily="34" charset="0"/>
              </a:rPr>
              <a:t>CLASSIFY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E11E123-A715-4E41-E12D-60A626F9D9EE}"/>
              </a:ext>
            </a:extLst>
          </p:cNvPr>
          <p:cNvCxnSpPr/>
          <p:nvPr/>
        </p:nvCxnSpPr>
        <p:spPr>
          <a:xfrm>
            <a:off x="4851400" y="3340100"/>
            <a:ext cx="266700" cy="0"/>
          </a:xfrm>
          <a:prstGeom prst="straightConnector1">
            <a:avLst/>
          </a:prstGeom>
          <a:ln w="20320">
            <a:solidFill>
              <a:srgbClr val="45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492157B-F872-3402-9FB1-1F135CA531A4}"/>
              </a:ext>
            </a:extLst>
          </p:cNvPr>
          <p:cNvSpPr/>
          <p:nvPr/>
        </p:nvSpPr>
        <p:spPr>
          <a:xfrm>
            <a:off x="5118100" y="2768600"/>
            <a:ext cx="1917700" cy="1168400"/>
          </a:xfrm>
          <a:prstGeom prst="roundRect">
            <a:avLst/>
          </a:prstGeom>
          <a:solidFill>
            <a:srgbClr val="F1ED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9839DF-B4A0-1BEF-5F3C-A1985864CFAD}"/>
              </a:ext>
            </a:extLst>
          </p:cNvPr>
          <p:cNvSpPr txBox="1"/>
          <p:nvPr/>
        </p:nvSpPr>
        <p:spPr>
          <a:xfrm>
            <a:off x="5270500" y="3060700"/>
            <a:ext cx="16129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200" b="1">
                <a:solidFill>
                  <a:srgbClr val="8666F5"/>
                </a:solidFill>
                <a:latin typeface="Aptos" panose="020B0004020202020204" pitchFamily="34" charset="0"/>
              </a:rPr>
              <a:t>HUMAN REVIEW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D2F1E3-704F-BB01-0567-E7C6FB2EFC89}"/>
              </a:ext>
            </a:extLst>
          </p:cNvPr>
          <p:cNvCxnSpPr/>
          <p:nvPr/>
        </p:nvCxnSpPr>
        <p:spPr>
          <a:xfrm>
            <a:off x="7035800" y="3340100"/>
            <a:ext cx="266700" cy="0"/>
          </a:xfrm>
          <a:prstGeom prst="straightConnector1">
            <a:avLst/>
          </a:prstGeom>
          <a:ln w="20320">
            <a:solidFill>
              <a:srgbClr val="45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53BCE86-EEEE-B4B7-9D66-9F91E284CED4}"/>
              </a:ext>
            </a:extLst>
          </p:cNvPr>
          <p:cNvSpPr/>
          <p:nvPr/>
        </p:nvSpPr>
        <p:spPr>
          <a:xfrm>
            <a:off x="7302500" y="2768600"/>
            <a:ext cx="19177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D10FBB-74B9-F3FD-FECF-0BDAB3CC4AB2}"/>
              </a:ext>
            </a:extLst>
          </p:cNvPr>
          <p:cNvSpPr txBox="1"/>
          <p:nvPr/>
        </p:nvSpPr>
        <p:spPr>
          <a:xfrm>
            <a:off x="7454900" y="3060700"/>
            <a:ext cx="16129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200" b="1">
                <a:solidFill>
                  <a:srgbClr val="182238"/>
                </a:solidFill>
                <a:latin typeface="Aptos" panose="020B0004020202020204" pitchFamily="34" charset="0"/>
              </a:rPr>
              <a:t>DECIDE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0CCE488-C363-795C-AEA9-69804014AF37}"/>
              </a:ext>
            </a:extLst>
          </p:cNvPr>
          <p:cNvCxnSpPr/>
          <p:nvPr/>
        </p:nvCxnSpPr>
        <p:spPr>
          <a:xfrm>
            <a:off x="9220200" y="3340100"/>
            <a:ext cx="266700" cy="0"/>
          </a:xfrm>
          <a:prstGeom prst="straightConnector1">
            <a:avLst/>
          </a:prstGeom>
          <a:ln w="20320">
            <a:solidFill>
              <a:srgbClr val="45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8A72E1E-C068-007B-B5F1-59E7138C4CF9}"/>
              </a:ext>
            </a:extLst>
          </p:cNvPr>
          <p:cNvSpPr/>
          <p:nvPr/>
        </p:nvSpPr>
        <p:spPr>
          <a:xfrm>
            <a:off x="9486900" y="2768600"/>
            <a:ext cx="19177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249638-C77B-1BC1-04D7-BF399770F5C8}"/>
              </a:ext>
            </a:extLst>
          </p:cNvPr>
          <p:cNvSpPr txBox="1"/>
          <p:nvPr/>
        </p:nvSpPr>
        <p:spPr>
          <a:xfrm>
            <a:off x="9639300" y="3060700"/>
            <a:ext cx="16129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200" b="1">
                <a:solidFill>
                  <a:srgbClr val="182238"/>
                </a:solidFill>
                <a:latin typeface="Aptos" panose="020B0004020202020204" pitchFamily="34" charset="0"/>
              </a:rPr>
              <a:t>APPROVE / REJECT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C319189-BA89-3ACE-7168-8B507621E368}"/>
              </a:ext>
            </a:extLst>
          </p:cNvPr>
          <p:cNvSpPr/>
          <p:nvPr/>
        </p:nvSpPr>
        <p:spPr>
          <a:xfrm>
            <a:off x="1333500" y="4572000"/>
            <a:ext cx="9525000" cy="1054100"/>
          </a:xfrm>
          <a:prstGeom prst="roundRect">
            <a:avLst/>
          </a:prstGeom>
          <a:solidFill>
            <a:srgbClr val="10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386773-4BAD-946A-37C0-A537167B070E}"/>
              </a:ext>
            </a:extLst>
          </p:cNvPr>
          <p:cNvSpPr txBox="1"/>
          <p:nvPr/>
        </p:nvSpPr>
        <p:spPr>
          <a:xfrm>
            <a:off x="1676400" y="4800600"/>
            <a:ext cx="88392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8666F5"/>
                </a:solidFill>
                <a:latin typeface="Aptos" panose="020B0004020202020204" pitchFamily="34" charset="0"/>
              </a:rPr>
              <a:t>EXAMPLE  ·  GST MISMATCH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ADE1A5-1B5B-3AB1-10C1-615600C4E6DF}"/>
              </a:ext>
            </a:extLst>
          </p:cNvPr>
          <p:cNvSpPr txBox="1"/>
          <p:nvPr/>
        </p:nvSpPr>
        <p:spPr>
          <a:xfrm>
            <a:off x="1676400" y="5143500"/>
            <a:ext cx="8839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Flag → review → correct or reject → continue the approval flow</a:t>
            </a:r>
            <a:endParaRPr lang="en-IN" sz="13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976208-C072-C4AF-E11A-C08E04974596}"/>
              </a:ext>
            </a:extLst>
          </p:cNvPr>
          <p:cNvSpPr txBox="1"/>
          <p:nvPr/>
        </p:nvSpPr>
        <p:spPr>
          <a:xfrm>
            <a:off x="1587500" y="5905500"/>
            <a:ext cx="9017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300">
                <a:solidFill>
                  <a:srgbClr val="68758C"/>
                </a:solidFill>
                <a:latin typeface="Aptos" panose="020B0004020202020204" pitchFamily="34" charset="0"/>
              </a:rPr>
              <a:t>Insight becomes operations when there is a clear path to action.</a:t>
            </a:r>
            <a:endParaRPr lang="en-IN" sz="13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241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DA35CF-FCF7-6CC3-ACAD-E2F8415182D1}"/>
              </a:ext>
            </a:extLst>
          </p:cNvPr>
          <p:cNvSpPr txBox="1"/>
          <p:nvPr/>
        </p:nvSpPr>
        <p:spPr>
          <a:xfrm>
            <a:off x="685800" y="304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PAYOPS / BUSINESS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D7D497-D02C-C3BD-C245-CD8F51B89AE5}"/>
              </a:ext>
            </a:extLst>
          </p:cNvPr>
          <p:cNvSpPr txBox="1"/>
          <p:nvPr/>
        </p:nvSpPr>
        <p:spPr>
          <a:xfrm>
            <a:off x="685800" y="6477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700" b="1">
                <a:solidFill>
                  <a:srgbClr val="182238"/>
                </a:solidFill>
                <a:latin typeface="Aptos" panose="020B0004020202020204" pitchFamily="34" charset="0"/>
              </a:rPr>
              <a:t>One invoice. One intelligent lifecycle.</a:t>
            </a:r>
            <a:endParaRPr lang="en-IN" sz="2700" b="1">
              <a:solidFill>
                <a:srgbClr val="182238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8F5ABFE-0B55-D303-A1B4-3BE5A17E486C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straightConnector1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85428D9-6A11-F630-ECF5-E7ED3F8891B8}"/>
              </a:ext>
            </a:extLst>
          </p:cNvPr>
          <p:cNvSpPr txBox="1"/>
          <p:nvPr/>
        </p:nvSpPr>
        <p:spPr>
          <a:xfrm>
            <a:off x="685800" y="64897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PAYOPS  ·  INVOICE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0DD07-75D1-3971-ABF1-19F0BB43D294}"/>
              </a:ext>
            </a:extLst>
          </p:cNvPr>
          <p:cNvSpPr txBox="1"/>
          <p:nvPr/>
        </p:nvSpPr>
        <p:spPr>
          <a:xfrm>
            <a:off x="11049000" y="64897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3DABCD7-E658-6D50-7BC4-DDAF9E2F1841}"/>
              </a:ext>
            </a:extLst>
          </p:cNvPr>
          <p:cNvSpPr/>
          <p:nvPr/>
        </p:nvSpPr>
        <p:spPr>
          <a:xfrm>
            <a:off x="838200" y="2209800"/>
            <a:ext cx="165100" cy="165100"/>
          </a:xfrm>
          <a:prstGeom prst="ellipse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E41140-DF30-58CF-1BC5-7C3753B17E38}"/>
              </a:ext>
            </a:extLst>
          </p:cNvPr>
          <p:cNvSpPr txBox="1"/>
          <p:nvPr/>
        </p:nvSpPr>
        <p:spPr>
          <a:xfrm>
            <a:off x="1130300" y="2171700"/>
            <a:ext cx="16256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182238"/>
                </a:solidFill>
                <a:latin typeface="Aptos" panose="020B0004020202020204" pitchFamily="34" charset="0"/>
              </a:rPr>
              <a:t>UPLOADED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BB1DDD4-E52E-998A-6FA7-903C8941E1E4}"/>
              </a:ext>
            </a:extLst>
          </p:cNvPr>
          <p:cNvCxnSpPr/>
          <p:nvPr/>
        </p:nvCxnSpPr>
        <p:spPr>
          <a:xfrm>
            <a:off x="2565400" y="2298700"/>
            <a:ext cx="381000" cy="0"/>
          </a:xfrm>
          <a:prstGeom prst="straightConnector1">
            <a:avLst/>
          </a:prstGeom>
          <a:ln w="1905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9EDD71AE-8BCA-7926-D69B-BED54EF08998}"/>
              </a:ext>
            </a:extLst>
          </p:cNvPr>
          <p:cNvSpPr/>
          <p:nvPr/>
        </p:nvSpPr>
        <p:spPr>
          <a:xfrm>
            <a:off x="3048000" y="2209800"/>
            <a:ext cx="165100" cy="165100"/>
          </a:xfrm>
          <a:prstGeom prst="ellipse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FB486F-0BF2-60A3-50DA-C9646DA89954}"/>
              </a:ext>
            </a:extLst>
          </p:cNvPr>
          <p:cNvSpPr txBox="1"/>
          <p:nvPr/>
        </p:nvSpPr>
        <p:spPr>
          <a:xfrm>
            <a:off x="3340100" y="2171700"/>
            <a:ext cx="16256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182238"/>
                </a:solidFill>
                <a:latin typeface="Aptos" panose="020B0004020202020204" pitchFamily="34" charset="0"/>
              </a:rPr>
              <a:t>PROCESSING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7253BC-FC07-7027-FBE4-BBCE470F20E1}"/>
              </a:ext>
            </a:extLst>
          </p:cNvPr>
          <p:cNvCxnSpPr/>
          <p:nvPr/>
        </p:nvCxnSpPr>
        <p:spPr>
          <a:xfrm>
            <a:off x="4775200" y="2298700"/>
            <a:ext cx="381000" cy="0"/>
          </a:xfrm>
          <a:prstGeom prst="straightConnector1">
            <a:avLst/>
          </a:prstGeom>
          <a:ln w="1905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D984366-C9EC-93C8-FD76-90F6A224471F}"/>
              </a:ext>
            </a:extLst>
          </p:cNvPr>
          <p:cNvSpPr/>
          <p:nvPr/>
        </p:nvSpPr>
        <p:spPr>
          <a:xfrm>
            <a:off x="5257800" y="2209800"/>
            <a:ext cx="165100" cy="165100"/>
          </a:xfrm>
          <a:prstGeom prst="ellipse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DDE50F-59FA-1417-A7BC-B095AE2377B8}"/>
              </a:ext>
            </a:extLst>
          </p:cNvPr>
          <p:cNvSpPr txBox="1"/>
          <p:nvPr/>
        </p:nvSpPr>
        <p:spPr>
          <a:xfrm>
            <a:off x="5549900" y="2171700"/>
            <a:ext cx="16256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182238"/>
                </a:solidFill>
                <a:latin typeface="Aptos" panose="020B0004020202020204" pitchFamily="34" charset="0"/>
              </a:rPr>
              <a:t>EXTRACTED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654605-3D3D-3048-E7CD-959787593114}"/>
              </a:ext>
            </a:extLst>
          </p:cNvPr>
          <p:cNvCxnSpPr/>
          <p:nvPr/>
        </p:nvCxnSpPr>
        <p:spPr>
          <a:xfrm>
            <a:off x="6985000" y="2298700"/>
            <a:ext cx="381000" cy="0"/>
          </a:xfrm>
          <a:prstGeom prst="straightConnector1">
            <a:avLst/>
          </a:prstGeom>
          <a:ln w="1905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9AD2C437-C13A-AF29-2DFE-51E4592A49DE}"/>
              </a:ext>
            </a:extLst>
          </p:cNvPr>
          <p:cNvSpPr/>
          <p:nvPr/>
        </p:nvSpPr>
        <p:spPr>
          <a:xfrm>
            <a:off x="7467600" y="2209800"/>
            <a:ext cx="165100" cy="165100"/>
          </a:xfrm>
          <a:prstGeom prst="ellipse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236DC8-CB60-12C1-F275-7FCFA53BFE16}"/>
              </a:ext>
            </a:extLst>
          </p:cNvPr>
          <p:cNvSpPr txBox="1"/>
          <p:nvPr/>
        </p:nvSpPr>
        <p:spPr>
          <a:xfrm>
            <a:off x="7759700" y="2171700"/>
            <a:ext cx="16256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182238"/>
                </a:solidFill>
                <a:latin typeface="Aptos" panose="020B0004020202020204" pitchFamily="34" charset="0"/>
              </a:rPr>
              <a:t>VALIDATED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2844848-1EB1-C5F0-7382-A58BEA21BC56}"/>
              </a:ext>
            </a:extLst>
          </p:cNvPr>
          <p:cNvCxnSpPr/>
          <p:nvPr/>
        </p:nvCxnSpPr>
        <p:spPr>
          <a:xfrm>
            <a:off x="9194800" y="2298700"/>
            <a:ext cx="381000" cy="0"/>
          </a:xfrm>
          <a:prstGeom prst="straightConnector1">
            <a:avLst/>
          </a:prstGeom>
          <a:ln w="1905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9EF43A25-11A9-5348-3778-B4BF9D0105F6}"/>
              </a:ext>
            </a:extLst>
          </p:cNvPr>
          <p:cNvSpPr/>
          <p:nvPr/>
        </p:nvSpPr>
        <p:spPr>
          <a:xfrm>
            <a:off x="9677400" y="2209800"/>
            <a:ext cx="165100" cy="165100"/>
          </a:xfrm>
          <a:prstGeom prst="ellipse">
            <a:avLst/>
          </a:prstGeom>
          <a:solidFill>
            <a:srgbClr val="E99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3A2A45-1D63-CB42-B0A9-DE3E513C1803}"/>
              </a:ext>
            </a:extLst>
          </p:cNvPr>
          <p:cNvSpPr txBox="1"/>
          <p:nvPr/>
        </p:nvSpPr>
        <p:spPr>
          <a:xfrm>
            <a:off x="9969500" y="2171700"/>
            <a:ext cx="16256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182238"/>
                </a:solidFill>
                <a:latin typeface="Aptos" panose="020B0004020202020204" pitchFamily="34" charset="0"/>
              </a:rPr>
              <a:t>REVIEW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C965F1B-8965-475E-7B99-61BFC1D1F9DC}"/>
              </a:ext>
            </a:extLst>
          </p:cNvPr>
          <p:cNvSpPr/>
          <p:nvPr/>
        </p:nvSpPr>
        <p:spPr>
          <a:xfrm>
            <a:off x="838200" y="3378200"/>
            <a:ext cx="165100" cy="165100"/>
          </a:xfrm>
          <a:prstGeom prst="ellipse">
            <a:avLst/>
          </a:prstGeom>
          <a:solidFill>
            <a:srgbClr val="E99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42CC7E-3A3C-6C43-D5E5-3B2528AD0186}"/>
              </a:ext>
            </a:extLst>
          </p:cNvPr>
          <p:cNvSpPr txBox="1"/>
          <p:nvPr/>
        </p:nvSpPr>
        <p:spPr>
          <a:xfrm>
            <a:off x="1130300" y="3340100"/>
            <a:ext cx="16256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182238"/>
                </a:solidFill>
                <a:latin typeface="Aptos" panose="020B0004020202020204" pitchFamily="34" charset="0"/>
              </a:rPr>
              <a:t>APPROVAL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0A04589-08C7-725D-1B11-E595BC15E065}"/>
              </a:ext>
            </a:extLst>
          </p:cNvPr>
          <p:cNvCxnSpPr/>
          <p:nvPr/>
        </p:nvCxnSpPr>
        <p:spPr>
          <a:xfrm>
            <a:off x="2565400" y="3467100"/>
            <a:ext cx="381000" cy="0"/>
          </a:xfrm>
          <a:prstGeom prst="straightConnector1">
            <a:avLst/>
          </a:prstGeom>
          <a:ln w="1905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E9E0E897-C3A6-0111-98A9-7504E0676811}"/>
              </a:ext>
            </a:extLst>
          </p:cNvPr>
          <p:cNvSpPr/>
          <p:nvPr/>
        </p:nvSpPr>
        <p:spPr>
          <a:xfrm>
            <a:off x="3048000" y="3378200"/>
            <a:ext cx="165100" cy="165100"/>
          </a:xfrm>
          <a:prstGeom prst="ellipse">
            <a:avLst/>
          </a:prstGeom>
          <a:solidFill>
            <a:srgbClr val="178B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1F10B4-8684-17FC-B345-12625ED3EE38}"/>
              </a:ext>
            </a:extLst>
          </p:cNvPr>
          <p:cNvSpPr txBox="1"/>
          <p:nvPr/>
        </p:nvSpPr>
        <p:spPr>
          <a:xfrm>
            <a:off x="3340100" y="3340100"/>
            <a:ext cx="16256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182238"/>
                </a:solidFill>
                <a:latin typeface="Aptos" panose="020B0004020202020204" pitchFamily="34" charset="0"/>
              </a:rPr>
              <a:t>APPROVED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65BAC62-D242-EC1F-CCB5-6ECF060F7380}"/>
              </a:ext>
            </a:extLst>
          </p:cNvPr>
          <p:cNvCxnSpPr/>
          <p:nvPr/>
        </p:nvCxnSpPr>
        <p:spPr>
          <a:xfrm>
            <a:off x="4775200" y="3467100"/>
            <a:ext cx="381000" cy="0"/>
          </a:xfrm>
          <a:prstGeom prst="straightConnector1">
            <a:avLst/>
          </a:prstGeom>
          <a:ln w="1905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85BC4BC1-53FF-4B5E-659F-DAA7ACA6C2EF}"/>
              </a:ext>
            </a:extLst>
          </p:cNvPr>
          <p:cNvSpPr/>
          <p:nvPr/>
        </p:nvSpPr>
        <p:spPr>
          <a:xfrm>
            <a:off x="5257800" y="3378200"/>
            <a:ext cx="165100" cy="165100"/>
          </a:xfrm>
          <a:prstGeom prst="ellipse">
            <a:avLst/>
          </a:prstGeom>
          <a:solidFill>
            <a:srgbClr val="178B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EB80C4-3B20-420F-5048-8EBD2D88C2B5}"/>
              </a:ext>
            </a:extLst>
          </p:cNvPr>
          <p:cNvSpPr txBox="1"/>
          <p:nvPr/>
        </p:nvSpPr>
        <p:spPr>
          <a:xfrm>
            <a:off x="5549900" y="3340100"/>
            <a:ext cx="16256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182238"/>
                </a:solidFill>
                <a:latin typeface="Aptos" panose="020B0004020202020204" pitchFamily="34" charset="0"/>
              </a:rPr>
              <a:t>PAYMENT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83C9D71-31B3-8870-13B1-2E5759B357A2}"/>
              </a:ext>
            </a:extLst>
          </p:cNvPr>
          <p:cNvCxnSpPr/>
          <p:nvPr/>
        </p:nvCxnSpPr>
        <p:spPr>
          <a:xfrm>
            <a:off x="6985000" y="3467100"/>
            <a:ext cx="381000" cy="0"/>
          </a:xfrm>
          <a:prstGeom prst="straightConnector1">
            <a:avLst/>
          </a:prstGeom>
          <a:ln w="1905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5C9A1F9B-3E64-4308-5F96-2E19F5DE53DE}"/>
              </a:ext>
            </a:extLst>
          </p:cNvPr>
          <p:cNvSpPr/>
          <p:nvPr/>
        </p:nvSpPr>
        <p:spPr>
          <a:xfrm>
            <a:off x="7467600" y="3378200"/>
            <a:ext cx="165100" cy="165100"/>
          </a:xfrm>
          <a:prstGeom prst="ellipse">
            <a:avLst/>
          </a:prstGeom>
          <a:solidFill>
            <a:srgbClr val="178B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27AFB6-5D3A-24B3-4854-E63B8EE7D5B4}"/>
              </a:ext>
            </a:extLst>
          </p:cNvPr>
          <p:cNvSpPr txBox="1"/>
          <p:nvPr/>
        </p:nvSpPr>
        <p:spPr>
          <a:xfrm>
            <a:off x="7759700" y="3340100"/>
            <a:ext cx="16256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182238"/>
                </a:solidFill>
                <a:latin typeface="Aptos" panose="020B0004020202020204" pitchFamily="34" charset="0"/>
              </a:rPr>
              <a:t>PAID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CC8E454-1C45-3992-97E6-115E49D67BB7}"/>
              </a:ext>
            </a:extLst>
          </p:cNvPr>
          <p:cNvSpPr/>
          <p:nvPr/>
        </p:nvSpPr>
        <p:spPr>
          <a:xfrm>
            <a:off x="774700" y="4864100"/>
            <a:ext cx="10617200" cy="96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8D7470-4E25-F8E7-C32D-0D7EB6443136}"/>
              </a:ext>
            </a:extLst>
          </p:cNvPr>
          <p:cNvSpPr txBox="1"/>
          <p:nvPr/>
        </p:nvSpPr>
        <p:spPr>
          <a:xfrm>
            <a:off x="1054100" y="50419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68758C"/>
                </a:solidFill>
                <a:latin typeface="Aptos" panose="020B0004020202020204" pitchFamily="34" charset="0"/>
              </a:rPr>
              <a:t>EXCEPTION PATHS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9D55ED-67B8-15E4-2695-5E247ACAB9C5}"/>
              </a:ext>
            </a:extLst>
          </p:cNvPr>
          <p:cNvSpPr txBox="1"/>
          <p:nvPr/>
        </p:nvSpPr>
        <p:spPr>
          <a:xfrm>
            <a:off x="1054100" y="5397500"/>
            <a:ext cx="10033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100">
                <a:solidFill>
                  <a:srgbClr val="182238"/>
                </a:solidFill>
                <a:latin typeface="Aptos" panose="020B0004020202020204" pitchFamily="34" charset="0"/>
              </a:rPr>
              <a:t>Validation issue → review     Duplicate → duplicate review     Rejected → rework     Past due → overdue</a:t>
            </a:r>
            <a:endParaRPr lang="en-IN" sz="1100">
              <a:solidFill>
                <a:srgbClr val="182238"/>
              </a:solidFill>
              <a:latin typeface="Aptos" panose="020B00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11C0D3-69D9-4218-6F6A-325F06126424}"/>
              </a:ext>
            </a:extLst>
          </p:cNvPr>
          <p:cNvSpPr txBox="1"/>
          <p:nvPr/>
        </p:nvSpPr>
        <p:spPr>
          <a:xfrm>
            <a:off x="787400" y="59690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100">
                <a:solidFill>
                  <a:srgbClr val="68758C"/>
                </a:solidFill>
                <a:latin typeface="Aptos" panose="020B0004020202020204" pitchFamily="34" charset="0"/>
              </a:rPr>
              <a:t>Payment state can progress from unpaid → partially paid → paid; overdue remains visible.</a:t>
            </a:r>
            <a:endParaRPr lang="en-IN" sz="11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793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69E202-9EAF-CD4F-B93B-EFB2DAB32725}"/>
              </a:ext>
            </a:extLst>
          </p:cNvPr>
          <p:cNvSpPr txBox="1"/>
          <p:nvPr/>
        </p:nvSpPr>
        <p:spPr>
          <a:xfrm>
            <a:off x="685800" y="304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PAYOPS / BUSINESS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0D81C2-D876-C889-1049-A3E7F3FAC570}"/>
              </a:ext>
            </a:extLst>
          </p:cNvPr>
          <p:cNvSpPr txBox="1"/>
          <p:nvPr/>
        </p:nvSpPr>
        <p:spPr>
          <a:xfrm>
            <a:off x="685800" y="6477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700" b="1">
                <a:solidFill>
                  <a:srgbClr val="182238"/>
                </a:solidFill>
                <a:latin typeface="Aptos" panose="020B0004020202020204" pitchFamily="34" charset="0"/>
              </a:rPr>
              <a:t>Your finance data has an AI interface</a:t>
            </a:r>
            <a:endParaRPr lang="en-IN" sz="2700" b="1">
              <a:solidFill>
                <a:srgbClr val="182238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4DE3866-F1DC-13E8-8D56-57EEA86212EC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straightConnector1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04100C3-76CE-3202-DB3B-39B9C050D782}"/>
              </a:ext>
            </a:extLst>
          </p:cNvPr>
          <p:cNvSpPr txBox="1"/>
          <p:nvPr/>
        </p:nvSpPr>
        <p:spPr>
          <a:xfrm>
            <a:off x="685800" y="64897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PAYOPS  ·  INVOICE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45F5D5-1232-1F53-2B01-ECA6D153AD3C}"/>
              </a:ext>
            </a:extLst>
          </p:cNvPr>
          <p:cNvSpPr txBox="1"/>
          <p:nvPr/>
        </p:nvSpPr>
        <p:spPr>
          <a:xfrm>
            <a:off x="11049000" y="64897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BE7CAE3-B609-0D2C-092B-946FFE127F7B}"/>
              </a:ext>
            </a:extLst>
          </p:cNvPr>
          <p:cNvSpPr/>
          <p:nvPr/>
        </p:nvSpPr>
        <p:spPr>
          <a:xfrm>
            <a:off x="850900" y="1841500"/>
            <a:ext cx="10490200" cy="396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EA4CE9D-D2F7-1966-DECA-6F0F0D45205C}"/>
              </a:ext>
            </a:extLst>
          </p:cNvPr>
          <p:cNvSpPr/>
          <p:nvPr/>
        </p:nvSpPr>
        <p:spPr>
          <a:xfrm>
            <a:off x="850900" y="1841500"/>
            <a:ext cx="10490200" cy="495300"/>
          </a:xfrm>
          <a:prstGeom prst="roundRect">
            <a:avLst/>
          </a:prstGeom>
          <a:solidFill>
            <a:srgbClr val="10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931253-3372-D0F7-FF8D-719A6328930A}"/>
              </a:ext>
            </a:extLst>
          </p:cNvPr>
          <p:cNvSpPr txBox="1"/>
          <p:nvPr/>
        </p:nvSpPr>
        <p:spPr>
          <a:xfrm>
            <a:off x="1130300" y="1993900"/>
            <a:ext cx="9779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900" b="1">
                <a:solidFill>
                  <a:srgbClr val="FFFFFF"/>
                </a:solidFill>
                <a:latin typeface="Aptos" panose="020B0004020202020204" pitchFamily="34" charset="0"/>
              </a:rPr>
              <a:t>PAYOPS ASSISTANT  ·  GROUNDED IN WORKSPACE RECORDS</a:t>
            </a:r>
            <a:endParaRPr lang="en-IN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B1A0F2C-A8B7-6F49-166E-99518206A855}"/>
              </a:ext>
            </a:extLst>
          </p:cNvPr>
          <p:cNvSpPr/>
          <p:nvPr/>
        </p:nvSpPr>
        <p:spPr>
          <a:xfrm>
            <a:off x="1143000" y="2578100"/>
            <a:ext cx="5575300" cy="393700"/>
          </a:xfrm>
          <a:prstGeom prst="roundRect">
            <a:avLst/>
          </a:prstGeom>
          <a:solidFill>
            <a:srgbClr val="F1E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901666-A116-1FFB-AB7D-0F98A35964E9}"/>
              </a:ext>
            </a:extLst>
          </p:cNvPr>
          <p:cNvSpPr txBox="1"/>
          <p:nvPr/>
        </p:nvSpPr>
        <p:spPr>
          <a:xfrm>
            <a:off x="1308100" y="2679700"/>
            <a:ext cx="51816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00">
                <a:solidFill>
                  <a:srgbClr val="182238"/>
                </a:solidFill>
                <a:latin typeface="Aptos" panose="020B0004020202020204" pitchFamily="34" charset="0"/>
              </a:rPr>
              <a:t>Show me all overdue invoices.</a:t>
            </a:r>
            <a:endParaRPr lang="en-IN" sz="1000">
              <a:solidFill>
                <a:srgbClr val="182238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F2EF015-25CE-9EFA-65D0-FEF5C1D4A078}"/>
              </a:ext>
            </a:extLst>
          </p:cNvPr>
          <p:cNvSpPr/>
          <p:nvPr/>
        </p:nvSpPr>
        <p:spPr>
          <a:xfrm>
            <a:off x="1143000" y="3124200"/>
            <a:ext cx="5575300" cy="393700"/>
          </a:xfrm>
          <a:prstGeom prst="roundRect">
            <a:avLst/>
          </a:prstGeom>
          <a:solidFill>
            <a:srgbClr val="F5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E46C7A-A1A3-B0B9-A6A0-1D43914DDC79}"/>
              </a:ext>
            </a:extLst>
          </p:cNvPr>
          <p:cNvSpPr txBox="1"/>
          <p:nvPr/>
        </p:nvSpPr>
        <p:spPr>
          <a:xfrm>
            <a:off x="1308100" y="3225800"/>
            <a:ext cx="51816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00">
                <a:solidFill>
                  <a:srgbClr val="182238"/>
                </a:solidFill>
                <a:latin typeface="Aptos" panose="020B0004020202020204" pitchFamily="34" charset="0"/>
              </a:rPr>
              <a:t>What is our total unpaid amount?</a:t>
            </a:r>
            <a:endParaRPr lang="en-IN" sz="1000">
              <a:solidFill>
                <a:srgbClr val="182238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6E73603-CDE0-972B-B210-8902194073EA}"/>
              </a:ext>
            </a:extLst>
          </p:cNvPr>
          <p:cNvSpPr/>
          <p:nvPr/>
        </p:nvSpPr>
        <p:spPr>
          <a:xfrm>
            <a:off x="1143000" y="3670300"/>
            <a:ext cx="5575300" cy="393700"/>
          </a:xfrm>
          <a:prstGeom prst="roundRect">
            <a:avLst/>
          </a:prstGeom>
          <a:solidFill>
            <a:srgbClr val="F5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1425C0-9C80-39CC-CA2C-9AEEAEC86219}"/>
              </a:ext>
            </a:extLst>
          </p:cNvPr>
          <p:cNvSpPr txBox="1"/>
          <p:nvPr/>
        </p:nvSpPr>
        <p:spPr>
          <a:xfrm>
            <a:off x="1308100" y="3771900"/>
            <a:ext cx="51816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00">
                <a:solidFill>
                  <a:srgbClr val="182238"/>
                </a:solidFill>
                <a:latin typeface="Aptos" panose="020B0004020202020204" pitchFamily="34" charset="0"/>
              </a:rPr>
              <a:t>How much do we owe ABC Industries?</a:t>
            </a:r>
            <a:endParaRPr lang="en-IN" sz="1000">
              <a:solidFill>
                <a:srgbClr val="182238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C9CDE23-64EC-69A5-2E4A-52A895355379}"/>
              </a:ext>
            </a:extLst>
          </p:cNvPr>
          <p:cNvSpPr/>
          <p:nvPr/>
        </p:nvSpPr>
        <p:spPr>
          <a:xfrm>
            <a:off x="1143000" y="4216400"/>
            <a:ext cx="5575300" cy="393700"/>
          </a:xfrm>
          <a:prstGeom prst="roundRect">
            <a:avLst/>
          </a:prstGeom>
          <a:solidFill>
            <a:srgbClr val="F5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55B94F-4C64-99FD-572E-F19925746101}"/>
              </a:ext>
            </a:extLst>
          </p:cNvPr>
          <p:cNvSpPr txBox="1"/>
          <p:nvPr/>
        </p:nvSpPr>
        <p:spPr>
          <a:xfrm>
            <a:off x="1308100" y="4318000"/>
            <a:ext cx="51816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>
                <a:solidFill>
                  <a:srgbClr val="182238"/>
                </a:solidFill>
                <a:latin typeface="Aptos" panose="020B0004020202020204" pitchFamily="34" charset="0"/>
              </a:rPr>
              <a:t>Find invoice INV-1024.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5B1C762-814A-D0CC-5BF5-D101DFEBBF8D}"/>
              </a:ext>
            </a:extLst>
          </p:cNvPr>
          <p:cNvSpPr/>
          <p:nvPr/>
        </p:nvSpPr>
        <p:spPr>
          <a:xfrm>
            <a:off x="1143000" y="4762500"/>
            <a:ext cx="5575300" cy="393700"/>
          </a:xfrm>
          <a:prstGeom prst="roundRect">
            <a:avLst/>
          </a:prstGeom>
          <a:solidFill>
            <a:srgbClr val="F5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326AF6-28B7-ECD6-05F2-9E1B11B54825}"/>
              </a:ext>
            </a:extLst>
          </p:cNvPr>
          <p:cNvSpPr txBox="1"/>
          <p:nvPr/>
        </p:nvSpPr>
        <p:spPr>
          <a:xfrm>
            <a:off x="1308100" y="4864100"/>
            <a:ext cx="51816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00">
                <a:solidFill>
                  <a:srgbClr val="182238"/>
                </a:solidFill>
                <a:latin typeface="Aptos" panose="020B0004020202020204" pitchFamily="34" charset="0"/>
              </a:rPr>
              <a:t>Which invoices have validation issues?</a:t>
            </a:r>
            <a:endParaRPr lang="en-IN" sz="1000">
              <a:solidFill>
                <a:srgbClr val="182238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45F26F7-6F7B-D219-C206-18D945F98DC3}"/>
              </a:ext>
            </a:extLst>
          </p:cNvPr>
          <p:cNvSpPr/>
          <p:nvPr/>
        </p:nvSpPr>
        <p:spPr>
          <a:xfrm>
            <a:off x="7073900" y="2628900"/>
            <a:ext cx="3848100" cy="2438400"/>
          </a:xfrm>
          <a:prstGeom prst="roundRect">
            <a:avLst/>
          </a:prstGeom>
          <a:solidFill>
            <a:srgbClr val="E8F6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A96BD9-6604-74EC-E704-EE735C00F467}"/>
              </a:ext>
            </a:extLst>
          </p:cNvPr>
          <p:cNvSpPr txBox="1"/>
          <p:nvPr/>
        </p:nvSpPr>
        <p:spPr>
          <a:xfrm>
            <a:off x="7353300" y="28702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178B69"/>
                </a:solidFill>
                <a:latin typeface="Aptos" panose="020B0004020202020204" pitchFamily="34" charset="0"/>
              </a:rPr>
              <a:t>ANSWER FROM BUSINESS 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F0D0F1-6E2D-279E-4E5B-81557BC29911}"/>
              </a:ext>
            </a:extLst>
          </p:cNvPr>
          <p:cNvSpPr txBox="1"/>
          <p:nvPr/>
        </p:nvSpPr>
        <p:spPr>
          <a:xfrm>
            <a:off x="7353300" y="3340100"/>
            <a:ext cx="3302000" cy="60016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182238"/>
                </a:solidFill>
                <a:latin typeface="Aptos" panose="020B0004020202020204" pitchFamily="34" charset="0"/>
              </a:rPr>
              <a:t>The assistant calls business-data functions, retrieves matching invoices or payments, then explains the verified result.</a:t>
            </a:r>
            <a:endParaRPr lang="en-IN" sz="1300">
              <a:solidFill>
                <a:srgbClr val="182238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9F641CF-38A1-06E8-B9C9-308C96D641CA}"/>
              </a:ext>
            </a:extLst>
          </p:cNvPr>
          <p:cNvSpPr/>
          <p:nvPr/>
        </p:nvSpPr>
        <p:spPr>
          <a:xfrm>
            <a:off x="7353300" y="4572000"/>
            <a:ext cx="2387600" cy="3048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5CD1DA-12F5-EDA4-4A4B-194F47D805E9}"/>
              </a:ext>
            </a:extLst>
          </p:cNvPr>
          <p:cNvSpPr txBox="1"/>
          <p:nvPr/>
        </p:nvSpPr>
        <p:spPr>
          <a:xfrm>
            <a:off x="7442200" y="4622800"/>
            <a:ext cx="22098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178B69"/>
                </a:solidFill>
                <a:latin typeface="Aptos" panose="020B0004020202020204" pitchFamily="34" charset="0"/>
              </a:rPr>
              <a:t>RECORDS + SOURCE CONTEXT</a:t>
            </a:r>
          </a:p>
        </p:txBody>
      </p:sp>
    </p:spTree>
    <p:extLst>
      <p:ext uri="{BB962C8B-B14F-4D97-AF65-F5344CB8AC3E}">
        <p14:creationId xmlns:p14="http://schemas.microsoft.com/office/powerpoint/2010/main" val="1969202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4D6614-340F-3B67-4BF1-DFD34850C1A5}"/>
              </a:ext>
            </a:extLst>
          </p:cNvPr>
          <p:cNvSpPr txBox="1"/>
          <p:nvPr/>
        </p:nvSpPr>
        <p:spPr>
          <a:xfrm>
            <a:off x="685800" y="304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PAYOPS / BUSINESS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F745A-A5CA-9F9C-6FFB-53F0B50E5DD1}"/>
              </a:ext>
            </a:extLst>
          </p:cNvPr>
          <p:cNvSpPr txBox="1"/>
          <p:nvPr/>
        </p:nvSpPr>
        <p:spPr>
          <a:xfrm>
            <a:off x="685800" y="6477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700" b="1">
                <a:solidFill>
                  <a:srgbClr val="182238"/>
                </a:solidFill>
                <a:latin typeface="Aptos" panose="020B0004020202020204" pitchFamily="34" charset="0"/>
              </a:rPr>
              <a:t>One operational view of the business</a:t>
            </a:r>
            <a:endParaRPr lang="en-IN" sz="2700" b="1">
              <a:solidFill>
                <a:srgbClr val="182238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6467F22-7B7B-16AF-B434-70B6B4BA42EF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straightConnector1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C246996-1EBB-4A26-92FF-A7595CA6D0D2}"/>
              </a:ext>
            </a:extLst>
          </p:cNvPr>
          <p:cNvSpPr txBox="1"/>
          <p:nvPr/>
        </p:nvSpPr>
        <p:spPr>
          <a:xfrm>
            <a:off x="685800" y="64897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PAYOPS  ·  INVOICE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835A6D-3F33-8ACB-36B7-A47D9F00822E}"/>
              </a:ext>
            </a:extLst>
          </p:cNvPr>
          <p:cNvSpPr txBox="1"/>
          <p:nvPr/>
        </p:nvSpPr>
        <p:spPr>
          <a:xfrm>
            <a:off x="11049000" y="64897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FA4D0DE-C6DC-AF81-034C-467612630741}"/>
              </a:ext>
            </a:extLst>
          </p:cNvPr>
          <p:cNvSpPr/>
          <p:nvPr/>
        </p:nvSpPr>
        <p:spPr>
          <a:xfrm>
            <a:off x="723900" y="1739900"/>
            <a:ext cx="10731500" cy="424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CF700F9-6FD2-87CD-5906-22FB97725221}"/>
              </a:ext>
            </a:extLst>
          </p:cNvPr>
          <p:cNvSpPr/>
          <p:nvPr/>
        </p:nvSpPr>
        <p:spPr>
          <a:xfrm>
            <a:off x="723900" y="1739900"/>
            <a:ext cx="1752600" cy="4241800"/>
          </a:xfrm>
          <a:prstGeom prst="roundRect">
            <a:avLst/>
          </a:prstGeom>
          <a:solidFill>
            <a:srgbClr val="10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4B42C8-995A-2C54-E729-8610C7C19A4E}"/>
              </a:ext>
            </a:extLst>
          </p:cNvPr>
          <p:cNvSpPr txBox="1"/>
          <p:nvPr/>
        </p:nvSpPr>
        <p:spPr>
          <a:xfrm>
            <a:off x="952500" y="1993900"/>
            <a:ext cx="13335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700" b="1">
                <a:solidFill>
                  <a:srgbClr val="FFFFFF"/>
                </a:solidFill>
                <a:latin typeface="Aptos" panose="020B0004020202020204" pitchFamily="34" charset="0"/>
              </a:rPr>
              <a:t>PayOps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068D95-F699-CFD1-4AD5-F3D489677841}"/>
              </a:ext>
            </a:extLst>
          </p:cNvPr>
          <p:cNvSpPr txBox="1"/>
          <p:nvPr/>
        </p:nvSpPr>
        <p:spPr>
          <a:xfrm>
            <a:off x="952500" y="2578100"/>
            <a:ext cx="13716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FFFFFF"/>
                </a:solidFill>
                <a:latin typeface="Aptos" panose="020B0004020202020204" pitchFamily="34" charset="0"/>
              </a:rPr>
              <a:t>Overview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EBD7EB-4EF2-D771-C10A-0A12E8D7111B}"/>
              </a:ext>
            </a:extLst>
          </p:cNvPr>
          <p:cNvSpPr txBox="1"/>
          <p:nvPr/>
        </p:nvSpPr>
        <p:spPr>
          <a:xfrm>
            <a:off x="952500" y="2971800"/>
            <a:ext cx="13716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>
                <a:solidFill>
                  <a:srgbClr val="AEBAD0"/>
                </a:solidFill>
                <a:latin typeface="Aptos" panose="020B0004020202020204" pitchFamily="34" charset="0"/>
              </a:rPr>
              <a:t>Invoices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65D6C7-B4D4-C4EE-EE7D-4787A3B1BC74}"/>
              </a:ext>
            </a:extLst>
          </p:cNvPr>
          <p:cNvSpPr txBox="1"/>
          <p:nvPr/>
        </p:nvSpPr>
        <p:spPr>
          <a:xfrm>
            <a:off x="952500" y="3365500"/>
            <a:ext cx="13716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>
                <a:solidFill>
                  <a:srgbClr val="AEBAD0"/>
                </a:solidFill>
                <a:latin typeface="Aptos" panose="020B0004020202020204" pitchFamily="34" charset="0"/>
              </a:rPr>
              <a:t>Vendors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D5F36F-DEC2-E0E3-523A-C35D7E08DEFE}"/>
              </a:ext>
            </a:extLst>
          </p:cNvPr>
          <p:cNvSpPr txBox="1"/>
          <p:nvPr/>
        </p:nvSpPr>
        <p:spPr>
          <a:xfrm>
            <a:off x="952500" y="3759200"/>
            <a:ext cx="13716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>
                <a:solidFill>
                  <a:srgbClr val="AEBAD0"/>
                </a:solidFill>
                <a:latin typeface="Aptos" panose="020B0004020202020204" pitchFamily="34" charset="0"/>
              </a:rPr>
              <a:t>Approvals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FA19AC-629E-D505-2603-2543D466E3E3}"/>
              </a:ext>
            </a:extLst>
          </p:cNvPr>
          <p:cNvSpPr txBox="1"/>
          <p:nvPr/>
        </p:nvSpPr>
        <p:spPr>
          <a:xfrm>
            <a:off x="952500" y="4152900"/>
            <a:ext cx="13716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>
                <a:solidFill>
                  <a:srgbClr val="AEBAD0"/>
                </a:solidFill>
                <a:latin typeface="Aptos" panose="020B0004020202020204" pitchFamily="34" charset="0"/>
              </a:rPr>
              <a:t>Payments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044EE1-253A-F629-4EC6-2E6AD41A8463}"/>
              </a:ext>
            </a:extLst>
          </p:cNvPr>
          <p:cNvSpPr txBox="1"/>
          <p:nvPr/>
        </p:nvSpPr>
        <p:spPr>
          <a:xfrm>
            <a:off x="952500" y="4546600"/>
            <a:ext cx="13716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>
                <a:solidFill>
                  <a:srgbClr val="AEBAD0"/>
                </a:solidFill>
                <a:latin typeface="Aptos" panose="020B0004020202020204" pitchFamily="34" charset="0"/>
              </a:rPr>
              <a:t>AI Assistant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3F0410-FB74-48AF-844D-928765BD62BF}"/>
              </a:ext>
            </a:extLst>
          </p:cNvPr>
          <p:cNvSpPr txBox="1"/>
          <p:nvPr/>
        </p:nvSpPr>
        <p:spPr>
          <a:xfrm>
            <a:off x="952500" y="4940300"/>
            <a:ext cx="13716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>
                <a:solidFill>
                  <a:srgbClr val="AEBAD0"/>
                </a:solidFill>
                <a:latin typeface="Aptos" panose="020B0004020202020204" pitchFamily="34" charset="0"/>
              </a:rPr>
              <a:t>Reports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018FA33-F939-AAD0-75D2-AE8DB5846C83}"/>
              </a:ext>
            </a:extLst>
          </p:cNvPr>
          <p:cNvSpPr/>
          <p:nvPr/>
        </p:nvSpPr>
        <p:spPr>
          <a:xfrm>
            <a:off x="2717800" y="1993900"/>
            <a:ext cx="1879600" cy="889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F23813-D326-B49B-4C17-88E5D1E06710}"/>
              </a:ext>
            </a:extLst>
          </p:cNvPr>
          <p:cNvSpPr txBox="1"/>
          <p:nvPr/>
        </p:nvSpPr>
        <p:spPr>
          <a:xfrm>
            <a:off x="2870200" y="2133600"/>
            <a:ext cx="15748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INVOICES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CC0300-FC02-486A-9737-E0A7463D8F71}"/>
              </a:ext>
            </a:extLst>
          </p:cNvPr>
          <p:cNvSpPr txBox="1"/>
          <p:nvPr/>
        </p:nvSpPr>
        <p:spPr>
          <a:xfrm>
            <a:off x="2870200" y="2413000"/>
            <a:ext cx="15748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700" b="1">
                <a:solidFill>
                  <a:srgbClr val="182238"/>
                </a:solidFill>
                <a:latin typeface="Aptos" panose="020B0004020202020204" pitchFamily="34" charset="0"/>
              </a:rPr>
              <a:t>128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1C67C27-1C19-864D-0874-D1C598D56738}"/>
              </a:ext>
            </a:extLst>
          </p:cNvPr>
          <p:cNvSpPr/>
          <p:nvPr/>
        </p:nvSpPr>
        <p:spPr>
          <a:xfrm>
            <a:off x="4800600" y="1993900"/>
            <a:ext cx="1879600" cy="889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7ACDBD-774F-A6E1-37F5-5E98F8FD8BC1}"/>
              </a:ext>
            </a:extLst>
          </p:cNvPr>
          <p:cNvSpPr txBox="1"/>
          <p:nvPr/>
        </p:nvSpPr>
        <p:spPr>
          <a:xfrm>
            <a:off x="4953000" y="2133600"/>
            <a:ext cx="15748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UNPAID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130FAD-F711-1515-E67F-026FD498CC79}"/>
              </a:ext>
            </a:extLst>
          </p:cNvPr>
          <p:cNvSpPr txBox="1"/>
          <p:nvPr/>
        </p:nvSpPr>
        <p:spPr>
          <a:xfrm>
            <a:off x="4953000" y="2413000"/>
            <a:ext cx="15748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700" b="1">
                <a:solidFill>
                  <a:srgbClr val="182238"/>
                </a:solidFill>
                <a:latin typeface="Aptos" panose="020B0004020202020204" pitchFamily="34" charset="0"/>
              </a:rPr>
              <a:t>₹8.4L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FF9C8AB-DFC0-4ED2-A423-45F4E913583E}"/>
              </a:ext>
            </a:extLst>
          </p:cNvPr>
          <p:cNvSpPr/>
          <p:nvPr/>
        </p:nvSpPr>
        <p:spPr>
          <a:xfrm>
            <a:off x="6883400" y="1993900"/>
            <a:ext cx="1879600" cy="889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A730CA-768F-C3ED-F77E-824C9549A6FA}"/>
              </a:ext>
            </a:extLst>
          </p:cNvPr>
          <p:cNvSpPr txBox="1"/>
          <p:nvPr/>
        </p:nvSpPr>
        <p:spPr>
          <a:xfrm>
            <a:off x="7035800" y="2133600"/>
            <a:ext cx="15748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OVERDUE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ECD7BB-474F-4114-7CB9-993758985093}"/>
              </a:ext>
            </a:extLst>
          </p:cNvPr>
          <p:cNvSpPr txBox="1"/>
          <p:nvPr/>
        </p:nvSpPr>
        <p:spPr>
          <a:xfrm>
            <a:off x="7035800" y="2413000"/>
            <a:ext cx="15748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700" b="1">
                <a:solidFill>
                  <a:srgbClr val="182238"/>
                </a:solidFill>
                <a:latin typeface="Aptos" panose="020B0004020202020204" pitchFamily="34" charset="0"/>
              </a:rPr>
              <a:t>₹1.2L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42C4447-1782-E594-AB53-E2059E4380CD}"/>
              </a:ext>
            </a:extLst>
          </p:cNvPr>
          <p:cNvSpPr/>
          <p:nvPr/>
        </p:nvSpPr>
        <p:spPr>
          <a:xfrm>
            <a:off x="8966200" y="1993900"/>
            <a:ext cx="1879600" cy="889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3DAB01-D0CF-A7D8-57E0-4F8AADCFE151}"/>
              </a:ext>
            </a:extLst>
          </p:cNvPr>
          <p:cNvSpPr txBox="1"/>
          <p:nvPr/>
        </p:nvSpPr>
        <p:spPr>
          <a:xfrm>
            <a:off x="9118600" y="2133600"/>
            <a:ext cx="15748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APPROVALS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112E73-E575-70C2-64FD-DF02D65C4503}"/>
              </a:ext>
            </a:extLst>
          </p:cNvPr>
          <p:cNvSpPr txBox="1"/>
          <p:nvPr/>
        </p:nvSpPr>
        <p:spPr>
          <a:xfrm>
            <a:off x="9118600" y="2413000"/>
            <a:ext cx="15748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700" b="1">
                <a:solidFill>
                  <a:srgbClr val="182238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BC7D1E-85E1-4F09-6566-DB0832919931}"/>
              </a:ext>
            </a:extLst>
          </p:cNvPr>
          <p:cNvSpPr txBox="1"/>
          <p:nvPr/>
        </p:nvSpPr>
        <p:spPr>
          <a:xfrm>
            <a:off x="2717800" y="3136900"/>
            <a:ext cx="4318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68758C"/>
                </a:solidFill>
                <a:latin typeface="Aptos" panose="020B0004020202020204" pitchFamily="34" charset="0"/>
              </a:rPr>
              <a:t>INVOICE ACTIVITY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88AA106-DE61-6124-9C6F-F2BD07E5D940}"/>
              </a:ext>
            </a:extLst>
          </p:cNvPr>
          <p:cNvSpPr/>
          <p:nvPr/>
        </p:nvSpPr>
        <p:spPr>
          <a:xfrm>
            <a:off x="2705100" y="3467100"/>
            <a:ext cx="5359400" cy="2019300"/>
          </a:xfrm>
          <a:prstGeom prst="roundRect">
            <a:avLst/>
          </a:prstGeom>
          <a:solidFill>
            <a:srgbClr val="F9FA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4DDCC6C-32B0-D122-0E12-CF8892B476A5}"/>
              </a:ext>
            </a:extLst>
          </p:cNvPr>
          <p:cNvCxnSpPr/>
          <p:nvPr/>
        </p:nvCxnSpPr>
        <p:spPr>
          <a:xfrm>
            <a:off x="3022600" y="5130800"/>
            <a:ext cx="4724400" cy="0"/>
          </a:xfrm>
          <a:prstGeom prst="straightConnector1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969F5BE-F146-FD0E-A2E6-6AD4C6F1B0B7}"/>
              </a:ext>
            </a:extLst>
          </p:cNvPr>
          <p:cNvSpPr/>
          <p:nvPr/>
        </p:nvSpPr>
        <p:spPr>
          <a:xfrm>
            <a:off x="3098800" y="4432300"/>
            <a:ext cx="228600" cy="660400"/>
          </a:xfrm>
          <a:prstGeom prst="roundRect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2327D03-DDDB-8AE5-497D-A818EBDCC02C}"/>
              </a:ext>
            </a:extLst>
          </p:cNvPr>
          <p:cNvSpPr/>
          <p:nvPr/>
        </p:nvSpPr>
        <p:spPr>
          <a:xfrm>
            <a:off x="3644900" y="4089400"/>
            <a:ext cx="228600" cy="1003300"/>
          </a:xfrm>
          <a:prstGeom prst="roundRect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10736C3-A989-B8E2-97CF-3C70F3FB115F}"/>
              </a:ext>
            </a:extLst>
          </p:cNvPr>
          <p:cNvSpPr/>
          <p:nvPr/>
        </p:nvSpPr>
        <p:spPr>
          <a:xfrm>
            <a:off x="4191000" y="4318000"/>
            <a:ext cx="228600" cy="774700"/>
          </a:xfrm>
          <a:prstGeom prst="roundRect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DA13FD3-489C-51F5-2DA6-0BBBD1A6AE3D}"/>
              </a:ext>
            </a:extLst>
          </p:cNvPr>
          <p:cNvSpPr/>
          <p:nvPr/>
        </p:nvSpPr>
        <p:spPr>
          <a:xfrm>
            <a:off x="4737100" y="3835400"/>
            <a:ext cx="228600" cy="1257300"/>
          </a:xfrm>
          <a:prstGeom prst="roundRect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325B13E-E137-56C0-B533-D3E9D6138AF4}"/>
              </a:ext>
            </a:extLst>
          </p:cNvPr>
          <p:cNvSpPr/>
          <p:nvPr/>
        </p:nvSpPr>
        <p:spPr>
          <a:xfrm>
            <a:off x="5283200" y="4165600"/>
            <a:ext cx="228600" cy="927100"/>
          </a:xfrm>
          <a:prstGeom prst="roundRect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0CD61240-2FCC-8FB3-34FB-65F8AC9AB262}"/>
              </a:ext>
            </a:extLst>
          </p:cNvPr>
          <p:cNvSpPr/>
          <p:nvPr/>
        </p:nvSpPr>
        <p:spPr>
          <a:xfrm>
            <a:off x="5829300" y="3619500"/>
            <a:ext cx="228600" cy="1473200"/>
          </a:xfrm>
          <a:prstGeom prst="roundRect">
            <a:avLst/>
          </a:prstGeom>
          <a:solidFill>
            <a:srgbClr val="8666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E6473B0-11C4-5F81-5CB7-42AF60D5FAC8}"/>
              </a:ext>
            </a:extLst>
          </p:cNvPr>
          <p:cNvSpPr/>
          <p:nvPr/>
        </p:nvSpPr>
        <p:spPr>
          <a:xfrm>
            <a:off x="6375400" y="3949700"/>
            <a:ext cx="228600" cy="1143000"/>
          </a:xfrm>
          <a:prstGeom prst="roundRect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3990D57-C10D-E71F-13FB-E9420CDCC00F}"/>
              </a:ext>
            </a:extLst>
          </p:cNvPr>
          <p:cNvSpPr/>
          <p:nvPr/>
        </p:nvSpPr>
        <p:spPr>
          <a:xfrm>
            <a:off x="6921500" y="3505200"/>
            <a:ext cx="228600" cy="1587500"/>
          </a:xfrm>
          <a:prstGeom prst="roundRect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4EF1A1E-782D-96F5-F79D-232599558643}"/>
              </a:ext>
            </a:extLst>
          </p:cNvPr>
          <p:cNvSpPr/>
          <p:nvPr/>
        </p:nvSpPr>
        <p:spPr>
          <a:xfrm>
            <a:off x="8305800" y="3136900"/>
            <a:ext cx="2870200" cy="2349500"/>
          </a:xfrm>
          <a:prstGeom prst="roundRect">
            <a:avLst/>
          </a:prstGeom>
          <a:solidFill>
            <a:srgbClr val="FFF4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D924C3-0768-9A2A-479F-99269A60CDAA}"/>
              </a:ext>
            </a:extLst>
          </p:cNvPr>
          <p:cNvSpPr txBox="1"/>
          <p:nvPr/>
        </p:nvSpPr>
        <p:spPr>
          <a:xfrm>
            <a:off x="8534400" y="3340100"/>
            <a:ext cx="23876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B67616"/>
                </a:solidFill>
                <a:latin typeface="Aptos" panose="020B0004020202020204" pitchFamily="34" charset="0"/>
              </a:rPr>
              <a:t>PAY ATTENTION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B1AA700-4D86-892F-1CC9-8A1EDC1E765A}"/>
              </a:ext>
            </a:extLst>
          </p:cNvPr>
          <p:cNvSpPr txBox="1"/>
          <p:nvPr/>
        </p:nvSpPr>
        <p:spPr>
          <a:xfrm>
            <a:off x="8534400" y="3746500"/>
            <a:ext cx="2387600" cy="8463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100">
                <a:solidFill>
                  <a:srgbClr val="182238"/>
                </a:solidFill>
                <a:latin typeface="Aptos" panose="020B0004020202020204" pitchFamily="34" charset="0"/>
              </a:rPr>
              <a:t>3 validation issues
2 overdue invoices
1 possible duplicate
Upcoming payments</a:t>
            </a:r>
            <a:endParaRPr lang="en-IN" sz="1100">
              <a:solidFill>
                <a:srgbClr val="182238"/>
              </a:solidFill>
              <a:latin typeface="Aptos" panose="020B00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CB484E4-C7B5-951E-DF7B-22E5250135C4}"/>
              </a:ext>
            </a:extLst>
          </p:cNvPr>
          <p:cNvSpPr txBox="1"/>
          <p:nvPr/>
        </p:nvSpPr>
        <p:spPr>
          <a:xfrm>
            <a:off x="774700" y="6045200"/>
            <a:ext cx="10541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900">
                <a:solidFill>
                  <a:srgbClr val="68758C"/>
                </a:solidFill>
                <a:latin typeface="Aptos" panose="020B0004020202020204" pitchFamily="34" charset="0"/>
              </a:rPr>
              <a:t>Illustrative dashboard view · metrics and alerts reflect workspace data, not market claims.</a:t>
            </a:r>
            <a:endParaRPr lang="en-IN" sz="9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52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25CFAE-C265-826B-9F0B-EC9E6136751D}"/>
              </a:ext>
            </a:extLst>
          </p:cNvPr>
          <p:cNvSpPr txBox="1"/>
          <p:nvPr/>
        </p:nvSpPr>
        <p:spPr>
          <a:xfrm>
            <a:off x="685800" y="304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PAYOPS / BUSINESS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92B3B1-7467-D886-0E94-AF3FA3F45242}"/>
              </a:ext>
            </a:extLst>
          </p:cNvPr>
          <p:cNvSpPr txBox="1"/>
          <p:nvPr/>
        </p:nvSpPr>
        <p:spPr>
          <a:xfrm>
            <a:off x="685800" y="6477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2700" b="1">
                <a:solidFill>
                  <a:srgbClr val="182238"/>
                </a:solidFill>
                <a:latin typeface="Aptos" panose="020B0004020202020204" pitchFamily="34" charset="0"/>
              </a:rPr>
              <a:t>Who is PayOps for?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18113CD-5841-8E6A-C7EE-B5517B0C47FF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straightConnector1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917937F-7F51-1BF0-C527-E13EF18E8B6E}"/>
              </a:ext>
            </a:extLst>
          </p:cNvPr>
          <p:cNvSpPr txBox="1"/>
          <p:nvPr/>
        </p:nvSpPr>
        <p:spPr>
          <a:xfrm>
            <a:off x="685800" y="64897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PAYOPS  ·  INVOICE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7C58A2-C138-69C6-DA2C-CB9554CB6E0A}"/>
              </a:ext>
            </a:extLst>
          </p:cNvPr>
          <p:cNvSpPr txBox="1"/>
          <p:nvPr/>
        </p:nvSpPr>
        <p:spPr>
          <a:xfrm>
            <a:off x="11049000" y="64897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EB2247C-87DB-A966-EC55-41371B6737E7}"/>
              </a:ext>
            </a:extLst>
          </p:cNvPr>
          <p:cNvSpPr/>
          <p:nvPr/>
        </p:nvSpPr>
        <p:spPr>
          <a:xfrm>
            <a:off x="774700" y="1790700"/>
            <a:ext cx="10642600" cy="1054100"/>
          </a:xfrm>
          <a:prstGeom prst="roundRect">
            <a:avLst/>
          </a:prstGeom>
          <a:solidFill>
            <a:srgbClr val="10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692171-9A3C-6FCE-529B-61AD39D8C1FB}"/>
              </a:ext>
            </a:extLst>
          </p:cNvPr>
          <p:cNvSpPr txBox="1"/>
          <p:nvPr/>
        </p:nvSpPr>
        <p:spPr>
          <a:xfrm>
            <a:off x="1079500" y="20066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8666F5"/>
                </a:solidFill>
                <a:latin typeface="Aptos" panose="020B0004020202020204" pitchFamily="34" charset="0"/>
              </a:rPr>
              <a:t>PRIMARY CUSTOMER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9C6028-144E-DCAE-F72B-131EA376FC60}"/>
              </a:ext>
            </a:extLst>
          </p:cNvPr>
          <p:cNvSpPr txBox="1"/>
          <p:nvPr/>
        </p:nvSpPr>
        <p:spPr>
          <a:xfrm>
            <a:off x="1079500" y="2374900"/>
            <a:ext cx="100330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700" b="1">
                <a:solidFill>
                  <a:srgbClr val="FFFFFF"/>
                </a:solidFill>
                <a:latin typeface="Aptos" panose="020B0004020202020204" pitchFamily="34" charset="0"/>
              </a:rPr>
              <a:t>SMBs with recurring vendor invoices and lean finance teams</a:t>
            </a:r>
            <a:endParaRPr lang="en-IN" sz="17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DBB913-723C-23B2-08B6-67F7744B8221}"/>
              </a:ext>
            </a:extLst>
          </p:cNvPr>
          <p:cNvSpPr/>
          <p:nvPr/>
        </p:nvSpPr>
        <p:spPr>
          <a:xfrm>
            <a:off x="774700" y="3314700"/>
            <a:ext cx="3327400" cy="1562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6FFD6C9-7644-A1A7-0EB5-6C9D1356E29C}"/>
              </a:ext>
            </a:extLst>
          </p:cNvPr>
          <p:cNvSpPr/>
          <p:nvPr/>
        </p:nvSpPr>
        <p:spPr>
          <a:xfrm>
            <a:off x="977900" y="3530600"/>
            <a:ext cx="50800" cy="304800"/>
          </a:xfrm>
          <a:prstGeom prst="roundRect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3B07DE-A552-708A-D98F-34A22D8EE797}"/>
              </a:ext>
            </a:extLst>
          </p:cNvPr>
          <p:cNvSpPr txBox="1"/>
          <p:nvPr/>
        </p:nvSpPr>
        <p:spPr>
          <a:xfrm>
            <a:off x="1155700" y="3517900"/>
            <a:ext cx="27686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b="1">
                <a:solidFill>
                  <a:srgbClr val="182238"/>
                </a:solidFill>
                <a:latin typeface="Aptos" panose="020B0004020202020204" pitchFamily="34" charset="0"/>
              </a:rPr>
              <a:t>FINANCE MANAGER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4A513E-4E20-7581-CFBA-F0283599E578}"/>
              </a:ext>
            </a:extLst>
          </p:cNvPr>
          <p:cNvSpPr txBox="1"/>
          <p:nvPr/>
        </p:nvSpPr>
        <p:spPr>
          <a:xfrm>
            <a:off x="1155700" y="3937000"/>
            <a:ext cx="27432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100">
                <a:solidFill>
                  <a:srgbClr val="68758C"/>
                </a:solidFill>
                <a:latin typeface="Aptos" panose="020B0004020202020204" pitchFamily="34" charset="0"/>
              </a:rPr>
              <a:t>Needs visibility, control and a reliable picture of payables.</a:t>
            </a:r>
            <a:endParaRPr lang="en-IN" sz="11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F4251C8-2DFE-A854-B885-FD620671DBEB}"/>
              </a:ext>
            </a:extLst>
          </p:cNvPr>
          <p:cNvSpPr/>
          <p:nvPr/>
        </p:nvSpPr>
        <p:spPr>
          <a:xfrm>
            <a:off x="4406900" y="3314700"/>
            <a:ext cx="3327400" cy="1562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4ABA721-2BB0-EC11-9F9C-9DD0897CE5B6}"/>
              </a:ext>
            </a:extLst>
          </p:cNvPr>
          <p:cNvSpPr/>
          <p:nvPr/>
        </p:nvSpPr>
        <p:spPr>
          <a:xfrm>
            <a:off x="4610100" y="3530600"/>
            <a:ext cx="50800" cy="304800"/>
          </a:xfrm>
          <a:prstGeom prst="roundRect">
            <a:avLst/>
          </a:prstGeom>
          <a:solidFill>
            <a:srgbClr val="8666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F0A640-EEBD-E183-612B-0322C2F2C12A}"/>
              </a:ext>
            </a:extLst>
          </p:cNvPr>
          <p:cNvSpPr txBox="1"/>
          <p:nvPr/>
        </p:nvSpPr>
        <p:spPr>
          <a:xfrm>
            <a:off x="4787900" y="3517900"/>
            <a:ext cx="27686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b="1">
                <a:solidFill>
                  <a:srgbClr val="182238"/>
                </a:solidFill>
                <a:latin typeface="Aptos" panose="020B0004020202020204" pitchFamily="34" charset="0"/>
              </a:rPr>
              <a:t>AP EXECUTIVE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3B0FB5-824E-FCDC-A2D1-885285974D0E}"/>
              </a:ext>
            </a:extLst>
          </p:cNvPr>
          <p:cNvSpPr txBox="1"/>
          <p:nvPr/>
        </p:nvSpPr>
        <p:spPr>
          <a:xfrm>
            <a:off x="4787900" y="3937000"/>
            <a:ext cx="27432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100">
                <a:solidFill>
                  <a:srgbClr val="68758C"/>
                </a:solidFill>
                <a:latin typeface="Aptos" panose="020B0004020202020204" pitchFamily="34" charset="0"/>
              </a:rPr>
              <a:t>Wants less repetitive data entry and follow-up.</a:t>
            </a:r>
            <a:endParaRPr lang="en-IN" sz="11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91A600E-C3C8-7B99-581F-C58635938694}"/>
              </a:ext>
            </a:extLst>
          </p:cNvPr>
          <p:cNvSpPr/>
          <p:nvPr/>
        </p:nvSpPr>
        <p:spPr>
          <a:xfrm>
            <a:off x="8039100" y="3314700"/>
            <a:ext cx="3327400" cy="1562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8B27346-DF18-58C4-452B-4D803ED31FC8}"/>
              </a:ext>
            </a:extLst>
          </p:cNvPr>
          <p:cNvSpPr/>
          <p:nvPr/>
        </p:nvSpPr>
        <p:spPr>
          <a:xfrm>
            <a:off x="8242300" y="3530600"/>
            <a:ext cx="50800" cy="304800"/>
          </a:xfrm>
          <a:prstGeom prst="roundRect">
            <a:avLst/>
          </a:prstGeom>
          <a:solidFill>
            <a:srgbClr val="178B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95CBAE-3F52-DA2B-0A34-A2FF8F29B140}"/>
              </a:ext>
            </a:extLst>
          </p:cNvPr>
          <p:cNvSpPr txBox="1"/>
          <p:nvPr/>
        </p:nvSpPr>
        <p:spPr>
          <a:xfrm>
            <a:off x="8420100" y="3517900"/>
            <a:ext cx="27686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b="1">
                <a:solidFill>
                  <a:srgbClr val="182238"/>
                </a:solidFill>
                <a:latin typeface="Aptos" panose="020B0004020202020204" pitchFamily="34" charset="0"/>
              </a:rPr>
              <a:t>OWNER / CFO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EDB62F-E14D-B820-6133-3DDF9B14827F}"/>
              </a:ext>
            </a:extLst>
          </p:cNvPr>
          <p:cNvSpPr txBox="1"/>
          <p:nvPr/>
        </p:nvSpPr>
        <p:spPr>
          <a:xfrm>
            <a:off x="8420100" y="3937000"/>
            <a:ext cx="27432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100">
                <a:solidFill>
                  <a:srgbClr val="68758C"/>
                </a:solidFill>
                <a:latin typeface="Aptos" panose="020B0004020202020204" pitchFamily="34" charset="0"/>
              </a:rPr>
              <a:t>Needs to know what is owed and what needs attention.</a:t>
            </a:r>
            <a:endParaRPr lang="en-IN" sz="11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BD1DAF-BAA0-29C6-6383-FDF20281751F}"/>
              </a:ext>
            </a:extLst>
          </p:cNvPr>
          <p:cNvSpPr txBox="1"/>
          <p:nvPr/>
        </p:nvSpPr>
        <p:spPr>
          <a:xfrm>
            <a:off x="774700" y="5207000"/>
            <a:ext cx="106045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100">
                <a:solidFill>
                  <a:srgbClr val="68758C"/>
                </a:solidFill>
                <a:latin typeface="Aptos" panose="020B0004020202020204" pitchFamily="34" charset="0"/>
              </a:rPr>
              <a:t>Potential fit: manufacturing · distribution · wholesale · trading · agencies · contractors · services</a:t>
            </a:r>
            <a:endParaRPr lang="en-IN" sz="11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F21B11-D3E4-F0E6-5F0D-3279CEE6065F}"/>
              </a:ext>
            </a:extLst>
          </p:cNvPr>
          <p:cNvSpPr txBox="1"/>
          <p:nvPr/>
        </p:nvSpPr>
        <p:spPr>
          <a:xfrm>
            <a:off x="774700" y="5651500"/>
            <a:ext cx="106045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100">
                <a:solidFill>
                  <a:srgbClr val="68758C"/>
                </a:solidFill>
                <a:latin typeface="Aptos" panose="020B0004020202020204" pitchFamily="34" charset="0"/>
              </a:rPr>
              <a:t>Common signals: many vendors · PDF/email invoices · spreadsheet tracking · manual approvals</a:t>
            </a:r>
            <a:endParaRPr lang="en-IN" sz="11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332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8857F6-ED3E-4DF1-EC51-EE39490EA0D8}"/>
              </a:ext>
            </a:extLst>
          </p:cNvPr>
          <p:cNvSpPr txBox="1"/>
          <p:nvPr/>
        </p:nvSpPr>
        <p:spPr>
          <a:xfrm>
            <a:off x="685800" y="304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PAYOPS / BUSINESS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612E51-A70E-5AD3-795E-E15CBB5CE8FD}"/>
              </a:ext>
            </a:extLst>
          </p:cNvPr>
          <p:cNvSpPr txBox="1"/>
          <p:nvPr/>
        </p:nvSpPr>
        <p:spPr>
          <a:xfrm>
            <a:off x="685800" y="6477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700" b="1">
                <a:solidFill>
                  <a:srgbClr val="182238"/>
                </a:solidFill>
                <a:latin typeface="Aptos" panose="020B0004020202020204" pitchFamily="34" charset="0"/>
              </a:rPr>
              <a:t>Why AI makes this possible now</a:t>
            </a:r>
            <a:endParaRPr lang="en-IN" sz="2700" b="1">
              <a:solidFill>
                <a:srgbClr val="182238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8AAA35B-426D-06A2-4F8A-38AB97B87611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straightConnector1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7C78E0A-C10E-888B-08D9-E8F2523AF4DA}"/>
              </a:ext>
            </a:extLst>
          </p:cNvPr>
          <p:cNvSpPr txBox="1"/>
          <p:nvPr/>
        </p:nvSpPr>
        <p:spPr>
          <a:xfrm>
            <a:off x="685800" y="64897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PAYOPS  ·  INVOICE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2A05B6-8B93-F943-FAA7-C7D995742A32}"/>
              </a:ext>
            </a:extLst>
          </p:cNvPr>
          <p:cNvSpPr txBox="1"/>
          <p:nvPr/>
        </p:nvSpPr>
        <p:spPr>
          <a:xfrm>
            <a:off x="11049000" y="64897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16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C08AA8B-19CA-C673-7F78-4727F9E32DAC}"/>
              </a:ext>
            </a:extLst>
          </p:cNvPr>
          <p:cNvSpPr/>
          <p:nvPr/>
        </p:nvSpPr>
        <p:spPr>
          <a:xfrm>
            <a:off x="762000" y="1993900"/>
            <a:ext cx="4749800" cy="312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730F6-AD18-73D3-E034-585F0D11F8C1}"/>
              </a:ext>
            </a:extLst>
          </p:cNvPr>
          <p:cNvSpPr txBox="1"/>
          <p:nvPr/>
        </p:nvSpPr>
        <p:spPr>
          <a:xfrm>
            <a:off x="1092200" y="2286000"/>
            <a:ext cx="4064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68758C"/>
                </a:solidFill>
                <a:latin typeface="Aptos" panose="020B0004020202020204" pitchFamily="34" charset="0"/>
              </a:rPr>
              <a:t>EARLIER  ·  DOCUMENT AUTOMATION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815CCB6-4200-19E5-DAC8-95CED888AFBD}"/>
              </a:ext>
            </a:extLst>
          </p:cNvPr>
          <p:cNvSpPr/>
          <p:nvPr/>
        </p:nvSpPr>
        <p:spPr>
          <a:xfrm>
            <a:off x="1524000" y="2832100"/>
            <a:ext cx="3200400" cy="431800"/>
          </a:xfrm>
          <a:prstGeom prst="roundRect">
            <a:avLst/>
          </a:prstGeom>
          <a:solidFill>
            <a:srgbClr val="F5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14F504-ECDF-8A4C-0148-54F2541B737D}"/>
              </a:ext>
            </a:extLst>
          </p:cNvPr>
          <p:cNvSpPr txBox="1"/>
          <p:nvPr/>
        </p:nvSpPr>
        <p:spPr>
          <a:xfrm>
            <a:off x="1676400" y="2946400"/>
            <a:ext cx="28956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100" b="1">
                <a:solidFill>
                  <a:srgbClr val="68758C"/>
                </a:solidFill>
                <a:latin typeface="Aptos" panose="020B0004020202020204" pitchFamily="34" charset="0"/>
              </a:rPr>
              <a:t>Invoice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12D3BA0-8F2C-4909-0D92-3E9F0AF12EFF}"/>
              </a:ext>
            </a:extLst>
          </p:cNvPr>
          <p:cNvCxnSpPr/>
          <p:nvPr/>
        </p:nvCxnSpPr>
        <p:spPr>
          <a:xfrm>
            <a:off x="3124200" y="3263900"/>
            <a:ext cx="0" cy="177800"/>
          </a:xfrm>
          <a:prstGeom prst="straightConnector1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470EC54-6BEA-4FDC-2121-84A3A211B5E4}"/>
              </a:ext>
            </a:extLst>
          </p:cNvPr>
          <p:cNvSpPr/>
          <p:nvPr/>
        </p:nvSpPr>
        <p:spPr>
          <a:xfrm>
            <a:off x="1524000" y="3441700"/>
            <a:ext cx="3200400" cy="431800"/>
          </a:xfrm>
          <a:prstGeom prst="roundRect">
            <a:avLst/>
          </a:prstGeom>
          <a:solidFill>
            <a:srgbClr val="F5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F2681F-847E-3C07-E207-D6CDA7991E1B}"/>
              </a:ext>
            </a:extLst>
          </p:cNvPr>
          <p:cNvSpPr txBox="1"/>
          <p:nvPr/>
        </p:nvSpPr>
        <p:spPr>
          <a:xfrm>
            <a:off x="1676400" y="3556000"/>
            <a:ext cx="28956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100" b="1">
                <a:solidFill>
                  <a:srgbClr val="68758C"/>
                </a:solidFill>
                <a:latin typeface="Aptos" panose="020B0004020202020204" pitchFamily="34" charset="0"/>
              </a:rPr>
              <a:t>OCR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8BC395D-C065-4954-26E0-D1C54EB6EAC7}"/>
              </a:ext>
            </a:extLst>
          </p:cNvPr>
          <p:cNvCxnSpPr/>
          <p:nvPr/>
        </p:nvCxnSpPr>
        <p:spPr>
          <a:xfrm>
            <a:off x="3124200" y="3873500"/>
            <a:ext cx="0" cy="177800"/>
          </a:xfrm>
          <a:prstGeom prst="straightConnector1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CBF6215-5849-FFBE-C3D9-4B3E525BEC8C}"/>
              </a:ext>
            </a:extLst>
          </p:cNvPr>
          <p:cNvSpPr/>
          <p:nvPr/>
        </p:nvSpPr>
        <p:spPr>
          <a:xfrm>
            <a:off x="1524000" y="4051300"/>
            <a:ext cx="3200400" cy="431800"/>
          </a:xfrm>
          <a:prstGeom prst="roundRect">
            <a:avLst/>
          </a:prstGeom>
          <a:solidFill>
            <a:srgbClr val="F5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44CDDF-D294-FCC2-3B82-68BD3926ADBE}"/>
              </a:ext>
            </a:extLst>
          </p:cNvPr>
          <p:cNvSpPr txBox="1"/>
          <p:nvPr/>
        </p:nvSpPr>
        <p:spPr>
          <a:xfrm>
            <a:off x="1676400" y="4165600"/>
            <a:ext cx="28956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100" b="1">
                <a:solidFill>
                  <a:srgbClr val="68758C"/>
                </a:solidFill>
                <a:latin typeface="Aptos" panose="020B0004020202020204" pitchFamily="34" charset="0"/>
              </a:rPr>
              <a:t>Data entry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0559D7F-FFDA-D2E5-785C-A8ECEF63FB46}"/>
              </a:ext>
            </a:extLst>
          </p:cNvPr>
          <p:cNvSpPr/>
          <p:nvPr/>
        </p:nvSpPr>
        <p:spPr>
          <a:xfrm>
            <a:off x="6680200" y="1993900"/>
            <a:ext cx="4749800" cy="3124200"/>
          </a:xfrm>
          <a:prstGeom prst="roundRect">
            <a:avLst/>
          </a:prstGeom>
          <a:solidFill>
            <a:srgbClr val="10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B84447-854B-C6E9-5E9B-A876A30AB7B3}"/>
              </a:ext>
            </a:extLst>
          </p:cNvPr>
          <p:cNvSpPr txBox="1"/>
          <p:nvPr/>
        </p:nvSpPr>
        <p:spPr>
          <a:xfrm>
            <a:off x="6997700" y="2286000"/>
            <a:ext cx="4089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8666F5"/>
                </a:solidFill>
                <a:latin typeface="Aptos" panose="020B0004020202020204" pitchFamily="34" charset="0"/>
              </a:rPr>
              <a:t>TODAY  ·  OPERATIONS INTELLIGENCE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E9BAE61-05A6-016E-F65D-67D31826FF56}"/>
              </a:ext>
            </a:extLst>
          </p:cNvPr>
          <p:cNvSpPr/>
          <p:nvPr/>
        </p:nvSpPr>
        <p:spPr>
          <a:xfrm>
            <a:off x="7353300" y="2768600"/>
            <a:ext cx="3403600" cy="393700"/>
          </a:xfrm>
          <a:prstGeom prst="roundRect">
            <a:avLst/>
          </a:prstGeom>
          <a:solidFill>
            <a:srgbClr val="202B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1C1E74-2F99-90CD-E95F-569DE8243BCE}"/>
              </a:ext>
            </a:extLst>
          </p:cNvPr>
          <p:cNvSpPr txBox="1"/>
          <p:nvPr/>
        </p:nvSpPr>
        <p:spPr>
          <a:xfrm>
            <a:off x="7505700" y="2857500"/>
            <a:ext cx="3098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Aptos" panose="020B0004020202020204" pitchFamily="34" charset="0"/>
              </a:rPr>
              <a:t>Understand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6DF9ADC-1BD0-6A2F-61FC-E4157C9B9F42}"/>
              </a:ext>
            </a:extLst>
          </p:cNvPr>
          <p:cNvSpPr/>
          <p:nvPr/>
        </p:nvSpPr>
        <p:spPr>
          <a:xfrm>
            <a:off x="7353300" y="3302000"/>
            <a:ext cx="3403600" cy="393700"/>
          </a:xfrm>
          <a:prstGeom prst="roundRect">
            <a:avLst/>
          </a:prstGeom>
          <a:solidFill>
            <a:srgbClr val="202B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57CE17-931A-CCCB-9203-BE6467814906}"/>
              </a:ext>
            </a:extLst>
          </p:cNvPr>
          <p:cNvSpPr txBox="1"/>
          <p:nvPr/>
        </p:nvSpPr>
        <p:spPr>
          <a:xfrm>
            <a:off x="7505700" y="3390900"/>
            <a:ext cx="3098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Aptos" panose="020B0004020202020204" pitchFamily="34" charset="0"/>
              </a:rPr>
              <a:t>Validate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7A33450-64C1-E16B-28BE-0486A4F46A1A}"/>
              </a:ext>
            </a:extLst>
          </p:cNvPr>
          <p:cNvSpPr/>
          <p:nvPr/>
        </p:nvSpPr>
        <p:spPr>
          <a:xfrm>
            <a:off x="7353300" y="3835400"/>
            <a:ext cx="3403600" cy="393700"/>
          </a:xfrm>
          <a:prstGeom prst="roundRect">
            <a:avLst/>
          </a:prstGeom>
          <a:solidFill>
            <a:srgbClr val="202B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480732-B616-9863-CDDC-0AB88BA413B4}"/>
              </a:ext>
            </a:extLst>
          </p:cNvPr>
          <p:cNvSpPr txBox="1"/>
          <p:nvPr/>
        </p:nvSpPr>
        <p:spPr>
          <a:xfrm>
            <a:off x="7505700" y="3924300"/>
            <a:ext cx="3098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Aptos" panose="020B0004020202020204" pitchFamily="34" charset="0"/>
              </a:rPr>
              <a:t>Reason + route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556E853-F5E9-738A-CBAB-F0711BD4005F}"/>
              </a:ext>
            </a:extLst>
          </p:cNvPr>
          <p:cNvSpPr/>
          <p:nvPr/>
        </p:nvSpPr>
        <p:spPr>
          <a:xfrm>
            <a:off x="7353300" y="4368800"/>
            <a:ext cx="3403600" cy="393700"/>
          </a:xfrm>
          <a:prstGeom prst="roundRect">
            <a:avLst/>
          </a:prstGeom>
          <a:solidFill>
            <a:srgbClr val="202B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781372-FC59-EA76-B969-49374D4940E4}"/>
              </a:ext>
            </a:extLst>
          </p:cNvPr>
          <p:cNvSpPr txBox="1"/>
          <p:nvPr/>
        </p:nvSpPr>
        <p:spPr>
          <a:xfrm>
            <a:off x="7505700" y="4457700"/>
            <a:ext cx="3098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Aptos" panose="020B0004020202020204" pitchFamily="34" charset="0"/>
              </a:rPr>
              <a:t>Act + explain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3B0046-B1BD-69B8-D5C4-7BA06669DFE9}"/>
              </a:ext>
            </a:extLst>
          </p:cNvPr>
          <p:cNvSpPr txBox="1"/>
          <p:nvPr/>
        </p:nvSpPr>
        <p:spPr>
          <a:xfrm>
            <a:off x="965200" y="5562600"/>
            <a:ext cx="102616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500" b="1">
                <a:solidFill>
                  <a:srgbClr val="182238"/>
                </a:solidFill>
                <a:latin typeface="Aptos" panose="020B0004020202020204" pitchFamily="34" charset="0"/>
              </a:rPr>
              <a:t>The shift: from software as a system of record to software as a system of action.</a:t>
            </a:r>
            <a:endParaRPr lang="en-IN" sz="1500" b="1">
              <a:solidFill>
                <a:srgbClr val="18223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606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E58808-E156-4812-3892-C6FD2AB8863E}"/>
              </a:ext>
            </a:extLst>
          </p:cNvPr>
          <p:cNvSpPr txBox="1"/>
          <p:nvPr/>
        </p:nvSpPr>
        <p:spPr>
          <a:xfrm>
            <a:off x="685800" y="304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PAYOPS / BUSINESS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7F5FF-7857-3146-1924-5034291802B5}"/>
              </a:ext>
            </a:extLst>
          </p:cNvPr>
          <p:cNvSpPr txBox="1"/>
          <p:nvPr/>
        </p:nvSpPr>
        <p:spPr>
          <a:xfrm>
            <a:off x="685800" y="6477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2700" b="1">
                <a:solidFill>
                  <a:srgbClr val="182238"/>
                </a:solidFill>
                <a:latin typeface="Aptos" panose="020B0004020202020204" pitchFamily="34" charset="0"/>
              </a:rPr>
              <a:t>How PayOps makes money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219CE6D-0E64-C937-8360-5D8056B08B05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straightConnector1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1B1E073-186D-5CAF-FD51-178AA701DE53}"/>
              </a:ext>
            </a:extLst>
          </p:cNvPr>
          <p:cNvSpPr txBox="1"/>
          <p:nvPr/>
        </p:nvSpPr>
        <p:spPr>
          <a:xfrm>
            <a:off x="685800" y="64897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PAYOPS  ·  INVOICE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5A6EBB-5499-13D6-842D-AB36FD9C4D26}"/>
              </a:ext>
            </a:extLst>
          </p:cNvPr>
          <p:cNvSpPr txBox="1"/>
          <p:nvPr/>
        </p:nvSpPr>
        <p:spPr>
          <a:xfrm>
            <a:off x="11049000" y="64897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17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AA9D241-9343-AF4A-DD4E-4985DCD14CA9}"/>
              </a:ext>
            </a:extLst>
          </p:cNvPr>
          <p:cNvSpPr/>
          <p:nvPr/>
        </p:nvSpPr>
        <p:spPr>
          <a:xfrm>
            <a:off x="736600" y="2032000"/>
            <a:ext cx="2463800" cy="2400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B0FCBA0-1E2F-2C93-27A5-86D829C8B57C}"/>
              </a:ext>
            </a:extLst>
          </p:cNvPr>
          <p:cNvSpPr/>
          <p:nvPr/>
        </p:nvSpPr>
        <p:spPr>
          <a:xfrm>
            <a:off x="952500" y="2260600"/>
            <a:ext cx="1447800" cy="304800"/>
          </a:xfrm>
          <a:prstGeom prst="roundRect">
            <a:avLst/>
          </a:prstGeom>
          <a:solidFill>
            <a:srgbClr val="F1E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D4593F-331B-1D26-4AAF-18ADB57ABD04}"/>
              </a:ext>
            </a:extLst>
          </p:cNvPr>
          <p:cNvSpPr txBox="1"/>
          <p:nvPr/>
        </p:nvSpPr>
        <p:spPr>
          <a:xfrm>
            <a:off x="1041400" y="23114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TRIAL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EE554C-3590-B992-4808-4CDC5DDEE474}"/>
              </a:ext>
            </a:extLst>
          </p:cNvPr>
          <p:cNvSpPr txBox="1"/>
          <p:nvPr/>
        </p:nvSpPr>
        <p:spPr>
          <a:xfrm>
            <a:off x="952500" y="2781300"/>
            <a:ext cx="203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>
                <a:solidFill>
                  <a:srgbClr val="68758C"/>
                </a:solidFill>
                <a:latin typeface="Aptos" panose="020B0004020202020204" pitchFamily="34" charset="0"/>
              </a:rPr>
              <a:t>Explore the workflow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373F69-CD3E-1354-338E-DF48D727059D}"/>
              </a:ext>
            </a:extLst>
          </p:cNvPr>
          <p:cNvSpPr txBox="1"/>
          <p:nvPr/>
        </p:nvSpPr>
        <p:spPr>
          <a:xfrm>
            <a:off x="952500" y="3594100"/>
            <a:ext cx="20574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400" b="1">
                <a:solidFill>
                  <a:srgbClr val="182238"/>
                </a:solidFill>
                <a:latin typeface="Aptos" panose="020B0004020202020204" pitchFamily="34" charset="0"/>
              </a:rPr>
              <a:t>Free / trial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BD102EE-47E5-85E8-F52C-D0148A528564}"/>
              </a:ext>
            </a:extLst>
          </p:cNvPr>
          <p:cNvSpPr/>
          <p:nvPr/>
        </p:nvSpPr>
        <p:spPr>
          <a:xfrm>
            <a:off x="3454400" y="2032000"/>
            <a:ext cx="2463800" cy="2400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329A9AF-A072-6E1A-140D-1B663DE6711D}"/>
              </a:ext>
            </a:extLst>
          </p:cNvPr>
          <p:cNvSpPr/>
          <p:nvPr/>
        </p:nvSpPr>
        <p:spPr>
          <a:xfrm>
            <a:off x="3670300" y="2260600"/>
            <a:ext cx="1447800" cy="304800"/>
          </a:xfrm>
          <a:prstGeom prst="roundRect">
            <a:avLst/>
          </a:prstGeom>
          <a:solidFill>
            <a:srgbClr val="F1E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16C6DD-31C8-78B9-F25B-301D10DE53A9}"/>
              </a:ext>
            </a:extLst>
          </p:cNvPr>
          <p:cNvSpPr txBox="1"/>
          <p:nvPr/>
        </p:nvSpPr>
        <p:spPr>
          <a:xfrm>
            <a:off x="3759200" y="23114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8666F5"/>
                </a:solidFill>
                <a:latin typeface="Aptos" panose="020B0004020202020204" pitchFamily="34" charset="0"/>
              </a:rPr>
              <a:t>STARTER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B22216-A63D-E91E-8C2E-E5FCF814B435}"/>
              </a:ext>
            </a:extLst>
          </p:cNvPr>
          <p:cNvSpPr txBox="1"/>
          <p:nvPr/>
        </p:nvSpPr>
        <p:spPr>
          <a:xfrm>
            <a:off x="3670300" y="2781300"/>
            <a:ext cx="203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>
                <a:solidFill>
                  <a:srgbClr val="68758C"/>
                </a:solidFill>
                <a:latin typeface="Aptos" panose="020B0004020202020204" pitchFamily="34" charset="0"/>
              </a:rPr>
              <a:t>Small teams · limited volume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3ADADA-61A5-E15B-92CC-E0A2892FEEB9}"/>
              </a:ext>
            </a:extLst>
          </p:cNvPr>
          <p:cNvSpPr txBox="1"/>
          <p:nvPr/>
        </p:nvSpPr>
        <p:spPr>
          <a:xfrm>
            <a:off x="3670300" y="3594100"/>
            <a:ext cx="20574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400" b="1">
                <a:solidFill>
                  <a:srgbClr val="182238"/>
                </a:solidFill>
                <a:latin typeface="Aptos" panose="020B0004020202020204" pitchFamily="34" charset="0"/>
              </a:rPr>
              <a:t>₹499–₹999 / month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718BA23-4E7D-86C2-03EB-680542B88CF3}"/>
              </a:ext>
            </a:extLst>
          </p:cNvPr>
          <p:cNvSpPr/>
          <p:nvPr/>
        </p:nvSpPr>
        <p:spPr>
          <a:xfrm>
            <a:off x="6172200" y="2032000"/>
            <a:ext cx="2463800" cy="2400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4DA1523-3E7F-E71B-80FD-642B38BB7A6C}"/>
              </a:ext>
            </a:extLst>
          </p:cNvPr>
          <p:cNvSpPr/>
          <p:nvPr/>
        </p:nvSpPr>
        <p:spPr>
          <a:xfrm>
            <a:off x="6388100" y="2260600"/>
            <a:ext cx="1447800" cy="304800"/>
          </a:xfrm>
          <a:prstGeom prst="roundRect">
            <a:avLst/>
          </a:prstGeom>
          <a:solidFill>
            <a:srgbClr val="F1E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216516-C8CD-C82C-6910-892D771C3012}"/>
              </a:ext>
            </a:extLst>
          </p:cNvPr>
          <p:cNvSpPr txBox="1"/>
          <p:nvPr/>
        </p:nvSpPr>
        <p:spPr>
          <a:xfrm>
            <a:off x="6477000" y="23114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178B69"/>
                </a:solidFill>
                <a:latin typeface="Aptos" panose="020B0004020202020204" pitchFamily="34" charset="0"/>
              </a:rPr>
              <a:t>GROWTH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555B32-35A1-C8D6-1748-A71D9B83AA89}"/>
              </a:ext>
            </a:extLst>
          </p:cNvPr>
          <p:cNvSpPr txBox="1"/>
          <p:nvPr/>
        </p:nvSpPr>
        <p:spPr>
          <a:xfrm>
            <a:off x="6388100" y="2781300"/>
            <a:ext cx="203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>
                <a:solidFill>
                  <a:srgbClr val="68758C"/>
                </a:solidFill>
                <a:latin typeface="Aptos" panose="020B0004020202020204" pitchFamily="34" charset="0"/>
              </a:rPr>
              <a:t>More invoices · multiple users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80FD53-CF9F-7B0B-ABE0-7B3B4E7BBBE1}"/>
              </a:ext>
            </a:extLst>
          </p:cNvPr>
          <p:cNvSpPr txBox="1"/>
          <p:nvPr/>
        </p:nvSpPr>
        <p:spPr>
          <a:xfrm>
            <a:off x="6388100" y="3594100"/>
            <a:ext cx="20574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400" b="1">
                <a:solidFill>
                  <a:srgbClr val="182238"/>
                </a:solidFill>
                <a:latin typeface="Aptos" panose="020B0004020202020204" pitchFamily="34" charset="0"/>
              </a:rPr>
              <a:t>₹1,999–₹4,999 / month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5CC5185-6573-FBF7-BFB7-46F680D0C899}"/>
              </a:ext>
            </a:extLst>
          </p:cNvPr>
          <p:cNvSpPr/>
          <p:nvPr/>
        </p:nvSpPr>
        <p:spPr>
          <a:xfrm>
            <a:off x="8890000" y="2032000"/>
            <a:ext cx="2463800" cy="2400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2F60402-0021-3C60-0A65-0F73C420F2AB}"/>
              </a:ext>
            </a:extLst>
          </p:cNvPr>
          <p:cNvSpPr/>
          <p:nvPr/>
        </p:nvSpPr>
        <p:spPr>
          <a:xfrm>
            <a:off x="9105900" y="2260600"/>
            <a:ext cx="1447800" cy="304800"/>
          </a:xfrm>
          <a:prstGeom prst="roundRect">
            <a:avLst/>
          </a:prstGeom>
          <a:solidFill>
            <a:srgbClr val="F1E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C41911-2731-F6A7-1AB1-FA8BE066E3F0}"/>
              </a:ext>
            </a:extLst>
          </p:cNvPr>
          <p:cNvSpPr txBox="1"/>
          <p:nvPr/>
        </p:nvSpPr>
        <p:spPr>
          <a:xfrm>
            <a:off x="9194800" y="2311400"/>
            <a:ext cx="1270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E99B3D"/>
                </a:solidFill>
                <a:latin typeface="Aptos" panose="020B0004020202020204" pitchFamily="34" charset="0"/>
              </a:rPr>
              <a:t>BUSINESS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8D425C-6E63-5DC1-2D8D-A50CDA859F4A}"/>
              </a:ext>
            </a:extLst>
          </p:cNvPr>
          <p:cNvSpPr txBox="1"/>
          <p:nvPr/>
        </p:nvSpPr>
        <p:spPr>
          <a:xfrm>
            <a:off x="9105900" y="2781300"/>
            <a:ext cx="20320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>
                <a:solidFill>
                  <a:srgbClr val="68758C"/>
                </a:solidFill>
                <a:latin typeface="Aptos" panose="020B0004020202020204" pitchFamily="34" charset="0"/>
              </a:rPr>
              <a:t>Advanced workflows · integrations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1E5865-87B7-0CFF-D3A7-15BCC8F3029E}"/>
              </a:ext>
            </a:extLst>
          </p:cNvPr>
          <p:cNvSpPr txBox="1"/>
          <p:nvPr/>
        </p:nvSpPr>
        <p:spPr>
          <a:xfrm>
            <a:off x="9105900" y="3594100"/>
            <a:ext cx="20574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400" b="1">
                <a:solidFill>
                  <a:srgbClr val="182238"/>
                </a:solidFill>
                <a:latin typeface="Aptos" panose="020B0004020202020204" pitchFamily="34" charset="0"/>
              </a:rPr>
              <a:t>Custom pricing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351BB3E-E046-F8BB-D33A-14A78429882D}"/>
              </a:ext>
            </a:extLst>
          </p:cNvPr>
          <p:cNvSpPr/>
          <p:nvPr/>
        </p:nvSpPr>
        <p:spPr>
          <a:xfrm>
            <a:off x="1397000" y="4876800"/>
            <a:ext cx="9398000" cy="863600"/>
          </a:xfrm>
          <a:prstGeom prst="roundRect">
            <a:avLst/>
          </a:prstGeom>
          <a:solidFill>
            <a:srgbClr val="10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06C7BD-1301-46AF-6E08-3E455703FF0F}"/>
              </a:ext>
            </a:extLst>
          </p:cNvPr>
          <p:cNvSpPr txBox="1"/>
          <p:nvPr/>
        </p:nvSpPr>
        <p:spPr>
          <a:xfrm>
            <a:off x="1676400" y="5092700"/>
            <a:ext cx="88392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SUBSCRIPTION  +  PROCESSING VOLUME  +  PREMIUM INTEGRATIONS</a:t>
            </a:r>
            <a:endParaRPr lang="en-IN" sz="1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A23D5D-A076-7A14-ADAD-8DB271906558}"/>
              </a:ext>
            </a:extLst>
          </p:cNvPr>
          <p:cNvSpPr txBox="1"/>
          <p:nvPr/>
        </p:nvSpPr>
        <p:spPr>
          <a:xfrm>
            <a:off x="1397000" y="5854700"/>
            <a:ext cx="9398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000" b="1">
                <a:solidFill>
                  <a:srgbClr val="D65C67"/>
                </a:solidFill>
                <a:latin typeface="Aptos" panose="020B0004020202020204" pitchFamily="34" charset="0"/>
              </a:rPr>
              <a:t>Illustrative initial pricing hypothesis only — validate willingness to pay with customers.</a:t>
            </a:r>
            <a:endParaRPr lang="en-IN" sz="1000" b="1">
              <a:solidFill>
                <a:srgbClr val="D65C6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426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E3D777-3C4C-9F4F-1B14-AF504E24B5E9}"/>
              </a:ext>
            </a:extLst>
          </p:cNvPr>
          <p:cNvSpPr txBox="1"/>
          <p:nvPr/>
        </p:nvSpPr>
        <p:spPr>
          <a:xfrm>
            <a:off x="685800" y="304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PAYOPS / BUSINESS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6D6708-0908-CE6C-DCCC-FA3C15FA7473}"/>
              </a:ext>
            </a:extLst>
          </p:cNvPr>
          <p:cNvSpPr txBox="1"/>
          <p:nvPr/>
        </p:nvSpPr>
        <p:spPr>
          <a:xfrm>
            <a:off x="685800" y="6477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700" b="1">
                <a:solidFill>
                  <a:srgbClr val="182238"/>
                </a:solidFill>
                <a:latin typeface="Aptos" panose="020B0004020202020204" pitchFamily="34" charset="0"/>
              </a:rPr>
              <a:t>Expansion revenue: land with invoices, grow with operations</a:t>
            </a:r>
            <a:endParaRPr lang="en-IN" sz="2700" b="1">
              <a:solidFill>
                <a:srgbClr val="182238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AF55650-F806-0FB5-C894-5D14046EF43F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straightConnector1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A6E58BE-7A7D-7301-6FBE-D54580BAC180}"/>
              </a:ext>
            </a:extLst>
          </p:cNvPr>
          <p:cNvSpPr txBox="1"/>
          <p:nvPr/>
        </p:nvSpPr>
        <p:spPr>
          <a:xfrm>
            <a:off x="685800" y="64897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PAYOPS  ·  INVOICE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507F31-1B36-4B39-CB04-9FF14C2B9142}"/>
              </a:ext>
            </a:extLst>
          </p:cNvPr>
          <p:cNvSpPr txBox="1"/>
          <p:nvPr/>
        </p:nvSpPr>
        <p:spPr>
          <a:xfrm>
            <a:off x="11049000" y="64897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18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DA434FA-914B-2A87-D0BF-0D92D5DA3B4A}"/>
              </a:ext>
            </a:extLst>
          </p:cNvPr>
          <p:cNvSpPr/>
          <p:nvPr/>
        </p:nvSpPr>
        <p:spPr>
          <a:xfrm>
            <a:off x="774700" y="2844800"/>
            <a:ext cx="1524000" cy="1193800"/>
          </a:xfrm>
          <a:prstGeom prst="roundRect">
            <a:avLst/>
          </a:prstGeom>
          <a:solidFill>
            <a:srgbClr val="10172A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B5D484-2D0D-F559-11BD-09415AFDA817}"/>
              </a:ext>
            </a:extLst>
          </p:cNvPr>
          <p:cNvSpPr txBox="1"/>
          <p:nvPr/>
        </p:nvSpPr>
        <p:spPr>
          <a:xfrm>
            <a:off x="889000" y="3149600"/>
            <a:ext cx="12954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INVOICE
OPERATIONS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64DC101-D8DC-049E-9BBD-F8C443BD90CE}"/>
              </a:ext>
            </a:extLst>
          </p:cNvPr>
          <p:cNvCxnSpPr/>
          <p:nvPr/>
        </p:nvCxnSpPr>
        <p:spPr>
          <a:xfrm>
            <a:off x="2298700" y="3429000"/>
            <a:ext cx="266700" cy="0"/>
          </a:xfrm>
          <a:prstGeom prst="straightConnector1">
            <a:avLst/>
          </a:prstGeom>
          <a:ln w="19050">
            <a:solidFill>
              <a:srgbClr val="45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2EE86A6-D261-B10F-71A9-67C7D48BA13C}"/>
              </a:ext>
            </a:extLst>
          </p:cNvPr>
          <p:cNvSpPr/>
          <p:nvPr/>
        </p:nvSpPr>
        <p:spPr>
          <a:xfrm>
            <a:off x="2565400" y="2844800"/>
            <a:ext cx="1524000" cy="11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3326D0-456A-06D3-F7EF-A8FC7AD1C68A}"/>
              </a:ext>
            </a:extLst>
          </p:cNvPr>
          <p:cNvSpPr txBox="1"/>
          <p:nvPr/>
        </p:nvSpPr>
        <p:spPr>
          <a:xfrm>
            <a:off x="2679700" y="3149600"/>
            <a:ext cx="12954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100" b="1">
                <a:solidFill>
                  <a:srgbClr val="182238"/>
                </a:solidFill>
                <a:latin typeface="Aptos" panose="020B0004020202020204" pitchFamily="34" charset="0"/>
              </a:rPr>
              <a:t>ACCOUNTS
PAYABLE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6FA5C54-816B-0979-E12F-9B31EC71FE09}"/>
              </a:ext>
            </a:extLst>
          </p:cNvPr>
          <p:cNvCxnSpPr/>
          <p:nvPr/>
        </p:nvCxnSpPr>
        <p:spPr>
          <a:xfrm>
            <a:off x="4089400" y="3429000"/>
            <a:ext cx="266700" cy="0"/>
          </a:xfrm>
          <a:prstGeom prst="straightConnector1">
            <a:avLst/>
          </a:prstGeom>
          <a:ln w="19050">
            <a:solidFill>
              <a:srgbClr val="45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5BEAE2C-822E-E7A9-591B-040FA522FA2E}"/>
              </a:ext>
            </a:extLst>
          </p:cNvPr>
          <p:cNvSpPr/>
          <p:nvPr/>
        </p:nvSpPr>
        <p:spPr>
          <a:xfrm>
            <a:off x="4356100" y="2844800"/>
            <a:ext cx="1524000" cy="11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30F20A-E6B1-81DC-2F85-87301BAA97DF}"/>
              </a:ext>
            </a:extLst>
          </p:cNvPr>
          <p:cNvSpPr txBox="1"/>
          <p:nvPr/>
        </p:nvSpPr>
        <p:spPr>
          <a:xfrm>
            <a:off x="4470400" y="3149600"/>
            <a:ext cx="12954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100" b="1">
                <a:solidFill>
                  <a:srgbClr val="182238"/>
                </a:solidFill>
                <a:latin typeface="Aptos" panose="020B0004020202020204" pitchFamily="34" charset="0"/>
              </a:rPr>
              <a:t>PAYMENTS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661B87-F4E3-2C8C-B158-8A7C72BDF18E}"/>
              </a:ext>
            </a:extLst>
          </p:cNvPr>
          <p:cNvCxnSpPr/>
          <p:nvPr/>
        </p:nvCxnSpPr>
        <p:spPr>
          <a:xfrm>
            <a:off x="5880100" y="3429000"/>
            <a:ext cx="266700" cy="0"/>
          </a:xfrm>
          <a:prstGeom prst="straightConnector1">
            <a:avLst/>
          </a:prstGeom>
          <a:ln w="19050">
            <a:solidFill>
              <a:srgbClr val="45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3816103-3FA0-C0B0-FB2D-25740985469F}"/>
              </a:ext>
            </a:extLst>
          </p:cNvPr>
          <p:cNvSpPr/>
          <p:nvPr/>
        </p:nvSpPr>
        <p:spPr>
          <a:xfrm>
            <a:off x="6146800" y="2844800"/>
            <a:ext cx="1524000" cy="11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B5E7DB-A5A2-6122-9958-C72872631291}"/>
              </a:ext>
            </a:extLst>
          </p:cNvPr>
          <p:cNvSpPr txBox="1"/>
          <p:nvPr/>
        </p:nvSpPr>
        <p:spPr>
          <a:xfrm>
            <a:off x="6261100" y="3149600"/>
            <a:ext cx="12954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100" b="1">
                <a:solidFill>
                  <a:srgbClr val="182238"/>
                </a:solidFill>
                <a:latin typeface="Aptos" panose="020B0004020202020204" pitchFamily="34" charset="0"/>
              </a:rPr>
              <a:t>VENDOR
MANAGEMENT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2B25AFB-389C-4D81-CF79-EF4134A7181B}"/>
              </a:ext>
            </a:extLst>
          </p:cNvPr>
          <p:cNvCxnSpPr/>
          <p:nvPr/>
        </p:nvCxnSpPr>
        <p:spPr>
          <a:xfrm>
            <a:off x="7670800" y="3429000"/>
            <a:ext cx="266700" cy="0"/>
          </a:xfrm>
          <a:prstGeom prst="straightConnector1">
            <a:avLst/>
          </a:prstGeom>
          <a:ln w="19050">
            <a:solidFill>
              <a:srgbClr val="45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1EC7863-3EC3-D32B-6802-BB28E3510BA8}"/>
              </a:ext>
            </a:extLst>
          </p:cNvPr>
          <p:cNvSpPr/>
          <p:nvPr/>
        </p:nvSpPr>
        <p:spPr>
          <a:xfrm>
            <a:off x="7937500" y="2844800"/>
            <a:ext cx="1524000" cy="11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F5AECF-95F0-03F7-5790-71393D3632E9}"/>
              </a:ext>
            </a:extLst>
          </p:cNvPr>
          <p:cNvSpPr txBox="1"/>
          <p:nvPr/>
        </p:nvSpPr>
        <p:spPr>
          <a:xfrm>
            <a:off x="8051800" y="3149600"/>
            <a:ext cx="12954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100" b="1">
                <a:solidFill>
                  <a:srgbClr val="182238"/>
                </a:solidFill>
                <a:latin typeface="Aptos" panose="020B0004020202020204" pitchFamily="34" charset="0"/>
              </a:rPr>
              <a:t>RECONCILIATION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9511866-1B53-9B10-D69A-CBF8DD44DC70}"/>
              </a:ext>
            </a:extLst>
          </p:cNvPr>
          <p:cNvCxnSpPr/>
          <p:nvPr/>
        </p:nvCxnSpPr>
        <p:spPr>
          <a:xfrm>
            <a:off x="9461500" y="3429000"/>
            <a:ext cx="266700" cy="0"/>
          </a:xfrm>
          <a:prstGeom prst="straightConnector1">
            <a:avLst/>
          </a:prstGeom>
          <a:ln w="19050">
            <a:solidFill>
              <a:srgbClr val="45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CA9E5B8-EA75-62FC-86AF-D7DD8C136D2B}"/>
              </a:ext>
            </a:extLst>
          </p:cNvPr>
          <p:cNvSpPr/>
          <p:nvPr/>
        </p:nvSpPr>
        <p:spPr>
          <a:xfrm>
            <a:off x="9728200" y="2844800"/>
            <a:ext cx="1524000" cy="11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86A4A6-6371-B013-99DF-8176511E4E16}"/>
              </a:ext>
            </a:extLst>
          </p:cNvPr>
          <p:cNvSpPr txBox="1"/>
          <p:nvPr/>
        </p:nvSpPr>
        <p:spPr>
          <a:xfrm>
            <a:off x="9842500" y="3149600"/>
            <a:ext cx="12954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100" b="1">
                <a:solidFill>
                  <a:srgbClr val="182238"/>
                </a:solidFill>
                <a:latin typeface="Aptos" panose="020B0004020202020204" pitchFamily="34" charset="0"/>
              </a:rPr>
              <a:t>FINANCE
INTELLIGENCE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42E68A-BB99-35BD-D113-A36896942191}"/>
              </a:ext>
            </a:extLst>
          </p:cNvPr>
          <p:cNvSpPr txBox="1"/>
          <p:nvPr/>
        </p:nvSpPr>
        <p:spPr>
          <a:xfrm>
            <a:off x="850900" y="4737100"/>
            <a:ext cx="104648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200">
                <a:solidFill>
                  <a:srgbClr val="68758C"/>
                </a:solidFill>
                <a:latin typeface="Aptos" panose="020B0004020202020204" pitchFamily="34" charset="0"/>
              </a:rPr>
              <a:t>Potential expansion: advanced AI · ERP/payment integrations · analytics · multi-company · API access</a:t>
            </a:r>
            <a:endParaRPr lang="en-IN" sz="12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7959AC7-6B9B-8D0C-08AD-6AFBC40ACADF}"/>
              </a:ext>
            </a:extLst>
          </p:cNvPr>
          <p:cNvSpPr/>
          <p:nvPr/>
        </p:nvSpPr>
        <p:spPr>
          <a:xfrm>
            <a:off x="4470400" y="5397500"/>
            <a:ext cx="3251200" cy="304800"/>
          </a:xfrm>
          <a:prstGeom prst="roundRect">
            <a:avLst/>
          </a:prstGeom>
          <a:solidFill>
            <a:srgbClr val="EAF0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D04028-83C1-759F-1D48-4C786FEE225F}"/>
              </a:ext>
            </a:extLst>
          </p:cNvPr>
          <p:cNvSpPr txBox="1"/>
          <p:nvPr/>
        </p:nvSpPr>
        <p:spPr>
          <a:xfrm>
            <a:off x="4559300" y="5448300"/>
            <a:ext cx="3073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900" b="1">
                <a:solidFill>
                  <a:srgbClr val="456BFF"/>
                </a:solidFill>
                <a:latin typeface="Aptos" panose="020B0004020202020204" pitchFamily="34" charset="0"/>
              </a:rPr>
              <a:t>LAND AND EXPAND SAAS MODEL</a:t>
            </a:r>
            <a:endParaRPr lang="en-IN" sz="900" b="1">
              <a:solidFill>
                <a:srgbClr val="456B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31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80E9E3-F8D9-A291-49DF-5B4ABE686D0D}"/>
              </a:ext>
            </a:extLst>
          </p:cNvPr>
          <p:cNvSpPr txBox="1"/>
          <p:nvPr/>
        </p:nvSpPr>
        <p:spPr>
          <a:xfrm>
            <a:off x="685800" y="304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PAYOPS / BUSINESS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F723E0-65BB-6C43-5D49-213223EAF7DA}"/>
              </a:ext>
            </a:extLst>
          </p:cNvPr>
          <p:cNvSpPr txBox="1"/>
          <p:nvPr/>
        </p:nvSpPr>
        <p:spPr>
          <a:xfrm>
            <a:off x="685800" y="6477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2700" b="1">
                <a:solidFill>
                  <a:srgbClr val="182238"/>
                </a:solidFill>
                <a:latin typeface="Aptos" panose="020B0004020202020204" pitchFamily="34" charset="0"/>
              </a:rPr>
              <a:t>Where PayOps fits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A66EAA-7F97-F7FA-5E53-1C09EE50541A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straightConnector1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59C4DC9-7FA5-EC36-1FAB-5BFA4E7FF7CF}"/>
              </a:ext>
            </a:extLst>
          </p:cNvPr>
          <p:cNvSpPr txBox="1"/>
          <p:nvPr/>
        </p:nvSpPr>
        <p:spPr>
          <a:xfrm>
            <a:off x="685800" y="64897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PAYOPS  ·  INVOICE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6D2C3D-093E-B550-731C-7F59E73D6C09}"/>
              </a:ext>
            </a:extLst>
          </p:cNvPr>
          <p:cNvSpPr txBox="1"/>
          <p:nvPr/>
        </p:nvSpPr>
        <p:spPr>
          <a:xfrm>
            <a:off x="11049000" y="64897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19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BE31D3-CDA3-EE1E-847A-657B2AAB9378}"/>
              </a:ext>
            </a:extLst>
          </p:cNvPr>
          <p:cNvSpPr txBox="1"/>
          <p:nvPr/>
        </p:nvSpPr>
        <p:spPr>
          <a:xfrm>
            <a:off x="774700" y="1727200"/>
            <a:ext cx="10541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300">
                <a:solidFill>
                  <a:srgbClr val="68758C"/>
                </a:solidFill>
                <a:latin typeface="Aptos" panose="020B0004020202020204" pitchFamily="34" charset="0"/>
              </a:rPr>
              <a:t>A focused operational layer between document intelligence and financial operations.</a:t>
            </a:r>
            <a:endParaRPr lang="en-IN" sz="13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6E10D40-125C-E62C-DBFD-3426236D84C6}"/>
              </a:ext>
            </a:extLst>
          </p:cNvPr>
          <p:cNvSpPr/>
          <p:nvPr/>
        </p:nvSpPr>
        <p:spPr>
          <a:xfrm>
            <a:off x="2489200" y="2247900"/>
            <a:ext cx="7505700" cy="3505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718EDCF-A58D-6103-2159-B2851F0C3B40}"/>
              </a:ext>
            </a:extLst>
          </p:cNvPr>
          <p:cNvCxnSpPr/>
          <p:nvPr/>
        </p:nvCxnSpPr>
        <p:spPr>
          <a:xfrm>
            <a:off x="3073400" y="5219700"/>
            <a:ext cx="6362700" cy="0"/>
          </a:xfrm>
          <a:prstGeom prst="straightConnector1">
            <a:avLst/>
          </a:prstGeom>
          <a:ln w="16510">
            <a:solidFill>
              <a:srgbClr val="A8B3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84170D-0ED1-07B2-EA75-C70DBC65CBFA}"/>
              </a:ext>
            </a:extLst>
          </p:cNvPr>
          <p:cNvCxnSpPr/>
          <p:nvPr/>
        </p:nvCxnSpPr>
        <p:spPr>
          <a:xfrm flipV="1">
            <a:off x="3073400" y="2667000"/>
            <a:ext cx="0" cy="2552700"/>
          </a:xfrm>
          <a:prstGeom prst="straightConnector1">
            <a:avLst/>
          </a:prstGeom>
          <a:ln w="16510">
            <a:solidFill>
              <a:srgbClr val="A8B3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A55FAE-60CB-F29C-CDB2-3D2F7729D123}"/>
              </a:ext>
            </a:extLst>
          </p:cNvPr>
          <p:cNvSpPr txBox="1"/>
          <p:nvPr/>
        </p:nvSpPr>
        <p:spPr>
          <a:xfrm>
            <a:off x="3111500" y="5397500"/>
            <a:ext cx="62865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RECORD KEEPING  →  INTELLIGENT OPERATIONS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4C5979-354B-EFCB-0C58-7A21B19D80A1}"/>
              </a:ext>
            </a:extLst>
          </p:cNvPr>
          <p:cNvSpPr txBox="1"/>
          <p:nvPr/>
        </p:nvSpPr>
        <p:spPr>
          <a:xfrm>
            <a:off x="2603500" y="2413000"/>
            <a:ext cx="889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AI-DRIVEN 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5EA770-F90D-BC3E-B064-6FCF9D3D6F0F}"/>
              </a:ext>
            </a:extLst>
          </p:cNvPr>
          <p:cNvSpPr txBox="1"/>
          <p:nvPr/>
        </p:nvSpPr>
        <p:spPr>
          <a:xfrm>
            <a:off x="2667000" y="4953000"/>
            <a:ext cx="889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MANUAL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6A9656D-662D-66C3-726D-D720134DA54D}"/>
              </a:ext>
            </a:extLst>
          </p:cNvPr>
          <p:cNvSpPr/>
          <p:nvPr/>
        </p:nvSpPr>
        <p:spPr>
          <a:xfrm>
            <a:off x="3949700" y="4356100"/>
            <a:ext cx="177800" cy="177800"/>
          </a:xfrm>
          <a:prstGeom prst="ellipse">
            <a:avLst/>
          </a:prstGeom>
          <a:solidFill>
            <a:srgbClr val="6875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F19E04-EE22-5A0F-12EF-E343A44A61A6}"/>
              </a:ext>
            </a:extLst>
          </p:cNvPr>
          <p:cNvSpPr txBox="1"/>
          <p:nvPr/>
        </p:nvSpPr>
        <p:spPr>
          <a:xfrm>
            <a:off x="4229100" y="4318000"/>
            <a:ext cx="165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>
                <a:solidFill>
                  <a:srgbClr val="68758C"/>
                </a:solidFill>
                <a:latin typeface="Aptos" panose="020B0004020202020204" pitchFamily="34" charset="0"/>
              </a:rPr>
              <a:t>Spreadsheets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08AAAF0-A96C-95D9-C4D9-A576CE6F806D}"/>
              </a:ext>
            </a:extLst>
          </p:cNvPr>
          <p:cNvSpPr/>
          <p:nvPr/>
        </p:nvSpPr>
        <p:spPr>
          <a:xfrm>
            <a:off x="6070600" y="3606800"/>
            <a:ext cx="177800" cy="177800"/>
          </a:xfrm>
          <a:prstGeom prst="ellipse">
            <a:avLst/>
          </a:prstGeom>
          <a:solidFill>
            <a:srgbClr val="E99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FB1788-172B-214F-301A-A54BCEB7D687}"/>
              </a:ext>
            </a:extLst>
          </p:cNvPr>
          <p:cNvSpPr txBox="1"/>
          <p:nvPr/>
        </p:nvSpPr>
        <p:spPr>
          <a:xfrm>
            <a:off x="6337300" y="3556000"/>
            <a:ext cx="1778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>
                <a:solidFill>
                  <a:srgbClr val="182238"/>
                </a:solidFill>
                <a:latin typeface="Aptos" panose="020B0004020202020204" pitchFamily="34" charset="0"/>
              </a:rPr>
              <a:t>OCR tools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D7C9FC7-EDCD-05F8-A30C-A041779EDD40}"/>
              </a:ext>
            </a:extLst>
          </p:cNvPr>
          <p:cNvSpPr/>
          <p:nvPr/>
        </p:nvSpPr>
        <p:spPr>
          <a:xfrm>
            <a:off x="4546600" y="3124200"/>
            <a:ext cx="177800" cy="177800"/>
          </a:xfrm>
          <a:prstGeom prst="ellipse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6099E3-333B-DA15-0600-4C3E15AA7C70}"/>
              </a:ext>
            </a:extLst>
          </p:cNvPr>
          <p:cNvSpPr txBox="1"/>
          <p:nvPr/>
        </p:nvSpPr>
        <p:spPr>
          <a:xfrm>
            <a:off x="4813300" y="3073400"/>
            <a:ext cx="2159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>
                <a:solidFill>
                  <a:srgbClr val="182238"/>
                </a:solidFill>
                <a:latin typeface="Aptos" panose="020B0004020202020204" pitchFamily="34" charset="0"/>
              </a:rPr>
              <a:t>Accounting software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18915A3-07CA-39AA-68C7-68FAF846E0DC}"/>
              </a:ext>
            </a:extLst>
          </p:cNvPr>
          <p:cNvSpPr/>
          <p:nvPr/>
        </p:nvSpPr>
        <p:spPr>
          <a:xfrm>
            <a:off x="8178800" y="2984500"/>
            <a:ext cx="215900" cy="215900"/>
          </a:xfrm>
          <a:prstGeom prst="ellipse">
            <a:avLst/>
          </a:prstGeom>
          <a:solidFill>
            <a:srgbClr val="8666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EEB7BD-75AE-4AE7-3191-A18CE80AA1DB}"/>
              </a:ext>
            </a:extLst>
          </p:cNvPr>
          <p:cNvSpPr txBox="1"/>
          <p:nvPr/>
        </p:nvSpPr>
        <p:spPr>
          <a:xfrm>
            <a:off x="8496300" y="2933700"/>
            <a:ext cx="11557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 b="1">
                <a:solidFill>
                  <a:srgbClr val="8666F5"/>
                </a:solidFill>
                <a:latin typeface="Aptos" panose="020B0004020202020204" pitchFamily="34" charset="0"/>
              </a:rPr>
              <a:t>PayOps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3BC1DF-C8D2-D470-553F-BB90261AE04C}"/>
              </a:ext>
            </a:extLst>
          </p:cNvPr>
          <p:cNvSpPr txBox="1"/>
          <p:nvPr/>
        </p:nvSpPr>
        <p:spPr>
          <a:xfrm>
            <a:off x="787400" y="6019800"/>
            <a:ext cx="106045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900">
                <a:solidFill>
                  <a:srgbClr val="68758C"/>
                </a:solidFill>
                <a:latin typeface="Aptos" panose="020B0004020202020204" pitchFamily="34" charset="0"/>
              </a:rPr>
              <a:t>Positioning is by category and workflow focus—not a claim of feature parity or market share.</a:t>
            </a:r>
            <a:endParaRPr lang="en-IN" sz="9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748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C399E0-0535-F5B7-CC4F-902472F93984}"/>
              </a:ext>
            </a:extLst>
          </p:cNvPr>
          <p:cNvSpPr txBox="1"/>
          <p:nvPr/>
        </p:nvSpPr>
        <p:spPr>
          <a:xfrm>
            <a:off x="685800" y="304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PAYOPS / BUSINESS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038174-2095-E8E7-0729-4DE9531AFF84}"/>
              </a:ext>
            </a:extLst>
          </p:cNvPr>
          <p:cNvSpPr txBox="1"/>
          <p:nvPr/>
        </p:nvSpPr>
        <p:spPr>
          <a:xfrm>
            <a:off x="685800" y="6477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2700" b="1">
                <a:solidFill>
                  <a:srgbClr val="182238"/>
                </a:solidFill>
                <a:latin typeface="Aptos" panose="020B0004020202020204" pitchFamily="34" charset="0"/>
              </a:rPr>
              <a:t>Why PayOps?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C1A47A1-F2A1-B0E1-3832-75EA13E29935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straightConnector1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53AE658-9122-EEAC-EDA7-EDE83090C9DE}"/>
              </a:ext>
            </a:extLst>
          </p:cNvPr>
          <p:cNvSpPr txBox="1"/>
          <p:nvPr/>
        </p:nvSpPr>
        <p:spPr>
          <a:xfrm>
            <a:off x="685800" y="64897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PAYOPS  ·  INVOICE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91BE6A-7AA2-4D66-BCC1-421FC938C797}"/>
              </a:ext>
            </a:extLst>
          </p:cNvPr>
          <p:cNvSpPr txBox="1"/>
          <p:nvPr/>
        </p:nvSpPr>
        <p:spPr>
          <a:xfrm>
            <a:off x="11049000" y="64897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B380F1-0395-96AF-75C4-A23F4E152AD4}"/>
              </a:ext>
            </a:extLst>
          </p:cNvPr>
          <p:cNvSpPr/>
          <p:nvPr/>
        </p:nvSpPr>
        <p:spPr>
          <a:xfrm>
            <a:off x="736600" y="1917700"/>
            <a:ext cx="3352800" cy="1409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FB78199-0978-8623-C7D4-6DED249EE843}"/>
              </a:ext>
            </a:extLst>
          </p:cNvPr>
          <p:cNvSpPr/>
          <p:nvPr/>
        </p:nvSpPr>
        <p:spPr>
          <a:xfrm>
            <a:off x="939800" y="2133600"/>
            <a:ext cx="50800" cy="304800"/>
          </a:xfrm>
          <a:prstGeom prst="roundRect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9D2F40-3E19-36BB-A407-88556D9B5793}"/>
              </a:ext>
            </a:extLst>
          </p:cNvPr>
          <p:cNvSpPr txBox="1"/>
          <p:nvPr/>
        </p:nvSpPr>
        <p:spPr>
          <a:xfrm>
            <a:off x="1117600" y="21209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 b="1">
                <a:solidFill>
                  <a:srgbClr val="182238"/>
                </a:solidFill>
                <a:latin typeface="Aptos" panose="020B0004020202020204" pitchFamily="34" charset="0"/>
              </a:rPr>
              <a:t>END-TO-END WORKFLOW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9CCA3-12EE-C2E2-DD44-98197D423CC1}"/>
              </a:ext>
            </a:extLst>
          </p:cNvPr>
          <p:cNvSpPr txBox="1"/>
          <p:nvPr/>
        </p:nvSpPr>
        <p:spPr>
          <a:xfrm>
            <a:off x="1117600" y="2540000"/>
            <a:ext cx="27686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00">
                <a:solidFill>
                  <a:srgbClr val="68758C"/>
                </a:solidFill>
                <a:latin typeface="Aptos" panose="020B0004020202020204" pitchFamily="34" charset="0"/>
              </a:rPr>
              <a:t>Beyond extraction: review, approval and payment visibility.</a:t>
            </a:r>
            <a:endParaRPr lang="en-IN" sz="10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5DC50CE-6D99-F47D-1BC8-5288CCEEE244}"/>
              </a:ext>
            </a:extLst>
          </p:cNvPr>
          <p:cNvSpPr/>
          <p:nvPr/>
        </p:nvSpPr>
        <p:spPr>
          <a:xfrm>
            <a:off x="4368800" y="1917700"/>
            <a:ext cx="3352800" cy="1409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EFC0B7D-5EC9-617F-8B85-F11B7E5F2BA5}"/>
              </a:ext>
            </a:extLst>
          </p:cNvPr>
          <p:cNvSpPr/>
          <p:nvPr/>
        </p:nvSpPr>
        <p:spPr>
          <a:xfrm>
            <a:off x="4572000" y="2133600"/>
            <a:ext cx="50800" cy="304800"/>
          </a:xfrm>
          <a:prstGeom prst="roundRect">
            <a:avLst/>
          </a:prstGeom>
          <a:solidFill>
            <a:srgbClr val="8666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597D2F-8688-C1A7-9E49-2F474137D993}"/>
              </a:ext>
            </a:extLst>
          </p:cNvPr>
          <p:cNvSpPr txBox="1"/>
          <p:nvPr/>
        </p:nvSpPr>
        <p:spPr>
          <a:xfrm>
            <a:off x="4749800" y="21209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 b="1">
                <a:solidFill>
                  <a:srgbClr val="182238"/>
                </a:solidFill>
                <a:latin typeface="Aptos" panose="020B0004020202020204" pitchFamily="34" charset="0"/>
              </a:rPr>
              <a:t>AI + RULES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04064C-14DD-B586-F26A-FC4AEBD9CD43}"/>
              </a:ext>
            </a:extLst>
          </p:cNvPr>
          <p:cNvSpPr txBox="1"/>
          <p:nvPr/>
        </p:nvSpPr>
        <p:spPr>
          <a:xfrm>
            <a:off x="4749800" y="2540000"/>
            <a:ext cx="27686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>
                <a:solidFill>
                  <a:srgbClr val="68758C"/>
                </a:solidFill>
                <a:latin typeface="Aptos" panose="020B0004020202020204" pitchFamily="34" charset="0"/>
              </a:rPr>
              <a:t>AI reads documents; explicit checks verify business logic.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0E5248C-4885-E7F2-96E1-E36153E0578B}"/>
              </a:ext>
            </a:extLst>
          </p:cNvPr>
          <p:cNvSpPr/>
          <p:nvPr/>
        </p:nvSpPr>
        <p:spPr>
          <a:xfrm>
            <a:off x="8001000" y="1917700"/>
            <a:ext cx="3352800" cy="1409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69A34BB-F395-207D-86E6-70CA27371F6E}"/>
              </a:ext>
            </a:extLst>
          </p:cNvPr>
          <p:cNvSpPr/>
          <p:nvPr/>
        </p:nvSpPr>
        <p:spPr>
          <a:xfrm>
            <a:off x="8204200" y="2133600"/>
            <a:ext cx="50800" cy="304800"/>
          </a:xfrm>
          <a:prstGeom prst="roundRect">
            <a:avLst/>
          </a:prstGeom>
          <a:solidFill>
            <a:srgbClr val="178B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338961-030C-62E5-8A52-8BACA0F483A0}"/>
              </a:ext>
            </a:extLst>
          </p:cNvPr>
          <p:cNvSpPr txBox="1"/>
          <p:nvPr/>
        </p:nvSpPr>
        <p:spPr>
          <a:xfrm>
            <a:off x="8382000" y="21209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 b="1">
                <a:solidFill>
                  <a:srgbClr val="182238"/>
                </a:solidFill>
                <a:latin typeface="Aptos" panose="020B0004020202020204" pitchFamily="34" charset="0"/>
              </a:rPr>
              <a:t>HUMAN IN THE LOOP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E39417-4DF3-1B8A-7ADB-E1E7FB21F1FC}"/>
              </a:ext>
            </a:extLst>
          </p:cNvPr>
          <p:cNvSpPr txBox="1"/>
          <p:nvPr/>
        </p:nvSpPr>
        <p:spPr>
          <a:xfrm>
            <a:off x="8382000" y="2540000"/>
            <a:ext cx="27686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00">
                <a:solidFill>
                  <a:srgbClr val="68758C"/>
                </a:solidFill>
                <a:latin typeface="Aptos" panose="020B0004020202020204" pitchFamily="34" charset="0"/>
              </a:rPr>
              <a:t>Low-confidence fields and issues move to review.</a:t>
            </a:r>
            <a:endParaRPr lang="en-IN" sz="10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A120B2F-959B-CFE6-8DDA-5506469677EE}"/>
              </a:ext>
            </a:extLst>
          </p:cNvPr>
          <p:cNvSpPr/>
          <p:nvPr/>
        </p:nvSpPr>
        <p:spPr>
          <a:xfrm>
            <a:off x="736600" y="3594100"/>
            <a:ext cx="3352800" cy="1409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E8DE80A-5F14-97F3-34F6-A5150ACE1EEF}"/>
              </a:ext>
            </a:extLst>
          </p:cNvPr>
          <p:cNvSpPr/>
          <p:nvPr/>
        </p:nvSpPr>
        <p:spPr>
          <a:xfrm>
            <a:off x="939800" y="3810000"/>
            <a:ext cx="50800" cy="304800"/>
          </a:xfrm>
          <a:prstGeom prst="roundRect">
            <a:avLst/>
          </a:prstGeom>
          <a:solidFill>
            <a:srgbClr val="E99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6C3671-12FA-221B-BDE6-15FFE355E9DB}"/>
              </a:ext>
            </a:extLst>
          </p:cNvPr>
          <p:cNvSpPr txBox="1"/>
          <p:nvPr/>
        </p:nvSpPr>
        <p:spPr>
          <a:xfrm>
            <a:off x="1117600" y="37973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 b="1">
                <a:solidFill>
                  <a:srgbClr val="182238"/>
                </a:solidFill>
                <a:latin typeface="Aptos" panose="020B0004020202020204" pitchFamily="34" charset="0"/>
              </a:rPr>
              <a:t>ACTION-ORIENTED AI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28B796-79C0-F767-9F2B-3CFF3659E251}"/>
              </a:ext>
            </a:extLst>
          </p:cNvPr>
          <p:cNvSpPr txBox="1"/>
          <p:nvPr/>
        </p:nvSpPr>
        <p:spPr>
          <a:xfrm>
            <a:off x="1117600" y="4216400"/>
            <a:ext cx="27686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00">
                <a:solidFill>
                  <a:srgbClr val="68758C"/>
                </a:solidFill>
                <a:latin typeface="Aptos" panose="020B0004020202020204" pitchFamily="34" charset="0"/>
              </a:rPr>
              <a:t>Findings connect to a workflow, not just a notification.</a:t>
            </a:r>
            <a:endParaRPr lang="en-IN" sz="10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ECB9936-B843-D396-6A40-13EC78A3BB55}"/>
              </a:ext>
            </a:extLst>
          </p:cNvPr>
          <p:cNvSpPr/>
          <p:nvPr/>
        </p:nvSpPr>
        <p:spPr>
          <a:xfrm>
            <a:off x="4368800" y="3594100"/>
            <a:ext cx="3352800" cy="1409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44AD3BC-E253-0573-1355-C173E4E29278}"/>
              </a:ext>
            </a:extLst>
          </p:cNvPr>
          <p:cNvSpPr/>
          <p:nvPr/>
        </p:nvSpPr>
        <p:spPr>
          <a:xfrm>
            <a:off x="4572000" y="3810000"/>
            <a:ext cx="50800" cy="304800"/>
          </a:xfrm>
          <a:prstGeom prst="roundRect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F830B7-502B-5BAB-27F5-9440CF2DE6C9}"/>
              </a:ext>
            </a:extLst>
          </p:cNvPr>
          <p:cNvSpPr txBox="1"/>
          <p:nvPr/>
        </p:nvSpPr>
        <p:spPr>
          <a:xfrm>
            <a:off x="4749800" y="37973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 b="1">
                <a:solidFill>
                  <a:srgbClr val="182238"/>
                </a:solidFill>
                <a:latin typeface="Aptos" panose="020B0004020202020204" pitchFamily="34" charset="0"/>
              </a:rPr>
              <a:t>ONE OPERATIONS LAYER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E2E1BF-7441-74DE-8F80-C3A9A54EF6E6}"/>
              </a:ext>
            </a:extLst>
          </p:cNvPr>
          <p:cNvSpPr txBox="1"/>
          <p:nvPr/>
        </p:nvSpPr>
        <p:spPr>
          <a:xfrm>
            <a:off x="4749800" y="4216400"/>
            <a:ext cx="27686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000">
                <a:solidFill>
                  <a:srgbClr val="68758C"/>
                </a:solidFill>
                <a:latin typeface="Aptos" panose="020B0004020202020204" pitchFamily="34" charset="0"/>
              </a:rPr>
              <a:t>Invoice → approval → payment → insights.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22703B4-6FE9-AB13-5DF0-BB869AE7F4BD}"/>
              </a:ext>
            </a:extLst>
          </p:cNvPr>
          <p:cNvSpPr/>
          <p:nvPr/>
        </p:nvSpPr>
        <p:spPr>
          <a:xfrm>
            <a:off x="8001000" y="3594100"/>
            <a:ext cx="3352800" cy="1409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F76D042-683E-CD67-29CE-1F35134FF329}"/>
              </a:ext>
            </a:extLst>
          </p:cNvPr>
          <p:cNvSpPr/>
          <p:nvPr/>
        </p:nvSpPr>
        <p:spPr>
          <a:xfrm>
            <a:off x="8204200" y="3810000"/>
            <a:ext cx="50800" cy="304800"/>
          </a:xfrm>
          <a:prstGeom prst="roundRect">
            <a:avLst/>
          </a:prstGeom>
          <a:solidFill>
            <a:srgbClr val="8666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635C44-3FA7-E5CC-E25F-B8D4554804B9}"/>
              </a:ext>
            </a:extLst>
          </p:cNvPr>
          <p:cNvSpPr txBox="1"/>
          <p:nvPr/>
        </p:nvSpPr>
        <p:spPr>
          <a:xfrm>
            <a:off x="8382000" y="3797300"/>
            <a:ext cx="27940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 b="1">
                <a:solidFill>
                  <a:srgbClr val="182238"/>
                </a:solidFill>
                <a:latin typeface="Aptos" panose="020B0004020202020204" pitchFamily="34" charset="0"/>
              </a:rPr>
              <a:t>NATURAL LANGUAGE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202E9-F53B-E364-CFCC-DF1D40E79EA8}"/>
              </a:ext>
            </a:extLst>
          </p:cNvPr>
          <p:cNvSpPr txBox="1"/>
          <p:nvPr/>
        </p:nvSpPr>
        <p:spPr>
          <a:xfrm>
            <a:off x="8382000" y="4216400"/>
            <a:ext cx="27686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00">
                <a:solidFill>
                  <a:srgbClr val="68758C"/>
                </a:solidFill>
                <a:latin typeface="Aptos" panose="020B0004020202020204" pitchFamily="34" charset="0"/>
              </a:rPr>
              <a:t>Ask questions over the business data in context.</a:t>
            </a:r>
            <a:endParaRPr lang="en-IN" sz="10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23461D-1248-AB4E-927A-B4A24BD9C8FD}"/>
              </a:ext>
            </a:extLst>
          </p:cNvPr>
          <p:cNvSpPr txBox="1"/>
          <p:nvPr/>
        </p:nvSpPr>
        <p:spPr>
          <a:xfrm>
            <a:off x="762000" y="5600700"/>
            <a:ext cx="106680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500" b="1">
                <a:solidFill>
                  <a:srgbClr val="182238"/>
                </a:solidFill>
                <a:latin typeface="Aptos" panose="020B0004020202020204" pitchFamily="34" charset="0"/>
              </a:rPr>
              <a:t>Not another invoice scanner. An intelligent operating layer for invoice workflows.</a:t>
            </a:r>
            <a:endParaRPr lang="en-IN" sz="1500" b="1">
              <a:solidFill>
                <a:srgbClr val="18223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993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824B44-9DF3-478B-9F4A-54DFE488C113}"/>
              </a:ext>
            </a:extLst>
          </p:cNvPr>
          <p:cNvSpPr txBox="1"/>
          <p:nvPr/>
        </p:nvSpPr>
        <p:spPr>
          <a:xfrm>
            <a:off x="685800" y="304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PAYOPS / BUSINESS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6DD2E6-C47C-7FDE-4CCE-104E98320215}"/>
              </a:ext>
            </a:extLst>
          </p:cNvPr>
          <p:cNvSpPr txBox="1"/>
          <p:nvPr/>
        </p:nvSpPr>
        <p:spPr>
          <a:xfrm>
            <a:off x="685800" y="6477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2700" b="1">
                <a:solidFill>
                  <a:srgbClr val="182238"/>
                </a:solidFill>
                <a:latin typeface="Aptos" panose="020B0004020202020204" pitchFamily="34" charset="0"/>
              </a:rPr>
              <a:t>How PayOps is built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246DB87-496F-6606-5770-E5ED4FF1E60F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straightConnector1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30053BB-7FF7-4671-49A9-247DEF5F4B78}"/>
              </a:ext>
            </a:extLst>
          </p:cNvPr>
          <p:cNvSpPr txBox="1"/>
          <p:nvPr/>
        </p:nvSpPr>
        <p:spPr>
          <a:xfrm>
            <a:off x="685800" y="64897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PAYOPS  ·  INVOICE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D2AF7A-C9C7-2E39-86B4-F9949B2CFB6F}"/>
              </a:ext>
            </a:extLst>
          </p:cNvPr>
          <p:cNvSpPr txBox="1"/>
          <p:nvPr/>
        </p:nvSpPr>
        <p:spPr>
          <a:xfrm>
            <a:off x="11049000" y="64897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3896B9-8EA5-6FE6-083D-3C0435550B4C}"/>
              </a:ext>
            </a:extLst>
          </p:cNvPr>
          <p:cNvSpPr/>
          <p:nvPr/>
        </p:nvSpPr>
        <p:spPr>
          <a:xfrm>
            <a:off x="812800" y="1930400"/>
            <a:ext cx="2895600" cy="3441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C4E86C-D5A6-9E81-96A5-5DC26FCE69BA}"/>
              </a:ext>
            </a:extLst>
          </p:cNvPr>
          <p:cNvSpPr txBox="1"/>
          <p:nvPr/>
        </p:nvSpPr>
        <p:spPr>
          <a:xfrm>
            <a:off x="1117600" y="2184400"/>
            <a:ext cx="2286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68758C"/>
                </a:solidFill>
                <a:latin typeface="Aptos" panose="020B0004020202020204" pitchFamily="34" charset="0"/>
              </a:rPr>
              <a:t>USER EXPERIENCE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AAC050-50A3-D932-5568-E195C2824D22}"/>
              </a:ext>
            </a:extLst>
          </p:cNvPr>
          <p:cNvSpPr txBox="1"/>
          <p:nvPr/>
        </p:nvSpPr>
        <p:spPr>
          <a:xfrm>
            <a:off x="1117600" y="2679700"/>
            <a:ext cx="2286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600" b="1">
                <a:solidFill>
                  <a:srgbClr val="456BFF"/>
                </a:solidFill>
                <a:latin typeface="Aptos" panose="020B0004020202020204" pitchFamily="34" charset="0"/>
              </a:rPr>
              <a:t>FRONTEND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315BFD-C3FF-1369-CC27-D08A72A4C918}"/>
              </a:ext>
            </a:extLst>
          </p:cNvPr>
          <p:cNvSpPr txBox="1"/>
          <p:nvPr/>
        </p:nvSpPr>
        <p:spPr>
          <a:xfrm>
            <a:off x="1117600" y="3213100"/>
            <a:ext cx="2286000" cy="73866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>
                <a:solidFill>
                  <a:srgbClr val="182238"/>
                </a:solidFill>
                <a:latin typeface="Aptos" panose="020B0004020202020204" pitchFamily="34" charset="0"/>
              </a:rPr>
              <a:t>Web UI
Dashboard
Invoice management
AI assistant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539AA3-DBEA-60CB-B72C-CB2506143A32}"/>
              </a:ext>
            </a:extLst>
          </p:cNvPr>
          <p:cNvSpPr/>
          <p:nvPr/>
        </p:nvSpPr>
        <p:spPr>
          <a:xfrm>
            <a:off x="4572000" y="1930400"/>
            <a:ext cx="2895600" cy="3441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81B43E-8E8A-F542-9B01-8D39861876A5}"/>
              </a:ext>
            </a:extLst>
          </p:cNvPr>
          <p:cNvSpPr txBox="1"/>
          <p:nvPr/>
        </p:nvSpPr>
        <p:spPr>
          <a:xfrm>
            <a:off x="4876800" y="2184400"/>
            <a:ext cx="2286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68758C"/>
                </a:solidFill>
                <a:latin typeface="Aptos" panose="020B0004020202020204" pitchFamily="34" charset="0"/>
              </a:rPr>
              <a:t>BUSINESS LOGIC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022D75-0379-C932-E229-59DF37008590}"/>
              </a:ext>
            </a:extLst>
          </p:cNvPr>
          <p:cNvSpPr txBox="1"/>
          <p:nvPr/>
        </p:nvSpPr>
        <p:spPr>
          <a:xfrm>
            <a:off x="4876800" y="2679700"/>
            <a:ext cx="2286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600" b="1">
                <a:solidFill>
                  <a:srgbClr val="8666F5"/>
                </a:solidFill>
                <a:latin typeface="Aptos" panose="020B0004020202020204" pitchFamily="34" charset="0"/>
              </a:rPr>
              <a:t>FASTAPI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27ABB6-FEA9-3BE5-7223-CDE5FCDDFD22}"/>
              </a:ext>
            </a:extLst>
          </p:cNvPr>
          <p:cNvSpPr txBox="1"/>
          <p:nvPr/>
        </p:nvSpPr>
        <p:spPr>
          <a:xfrm>
            <a:off x="4876800" y="3213100"/>
            <a:ext cx="2286000" cy="73866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200">
                <a:solidFill>
                  <a:srgbClr val="182238"/>
                </a:solidFill>
                <a:latin typeface="Aptos" panose="020B0004020202020204" pitchFamily="34" charset="0"/>
              </a:rPr>
              <a:t>Authentication
Business APIs
Workflow
Data functions</a:t>
            </a:r>
            <a:endParaRPr lang="en-IN" sz="1200">
              <a:solidFill>
                <a:srgbClr val="182238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8AA317D-B2D8-8496-E88B-9ACBBC4B7C02}"/>
              </a:ext>
            </a:extLst>
          </p:cNvPr>
          <p:cNvSpPr/>
          <p:nvPr/>
        </p:nvSpPr>
        <p:spPr>
          <a:xfrm>
            <a:off x="8331200" y="1930400"/>
            <a:ext cx="3048000" cy="3441700"/>
          </a:xfrm>
          <a:prstGeom prst="roundRect">
            <a:avLst/>
          </a:prstGeom>
          <a:solidFill>
            <a:srgbClr val="10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2D5369-D200-F498-DDCC-38E25E32329F}"/>
              </a:ext>
            </a:extLst>
          </p:cNvPr>
          <p:cNvSpPr txBox="1"/>
          <p:nvPr/>
        </p:nvSpPr>
        <p:spPr>
          <a:xfrm>
            <a:off x="8636000" y="2184400"/>
            <a:ext cx="2438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B9C3D5"/>
                </a:solidFill>
                <a:latin typeface="Aptos" panose="020B0004020202020204" pitchFamily="34" charset="0"/>
              </a:rPr>
              <a:t>DATA + DOCUMENTS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6CD0B0-1DD6-4DFA-3A78-92D5DF1FC111}"/>
              </a:ext>
            </a:extLst>
          </p:cNvPr>
          <p:cNvSpPr txBox="1"/>
          <p:nvPr/>
        </p:nvSpPr>
        <p:spPr>
          <a:xfrm>
            <a:off x="8636000" y="2679700"/>
            <a:ext cx="2438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500" b="1">
                <a:solidFill>
                  <a:srgbClr val="8666F5"/>
                </a:solidFill>
                <a:latin typeface="Aptos" panose="020B0004020202020204" pitchFamily="34" charset="0"/>
              </a:rPr>
              <a:t>AI / OCR LAYER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A025EE-B335-C9B0-DB80-152DB621F592}"/>
              </a:ext>
            </a:extLst>
          </p:cNvPr>
          <p:cNvSpPr txBox="1"/>
          <p:nvPr/>
        </p:nvSpPr>
        <p:spPr>
          <a:xfrm>
            <a:off x="8636000" y="3162300"/>
            <a:ext cx="2438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000">
                <a:solidFill>
                  <a:srgbClr val="FFFFFF"/>
                </a:solidFill>
                <a:latin typeface="Aptos" panose="020B0004020202020204" pitchFamily="34" charset="0"/>
              </a:rPr>
              <a:t>Extraction · validation
Duplicate detection · agent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FF9103B-F5EF-AF85-A5AD-4822F93055FF}"/>
              </a:ext>
            </a:extLst>
          </p:cNvPr>
          <p:cNvCxnSpPr/>
          <p:nvPr/>
        </p:nvCxnSpPr>
        <p:spPr>
          <a:xfrm>
            <a:off x="3708400" y="3632200"/>
            <a:ext cx="863600" cy="0"/>
          </a:xfrm>
          <a:prstGeom prst="straightConnector1">
            <a:avLst/>
          </a:prstGeom>
          <a:ln w="25400">
            <a:solidFill>
              <a:srgbClr val="45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5076722-215A-DAF4-82F9-5320846572E2}"/>
              </a:ext>
            </a:extLst>
          </p:cNvPr>
          <p:cNvCxnSpPr/>
          <p:nvPr/>
        </p:nvCxnSpPr>
        <p:spPr>
          <a:xfrm>
            <a:off x="7467600" y="3632200"/>
            <a:ext cx="863600" cy="0"/>
          </a:xfrm>
          <a:prstGeom prst="straightConnector1">
            <a:avLst/>
          </a:prstGeom>
          <a:ln w="25400">
            <a:solidFill>
              <a:srgbClr val="8666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EA09ABC-AC60-D967-D96D-F93B6D20A5DA}"/>
              </a:ext>
            </a:extLst>
          </p:cNvPr>
          <p:cNvSpPr/>
          <p:nvPr/>
        </p:nvSpPr>
        <p:spPr>
          <a:xfrm>
            <a:off x="8572500" y="4178300"/>
            <a:ext cx="2565400" cy="863600"/>
          </a:xfrm>
          <a:prstGeom prst="roundRect">
            <a:avLst/>
          </a:prstGeom>
          <a:solidFill>
            <a:srgbClr val="2631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5DC9B7-BC38-6897-EDE9-DFABC6054B7A}"/>
              </a:ext>
            </a:extLst>
          </p:cNvPr>
          <p:cNvSpPr txBox="1"/>
          <p:nvPr/>
        </p:nvSpPr>
        <p:spPr>
          <a:xfrm>
            <a:off x="8737600" y="4356100"/>
            <a:ext cx="22352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1000">
                <a:solidFill>
                  <a:srgbClr val="FFFFFF"/>
                </a:solidFill>
                <a:latin typeface="Aptos" panose="020B0004020202020204" pitchFamily="34" charset="0"/>
              </a:rPr>
              <a:t>PostgreSQL
Invoice file storage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E90F44-2C1B-C898-33A8-4A450150D2D1}"/>
              </a:ext>
            </a:extLst>
          </p:cNvPr>
          <p:cNvSpPr txBox="1"/>
          <p:nvPr/>
        </p:nvSpPr>
        <p:spPr>
          <a:xfrm>
            <a:off x="825500" y="5715000"/>
            <a:ext cx="10541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900">
                <a:solidFill>
                  <a:srgbClr val="68758C"/>
                </a:solidFill>
                <a:latin typeface="Aptos" panose="020B0004020202020204" pitchFamily="34" charset="0"/>
              </a:rPr>
              <a:t>Connected intake channels and external services depend on configuration.</a:t>
            </a:r>
            <a:endParaRPr lang="en-IN" sz="9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5003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D7FE40-29AA-4DD5-5A54-AD93E00FB769}"/>
              </a:ext>
            </a:extLst>
          </p:cNvPr>
          <p:cNvSpPr txBox="1"/>
          <p:nvPr/>
        </p:nvSpPr>
        <p:spPr>
          <a:xfrm>
            <a:off x="685800" y="304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PAYOPS / BUSINESS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173F11-6BAD-FF19-2812-4E61A9D8CB02}"/>
              </a:ext>
            </a:extLst>
          </p:cNvPr>
          <p:cNvSpPr txBox="1"/>
          <p:nvPr/>
        </p:nvSpPr>
        <p:spPr>
          <a:xfrm>
            <a:off x="685800" y="6477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2700" b="1">
                <a:solidFill>
                  <a:srgbClr val="182238"/>
                </a:solidFill>
                <a:latin typeface="Aptos" panose="020B0004020202020204" pitchFamily="34" charset="0"/>
              </a:rPr>
              <a:t>Let's follow one invoice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4E2D40E-3BF2-C0EE-9E8C-1AF26EBD62E7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straightConnector1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E6A063B-4BF5-ECE5-439A-0BB51814E596}"/>
              </a:ext>
            </a:extLst>
          </p:cNvPr>
          <p:cNvSpPr txBox="1"/>
          <p:nvPr/>
        </p:nvSpPr>
        <p:spPr>
          <a:xfrm>
            <a:off x="685800" y="64897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PAYOPS  ·  INVOICE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DAF8F2-5F7F-6154-0F14-DE395DC0EBC7}"/>
              </a:ext>
            </a:extLst>
          </p:cNvPr>
          <p:cNvSpPr txBox="1"/>
          <p:nvPr/>
        </p:nvSpPr>
        <p:spPr>
          <a:xfrm>
            <a:off x="11049000" y="64897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22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488CA5-CB26-F398-BDA6-09F2FAC310A3}"/>
              </a:ext>
            </a:extLst>
          </p:cNvPr>
          <p:cNvSpPr/>
          <p:nvPr/>
        </p:nvSpPr>
        <p:spPr>
          <a:xfrm>
            <a:off x="762000" y="1841500"/>
            <a:ext cx="3162300" cy="3848100"/>
          </a:xfrm>
          <a:prstGeom prst="roundRect">
            <a:avLst/>
          </a:prstGeom>
          <a:solidFill>
            <a:srgbClr val="10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B0F2DF-98B7-2C7A-7CD3-7DE9F17BF9D3}"/>
              </a:ext>
            </a:extLst>
          </p:cNvPr>
          <p:cNvSpPr txBox="1"/>
          <p:nvPr/>
        </p:nvSpPr>
        <p:spPr>
          <a:xfrm>
            <a:off x="1054100" y="2159000"/>
            <a:ext cx="25781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8666F5"/>
                </a:solidFill>
                <a:latin typeface="Aptos" panose="020B0004020202020204" pitchFamily="34" charset="0"/>
              </a:rPr>
              <a:t>EXAMPLE INVOICE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0E4A6-DFB2-6181-2428-47245793F698}"/>
              </a:ext>
            </a:extLst>
          </p:cNvPr>
          <p:cNvSpPr txBox="1"/>
          <p:nvPr/>
        </p:nvSpPr>
        <p:spPr>
          <a:xfrm>
            <a:off x="1054100" y="2679700"/>
            <a:ext cx="25908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2000" b="1">
                <a:solidFill>
                  <a:srgbClr val="FFFFFF"/>
                </a:solidFill>
                <a:latin typeface="Aptos" panose="020B0004020202020204" pitchFamily="34" charset="0"/>
              </a:rPr>
              <a:t>ABC Industries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24CEBB-250F-D6A6-26E2-5DEB3A49E712}"/>
              </a:ext>
            </a:extLst>
          </p:cNvPr>
          <p:cNvSpPr txBox="1"/>
          <p:nvPr/>
        </p:nvSpPr>
        <p:spPr>
          <a:xfrm>
            <a:off x="1054100" y="3263900"/>
            <a:ext cx="25908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>
                <a:solidFill>
                  <a:srgbClr val="C9D4E9"/>
                </a:solidFill>
                <a:latin typeface="Aptos" panose="020B0004020202020204" pitchFamily="34" charset="0"/>
              </a:rPr>
              <a:t>INV-1024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5B4379-A94B-3C99-FF03-C119F846C03D}"/>
              </a:ext>
            </a:extLst>
          </p:cNvPr>
          <p:cNvSpPr txBox="1"/>
          <p:nvPr/>
        </p:nvSpPr>
        <p:spPr>
          <a:xfrm>
            <a:off x="1054100" y="3695700"/>
            <a:ext cx="25908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900" b="1">
                <a:solidFill>
                  <a:srgbClr val="FFFFFF"/>
                </a:solidFill>
                <a:latin typeface="Aptos" panose="020B0004020202020204" pitchFamily="34" charset="0"/>
              </a:rPr>
              <a:t>₹1,25,000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80B366-E7AC-471F-C5A5-78187F35A54C}"/>
              </a:ext>
            </a:extLst>
          </p:cNvPr>
          <p:cNvSpPr txBox="1"/>
          <p:nvPr/>
        </p:nvSpPr>
        <p:spPr>
          <a:xfrm>
            <a:off x="1054100" y="4279900"/>
            <a:ext cx="2590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>
                <a:solidFill>
                  <a:srgbClr val="C9D4E9"/>
                </a:solidFill>
                <a:latin typeface="Aptos" panose="020B0004020202020204" pitchFamily="34" charset="0"/>
              </a:rPr>
              <a:t>Vendor PDF
Invoice date · due date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59B8C6C-5CB3-6B4B-93DC-4D7FAFB1FFAC}"/>
              </a:ext>
            </a:extLst>
          </p:cNvPr>
          <p:cNvSpPr/>
          <p:nvPr/>
        </p:nvSpPr>
        <p:spPr>
          <a:xfrm>
            <a:off x="1054100" y="5092700"/>
            <a:ext cx="1574800" cy="304800"/>
          </a:xfrm>
          <a:prstGeom prst="roundRect">
            <a:avLst/>
          </a:prstGeom>
          <a:solidFill>
            <a:srgbClr val="2631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1B1730-86D7-DB86-6CC7-D5BFC0BCA7F7}"/>
              </a:ext>
            </a:extLst>
          </p:cNvPr>
          <p:cNvSpPr txBox="1"/>
          <p:nvPr/>
        </p:nvSpPr>
        <p:spPr>
          <a:xfrm>
            <a:off x="1143000" y="5143500"/>
            <a:ext cx="1397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B9C3D5"/>
                </a:solidFill>
                <a:latin typeface="Aptos" panose="020B0004020202020204" pitchFamily="34" charset="0"/>
              </a:rPr>
              <a:t>DEMO SCENARIO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AFB6B02-DE1A-67D5-F77B-DFF215A10F9E}"/>
              </a:ext>
            </a:extLst>
          </p:cNvPr>
          <p:cNvSpPr/>
          <p:nvPr/>
        </p:nvSpPr>
        <p:spPr>
          <a:xfrm>
            <a:off x="4495800" y="2032000"/>
            <a:ext cx="152400" cy="152400"/>
          </a:xfrm>
          <a:prstGeom prst="ellipse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45DAEC-E509-0E26-C617-F6861662A1AE}"/>
              </a:ext>
            </a:extLst>
          </p:cNvPr>
          <p:cNvSpPr txBox="1"/>
          <p:nvPr/>
        </p:nvSpPr>
        <p:spPr>
          <a:xfrm>
            <a:off x="4813300" y="1981200"/>
            <a:ext cx="62103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>
                <a:solidFill>
                  <a:srgbClr val="182238"/>
                </a:solidFill>
                <a:latin typeface="Aptos" panose="020B0004020202020204" pitchFamily="34" charset="0"/>
              </a:rPr>
              <a:t>Upload PDF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DC5D150-66A2-6BC7-C3B3-F77C624F0BA0}"/>
              </a:ext>
            </a:extLst>
          </p:cNvPr>
          <p:cNvCxnSpPr/>
          <p:nvPr/>
        </p:nvCxnSpPr>
        <p:spPr>
          <a:xfrm>
            <a:off x="4572000" y="2184400"/>
            <a:ext cx="0" cy="406400"/>
          </a:xfrm>
          <a:prstGeom prst="straightConnector1">
            <a:avLst/>
          </a:prstGeom>
          <a:ln w="1651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8C75FFE1-E500-3859-123E-63F3CE8E543F}"/>
              </a:ext>
            </a:extLst>
          </p:cNvPr>
          <p:cNvSpPr/>
          <p:nvPr/>
        </p:nvSpPr>
        <p:spPr>
          <a:xfrm>
            <a:off x="4495800" y="2641600"/>
            <a:ext cx="152400" cy="152400"/>
          </a:xfrm>
          <a:prstGeom prst="ellipse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5B06D6-3DC7-C957-4A27-0AD58B9DC67D}"/>
              </a:ext>
            </a:extLst>
          </p:cNvPr>
          <p:cNvSpPr txBox="1"/>
          <p:nvPr/>
        </p:nvSpPr>
        <p:spPr>
          <a:xfrm>
            <a:off x="4813300" y="2590800"/>
            <a:ext cx="62103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>
                <a:solidFill>
                  <a:srgbClr val="182238"/>
                </a:solidFill>
                <a:latin typeface="Aptos" panose="020B0004020202020204" pitchFamily="34" charset="0"/>
              </a:rPr>
              <a:t>Extract fields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3BCA2A-CFF9-A128-5B13-8DB228AF1C08}"/>
              </a:ext>
            </a:extLst>
          </p:cNvPr>
          <p:cNvCxnSpPr/>
          <p:nvPr/>
        </p:nvCxnSpPr>
        <p:spPr>
          <a:xfrm>
            <a:off x="4572000" y="2794000"/>
            <a:ext cx="0" cy="406400"/>
          </a:xfrm>
          <a:prstGeom prst="straightConnector1">
            <a:avLst/>
          </a:prstGeom>
          <a:ln w="1651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D255A1BE-FB41-7CF4-40CA-8DCBFBD1E4C7}"/>
              </a:ext>
            </a:extLst>
          </p:cNvPr>
          <p:cNvSpPr/>
          <p:nvPr/>
        </p:nvSpPr>
        <p:spPr>
          <a:xfrm>
            <a:off x="4495800" y="3251200"/>
            <a:ext cx="152400" cy="152400"/>
          </a:xfrm>
          <a:prstGeom prst="ellipse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33C914-2B6C-0650-FFB5-542E19B9AEF2}"/>
              </a:ext>
            </a:extLst>
          </p:cNvPr>
          <p:cNvSpPr txBox="1"/>
          <p:nvPr/>
        </p:nvSpPr>
        <p:spPr>
          <a:xfrm>
            <a:off x="4813300" y="3200400"/>
            <a:ext cx="62103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>
                <a:solidFill>
                  <a:srgbClr val="182238"/>
                </a:solidFill>
                <a:latin typeface="Aptos" panose="020B0004020202020204" pitchFamily="34" charset="0"/>
              </a:rPr>
              <a:t>Validate GST + total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2746205-583D-E452-651A-12DFD82E5EB3}"/>
              </a:ext>
            </a:extLst>
          </p:cNvPr>
          <p:cNvCxnSpPr/>
          <p:nvPr/>
        </p:nvCxnSpPr>
        <p:spPr>
          <a:xfrm>
            <a:off x="4572000" y="3403600"/>
            <a:ext cx="0" cy="406400"/>
          </a:xfrm>
          <a:prstGeom prst="straightConnector1">
            <a:avLst/>
          </a:prstGeom>
          <a:ln w="1651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95B3DCA4-AA1F-F59C-9AF6-9FD704623172}"/>
              </a:ext>
            </a:extLst>
          </p:cNvPr>
          <p:cNvSpPr/>
          <p:nvPr/>
        </p:nvSpPr>
        <p:spPr>
          <a:xfrm>
            <a:off x="4495800" y="3860800"/>
            <a:ext cx="152400" cy="152400"/>
          </a:xfrm>
          <a:prstGeom prst="ellipse">
            <a:avLst/>
          </a:prstGeom>
          <a:solidFill>
            <a:srgbClr val="456B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E8FF84-7C4B-211C-6109-9594C5F3BCF6}"/>
              </a:ext>
            </a:extLst>
          </p:cNvPr>
          <p:cNvSpPr txBox="1"/>
          <p:nvPr/>
        </p:nvSpPr>
        <p:spPr>
          <a:xfrm>
            <a:off x="4813300" y="3810000"/>
            <a:ext cx="62103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>
                <a:solidFill>
                  <a:srgbClr val="182238"/>
                </a:solidFill>
                <a:latin typeface="Aptos" panose="020B0004020202020204" pitchFamily="34" charset="0"/>
              </a:rPr>
              <a:t>Check duplicate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AB22CD3-A7D1-DD96-2354-62583551161D}"/>
              </a:ext>
            </a:extLst>
          </p:cNvPr>
          <p:cNvCxnSpPr/>
          <p:nvPr/>
        </p:nvCxnSpPr>
        <p:spPr>
          <a:xfrm>
            <a:off x="4572000" y="4013200"/>
            <a:ext cx="0" cy="406400"/>
          </a:xfrm>
          <a:prstGeom prst="straightConnector1">
            <a:avLst/>
          </a:prstGeom>
          <a:ln w="1651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4C9653A3-E28B-41EA-49FA-91CADDCE242B}"/>
              </a:ext>
            </a:extLst>
          </p:cNvPr>
          <p:cNvSpPr/>
          <p:nvPr/>
        </p:nvSpPr>
        <p:spPr>
          <a:xfrm>
            <a:off x="4495800" y="4470400"/>
            <a:ext cx="152400" cy="152400"/>
          </a:xfrm>
          <a:prstGeom prst="ellipse">
            <a:avLst/>
          </a:prstGeom>
          <a:solidFill>
            <a:srgbClr val="178B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DBA744-891B-258A-6F1A-1B2F12C39793}"/>
              </a:ext>
            </a:extLst>
          </p:cNvPr>
          <p:cNvSpPr txBox="1"/>
          <p:nvPr/>
        </p:nvSpPr>
        <p:spPr>
          <a:xfrm>
            <a:off x="4813300" y="4419600"/>
            <a:ext cx="62103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>
                <a:solidFill>
                  <a:srgbClr val="182238"/>
                </a:solidFill>
                <a:latin typeface="Aptos" panose="020B0004020202020204" pitchFamily="34" charset="0"/>
              </a:rPr>
              <a:t>Manager approves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70A9A11-E387-928B-23B5-42679CE8735D}"/>
              </a:ext>
            </a:extLst>
          </p:cNvPr>
          <p:cNvCxnSpPr/>
          <p:nvPr/>
        </p:nvCxnSpPr>
        <p:spPr>
          <a:xfrm>
            <a:off x="4572000" y="4622800"/>
            <a:ext cx="0" cy="406400"/>
          </a:xfrm>
          <a:prstGeom prst="straightConnector1">
            <a:avLst/>
          </a:prstGeom>
          <a:ln w="1651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F6BCB5A5-7A74-AF82-05A8-6144F08EA685}"/>
              </a:ext>
            </a:extLst>
          </p:cNvPr>
          <p:cNvSpPr/>
          <p:nvPr/>
        </p:nvSpPr>
        <p:spPr>
          <a:xfrm>
            <a:off x="4495800" y="5080000"/>
            <a:ext cx="152400" cy="152400"/>
          </a:xfrm>
          <a:prstGeom prst="ellipse">
            <a:avLst/>
          </a:prstGeom>
          <a:solidFill>
            <a:srgbClr val="178B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38C995-7D63-75A1-5498-6ECA6094C586}"/>
              </a:ext>
            </a:extLst>
          </p:cNvPr>
          <p:cNvSpPr txBox="1"/>
          <p:nvPr/>
        </p:nvSpPr>
        <p:spPr>
          <a:xfrm>
            <a:off x="4813300" y="5029200"/>
            <a:ext cx="62103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b="1">
                <a:solidFill>
                  <a:srgbClr val="182238"/>
                </a:solidFill>
                <a:latin typeface="Aptos" panose="020B0004020202020204" pitchFamily="34" charset="0"/>
              </a:rPr>
              <a:t>Track unpaid → paid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B149661-8E45-A15C-D50D-326E182AAF0A}"/>
              </a:ext>
            </a:extLst>
          </p:cNvPr>
          <p:cNvSpPr/>
          <p:nvPr/>
        </p:nvSpPr>
        <p:spPr>
          <a:xfrm>
            <a:off x="4495800" y="5676900"/>
            <a:ext cx="6565900" cy="444500"/>
          </a:xfrm>
          <a:prstGeom prst="roundRect">
            <a:avLst/>
          </a:prstGeom>
          <a:solidFill>
            <a:srgbClr val="F1E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FEBE6C-6066-12A9-DEFF-0E972C7EB32B}"/>
              </a:ext>
            </a:extLst>
          </p:cNvPr>
          <p:cNvSpPr txBox="1"/>
          <p:nvPr/>
        </p:nvSpPr>
        <p:spPr>
          <a:xfrm>
            <a:off x="4686300" y="5803900"/>
            <a:ext cx="61849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000" b="1">
                <a:solidFill>
                  <a:srgbClr val="8666F5"/>
                </a:solidFill>
                <a:latin typeface="Aptos" panose="020B0004020202020204" pitchFamily="34" charset="0"/>
              </a:rPr>
              <a:t>ASK: "Show me unpaid invoices above ₹1 lakh."</a:t>
            </a:r>
            <a:endParaRPr lang="en-IN" sz="1000" b="1">
              <a:solidFill>
                <a:srgbClr val="8666F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4894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C4DD7F-76D3-6158-269F-BC7A66A8B3F3}"/>
              </a:ext>
            </a:extLst>
          </p:cNvPr>
          <p:cNvSpPr txBox="1"/>
          <p:nvPr/>
        </p:nvSpPr>
        <p:spPr>
          <a:xfrm>
            <a:off x="685800" y="304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PAYOPS / BUSINESS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21FB18-1618-1B54-0E8C-84EBBAE82DD1}"/>
              </a:ext>
            </a:extLst>
          </p:cNvPr>
          <p:cNvSpPr txBox="1"/>
          <p:nvPr/>
        </p:nvSpPr>
        <p:spPr>
          <a:xfrm>
            <a:off x="685800" y="6477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2700" b="1">
                <a:solidFill>
                  <a:srgbClr val="182238"/>
                </a:solidFill>
                <a:latin typeface="Aptos" panose="020B0004020202020204" pitchFamily="34" charset="0"/>
              </a:rPr>
              <a:t>Before PayOps vs. after PayOps</a:t>
            </a:r>
            <a:endParaRPr lang="en-IN" sz="2700" b="1">
              <a:solidFill>
                <a:srgbClr val="182238"/>
              </a:solidFill>
              <a:latin typeface="Aptos" panose="020B00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088CF6E-C577-2F14-F930-7CF0EE19FDCE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straightConnector1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FCB8615-092F-A87B-49FE-48811F694C45}"/>
              </a:ext>
            </a:extLst>
          </p:cNvPr>
          <p:cNvSpPr txBox="1"/>
          <p:nvPr/>
        </p:nvSpPr>
        <p:spPr>
          <a:xfrm>
            <a:off x="685800" y="64897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PAYOPS  ·  INVOICE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16D88C-68C1-D2DC-06C0-59AE8ACAE749}"/>
              </a:ext>
            </a:extLst>
          </p:cNvPr>
          <p:cNvSpPr txBox="1"/>
          <p:nvPr/>
        </p:nvSpPr>
        <p:spPr>
          <a:xfrm>
            <a:off x="11049000" y="64897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23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EDBD047-567C-0960-9BF5-811026B2E5D7}"/>
              </a:ext>
            </a:extLst>
          </p:cNvPr>
          <p:cNvSpPr/>
          <p:nvPr/>
        </p:nvSpPr>
        <p:spPr>
          <a:xfrm>
            <a:off x="774700" y="1943100"/>
            <a:ext cx="4965700" cy="374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C1880E-09D0-B41C-AB73-04D42BFC2F1B}"/>
              </a:ext>
            </a:extLst>
          </p:cNvPr>
          <p:cNvSpPr/>
          <p:nvPr/>
        </p:nvSpPr>
        <p:spPr>
          <a:xfrm>
            <a:off x="6451600" y="1943100"/>
            <a:ext cx="4965700" cy="3746500"/>
          </a:xfrm>
          <a:prstGeom prst="roundRect">
            <a:avLst/>
          </a:prstGeom>
          <a:solidFill>
            <a:srgbClr val="10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1C8D4E-0C23-9E66-0E61-70BFD25C23F4}"/>
              </a:ext>
            </a:extLst>
          </p:cNvPr>
          <p:cNvSpPr txBox="1"/>
          <p:nvPr/>
        </p:nvSpPr>
        <p:spPr>
          <a:xfrm>
            <a:off x="1117600" y="2247900"/>
            <a:ext cx="42545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68758C"/>
                </a:solidFill>
                <a:latin typeface="Aptos" panose="020B0004020202020204" pitchFamily="34" charset="0"/>
              </a:rPr>
              <a:t>BEFORE  ·  FRAGMENTED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64D20F-6367-32F7-DC98-7F13C320143B}"/>
              </a:ext>
            </a:extLst>
          </p:cNvPr>
          <p:cNvSpPr txBox="1"/>
          <p:nvPr/>
        </p:nvSpPr>
        <p:spPr>
          <a:xfrm>
            <a:off x="6794500" y="2247900"/>
            <a:ext cx="42545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 b="1">
                <a:solidFill>
                  <a:srgbClr val="8666F5"/>
                </a:solidFill>
                <a:latin typeface="Aptos" panose="020B0004020202020204" pitchFamily="34" charset="0"/>
              </a:rPr>
              <a:t>AFTER  ·  CONNECTED OPERATIONS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5565D51-73FC-79BC-C64D-6A7FD96668BC}"/>
              </a:ext>
            </a:extLst>
          </p:cNvPr>
          <p:cNvSpPr/>
          <p:nvPr/>
        </p:nvSpPr>
        <p:spPr>
          <a:xfrm>
            <a:off x="1155700" y="2794000"/>
            <a:ext cx="101600" cy="101600"/>
          </a:xfrm>
          <a:prstGeom prst="ellipse">
            <a:avLst/>
          </a:prstGeom>
          <a:solidFill>
            <a:srgbClr val="E99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52AE06-C646-0881-2D13-665F41A16D4F}"/>
              </a:ext>
            </a:extLst>
          </p:cNvPr>
          <p:cNvSpPr txBox="1"/>
          <p:nvPr/>
        </p:nvSpPr>
        <p:spPr>
          <a:xfrm>
            <a:off x="1397000" y="2755900"/>
            <a:ext cx="40259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>
                <a:solidFill>
                  <a:srgbClr val="182238"/>
                </a:solidFill>
                <a:latin typeface="Aptos" panose="020B0004020202020204" pitchFamily="34" charset="0"/>
              </a:rPr>
              <a:t>Manual data entry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034A27B-FFCB-AFDD-6B86-FEF845B3E7FE}"/>
              </a:ext>
            </a:extLst>
          </p:cNvPr>
          <p:cNvSpPr/>
          <p:nvPr/>
        </p:nvSpPr>
        <p:spPr>
          <a:xfrm>
            <a:off x="6832600" y="2794000"/>
            <a:ext cx="101600" cy="101600"/>
          </a:xfrm>
          <a:prstGeom prst="ellipse">
            <a:avLst/>
          </a:prstGeom>
          <a:solidFill>
            <a:srgbClr val="178B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4B38AA-FD0E-670D-52A8-2E06D5563BF2}"/>
              </a:ext>
            </a:extLst>
          </p:cNvPr>
          <p:cNvSpPr txBox="1"/>
          <p:nvPr/>
        </p:nvSpPr>
        <p:spPr>
          <a:xfrm>
            <a:off x="7073900" y="2755900"/>
            <a:ext cx="40259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>
                <a:solidFill>
                  <a:srgbClr val="FFFFFF"/>
                </a:solidFill>
                <a:latin typeface="Aptos" panose="020B0004020202020204" pitchFamily="34" charset="0"/>
              </a:rPr>
              <a:t>AI-assisted extraction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41310BA-BFC3-B54D-5B78-04B6C52EA9D3}"/>
              </a:ext>
            </a:extLst>
          </p:cNvPr>
          <p:cNvSpPr/>
          <p:nvPr/>
        </p:nvSpPr>
        <p:spPr>
          <a:xfrm>
            <a:off x="1155700" y="3225800"/>
            <a:ext cx="101600" cy="101600"/>
          </a:xfrm>
          <a:prstGeom prst="ellipse">
            <a:avLst/>
          </a:prstGeom>
          <a:solidFill>
            <a:srgbClr val="E99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794CFB-7DD5-2198-104E-0A020F7D9813}"/>
              </a:ext>
            </a:extLst>
          </p:cNvPr>
          <p:cNvSpPr txBox="1"/>
          <p:nvPr/>
        </p:nvSpPr>
        <p:spPr>
          <a:xfrm>
            <a:off x="1397000" y="3187700"/>
            <a:ext cx="40259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>
                <a:solidFill>
                  <a:srgbClr val="182238"/>
                </a:solidFill>
                <a:latin typeface="Aptos" panose="020B0004020202020204" pitchFamily="34" charset="0"/>
              </a:rPr>
              <a:t>Spreadsheet tracking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35BD780-88DF-224B-903A-7B748BF96577}"/>
              </a:ext>
            </a:extLst>
          </p:cNvPr>
          <p:cNvSpPr/>
          <p:nvPr/>
        </p:nvSpPr>
        <p:spPr>
          <a:xfrm>
            <a:off x="6832600" y="3225800"/>
            <a:ext cx="101600" cy="101600"/>
          </a:xfrm>
          <a:prstGeom prst="ellipse">
            <a:avLst/>
          </a:prstGeom>
          <a:solidFill>
            <a:srgbClr val="178B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9C8AEB-6096-3BB8-757A-FD852169A63D}"/>
              </a:ext>
            </a:extLst>
          </p:cNvPr>
          <p:cNvSpPr txBox="1"/>
          <p:nvPr/>
        </p:nvSpPr>
        <p:spPr>
          <a:xfrm>
            <a:off x="7073900" y="3187700"/>
            <a:ext cx="40259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>
                <a:solidFill>
                  <a:srgbClr val="FFFFFF"/>
                </a:solidFill>
                <a:latin typeface="Aptos" panose="020B0004020202020204" pitchFamily="34" charset="0"/>
              </a:rPr>
              <a:t>Centralized workflow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CC39EF5-47F7-D8CA-C1D5-D8B5570E518D}"/>
              </a:ext>
            </a:extLst>
          </p:cNvPr>
          <p:cNvSpPr/>
          <p:nvPr/>
        </p:nvSpPr>
        <p:spPr>
          <a:xfrm>
            <a:off x="1155700" y="3657600"/>
            <a:ext cx="101600" cy="101600"/>
          </a:xfrm>
          <a:prstGeom prst="ellipse">
            <a:avLst/>
          </a:prstGeom>
          <a:solidFill>
            <a:srgbClr val="E99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0FC49F-777E-4F2C-5960-BC8A4418DF04}"/>
              </a:ext>
            </a:extLst>
          </p:cNvPr>
          <p:cNvSpPr txBox="1"/>
          <p:nvPr/>
        </p:nvSpPr>
        <p:spPr>
          <a:xfrm>
            <a:off x="1397000" y="3619500"/>
            <a:ext cx="40259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>
                <a:solidFill>
                  <a:srgbClr val="182238"/>
                </a:solidFill>
                <a:latin typeface="Aptos" panose="020B0004020202020204" pitchFamily="34" charset="0"/>
              </a:rPr>
              <a:t>Manual validation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3AAFE4E-9D59-3FEE-DDC9-016526DC771A}"/>
              </a:ext>
            </a:extLst>
          </p:cNvPr>
          <p:cNvSpPr/>
          <p:nvPr/>
        </p:nvSpPr>
        <p:spPr>
          <a:xfrm>
            <a:off x="6832600" y="3657600"/>
            <a:ext cx="101600" cy="101600"/>
          </a:xfrm>
          <a:prstGeom prst="ellipse">
            <a:avLst/>
          </a:prstGeom>
          <a:solidFill>
            <a:srgbClr val="178B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B77EC7-0F28-0482-CD49-057CDBB51D4C}"/>
              </a:ext>
            </a:extLst>
          </p:cNvPr>
          <p:cNvSpPr txBox="1"/>
          <p:nvPr/>
        </p:nvSpPr>
        <p:spPr>
          <a:xfrm>
            <a:off x="7073900" y="3619500"/>
            <a:ext cx="40259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>
                <a:solidFill>
                  <a:srgbClr val="FFFFFF"/>
                </a:solidFill>
                <a:latin typeface="Aptos" panose="020B0004020202020204" pitchFamily="34" charset="0"/>
              </a:rPr>
              <a:t>Rule-based validation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75FDABC-5EE5-21B8-AD6E-9C19E3D4FCDB}"/>
              </a:ext>
            </a:extLst>
          </p:cNvPr>
          <p:cNvSpPr/>
          <p:nvPr/>
        </p:nvSpPr>
        <p:spPr>
          <a:xfrm>
            <a:off x="1155700" y="4089400"/>
            <a:ext cx="101600" cy="101600"/>
          </a:xfrm>
          <a:prstGeom prst="ellipse">
            <a:avLst/>
          </a:prstGeom>
          <a:solidFill>
            <a:srgbClr val="E99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218CBD-37D4-63E5-161E-F35BE00F3767}"/>
              </a:ext>
            </a:extLst>
          </p:cNvPr>
          <p:cNvSpPr txBox="1"/>
          <p:nvPr/>
        </p:nvSpPr>
        <p:spPr>
          <a:xfrm>
            <a:off x="1397000" y="4051300"/>
            <a:ext cx="40259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>
                <a:solidFill>
                  <a:srgbClr val="182238"/>
                </a:solidFill>
                <a:latin typeface="Aptos" panose="020B0004020202020204" pitchFamily="34" charset="0"/>
              </a:rPr>
              <a:t>Email approval chasing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9A7BA6A-8022-1509-289A-386834C2CB41}"/>
              </a:ext>
            </a:extLst>
          </p:cNvPr>
          <p:cNvSpPr/>
          <p:nvPr/>
        </p:nvSpPr>
        <p:spPr>
          <a:xfrm>
            <a:off x="6832600" y="4089400"/>
            <a:ext cx="101600" cy="101600"/>
          </a:xfrm>
          <a:prstGeom prst="ellipse">
            <a:avLst/>
          </a:prstGeom>
          <a:solidFill>
            <a:srgbClr val="178B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297EA5-E063-51B1-CDD8-5BBB2C71522A}"/>
              </a:ext>
            </a:extLst>
          </p:cNvPr>
          <p:cNvSpPr txBox="1"/>
          <p:nvPr/>
        </p:nvSpPr>
        <p:spPr>
          <a:xfrm>
            <a:off x="7073900" y="4051300"/>
            <a:ext cx="40259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>
                <a:solidFill>
                  <a:srgbClr val="FFFFFF"/>
                </a:solidFill>
                <a:latin typeface="Aptos" panose="020B0004020202020204" pitchFamily="34" charset="0"/>
              </a:rPr>
              <a:t>Workflow approvals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38F1ED0-2B28-EEF3-53C7-42D4738BEE65}"/>
              </a:ext>
            </a:extLst>
          </p:cNvPr>
          <p:cNvSpPr/>
          <p:nvPr/>
        </p:nvSpPr>
        <p:spPr>
          <a:xfrm>
            <a:off x="1155700" y="4521200"/>
            <a:ext cx="101600" cy="101600"/>
          </a:xfrm>
          <a:prstGeom prst="ellipse">
            <a:avLst/>
          </a:prstGeom>
          <a:solidFill>
            <a:srgbClr val="E99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EBC83E-A7B0-1797-B138-CD1F146E9B49}"/>
              </a:ext>
            </a:extLst>
          </p:cNvPr>
          <p:cNvSpPr txBox="1"/>
          <p:nvPr/>
        </p:nvSpPr>
        <p:spPr>
          <a:xfrm>
            <a:off x="1397000" y="4483100"/>
            <a:ext cx="40259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>
                <a:solidFill>
                  <a:srgbClr val="182238"/>
                </a:solidFill>
                <a:latin typeface="Aptos" panose="020B0004020202020204" pitchFamily="34" charset="0"/>
              </a:rPr>
              <a:t>Payment follow-up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D443317-A344-D19E-EF17-60B53A7ACBC7}"/>
              </a:ext>
            </a:extLst>
          </p:cNvPr>
          <p:cNvSpPr/>
          <p:nvPr/>
        </p:nvSpPr>
        <p:spPr>
          <a:xfrm>
            <a:off x="6832600" y="4521200"/>
            <a:ext cx="101600" cy="101600"/>
          </a:xfrm>
          <a:prstGeom prst="ellipse">
            <a:avLst/>
          </a:prstGeom>
          <a:solidFill>
            <a:srgbClr val="178B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DE986C-C1ED-F375-14D8-B5C0E3B75773}"/>
              </a:ext>
            </a:extLst>
          </p:cNvPr>
          <p:cNvSpPr txBox="1"/>
          <p:nvPr/>
        </p:nvSpPr>
        <p:spPr>
          <a:xfrm>
            <a:off x="7073900" y="4483100"/>
            <a:ext cx="40259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>
                <a:solidFill>
                  <a:srgbClr val="FFFFFF"/>
                </a:solidFill>
                <a:latin typeface="Aptos" panose="020B0004020202020204" pitchFamily="34" charset="0"/>
              </a:rPr>
              <a:t>Payment visibility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6DE1624-3411-5D15-7AC7-DB01586454A2}"/>
              </a:ext>
            </a:extLst>
          </p:cNvPr>
          <p:cNvSpPr/>
          <p:nvPr/>
        </p:nvSpPr>
        <p:spPr>
          <a:xfrm>
            <a:off x="1155700" y="4953000"/>
            <a:ext cx="101600" cy="101600"/>
          </a:xfrm>
          <a:prstGeom prst="ellipse">
            <a:avLst/>
          </a:prstGeom>
          <a:solidFill>
            <a:srgbClr val="E99B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800FE3A-B627-EE5A-221E-400B7312DEBD}"/>
              </a:ext>
            </a:extLst>
          </p:cNvPr>
          <p:cNvSpPr txBox="1"/>
          <p:nvPr/>
        </p:nvSpPr>
        <p:spPr>
          <a:xfrm>
            <a:off x="1397000" y="4914900"/>
            <a:ext cx="40259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>
                <a:solidFill>
                  <a:srgbClr val="182238"/>
                </a:solidFill>
                <a:latin typeface="Aptos" panose="020B0004020202020204" pitchFamily="34" charset="0"/>
              </a:rPr>
              <a:t>Search reports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F0582F9-1099-EA36-1BC3-47E683A48E77}"/>
              </a:ext>
            </a:extLst>
          </p:cNvPr>
          <p:cNvSpPr/>
          <p:nvPr/>
        </p:nvSpPr>
        <p:spPr>
          <a:xfrm>
            <a:off x="6832600" y="4953000"/>
            <a:ext cx="101600" cy="101600"/>
          </a:xfrm>
          <a:prstGeom prst="ellipse">
            <a:avLst/>
          </a:prstGeom>
          <a:solidFill>
            <a:srgbClr val="178B6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96FD60-AAC2-8190-FA78-12DA7287EDA7}"/>
              </a:ext>
            </a:extLst>
          </p:cNvPr>
          <p:cNvSpPr txBox="1"/>
          <p:nvPr/>
        </p:nvSpPr>
        <p:spPr>
          <a:xfrm>
            <a:off x="7073900" y="4914900"/>
            <a:ext cx="40259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100">
                <a:solidFill>
                  <a:srgbClr val="FFFFFF"/>
                </a:solidFill>
                <a:latin typeface="Aptos" panose="020B0004020202020204" pitchFamily="34" charset="0"/>
              </a:rPr>
              <a:t>Ask the assistant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30B645-90FA-348B-7A8F-49AD5E964F3E}"/>
              </a:ext>
            </a:extLst>
          </p:cNvPr>
          <p:cNvSpPr txBox="1"/>
          <p:nvPr/>
        </p:nvSpPr>
        <p:spPr>
          <a:xfrm>
            <a:off x="774700" y="5943600"/>
            <a:ext cx="106045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400" b="1">
                <a:solidFill>
                  <a:srgbClr val="456BFF"/>
                </a:solidFill>
                <a:latin typeface="Aptos" panose="020B0004020202020204" pitchFamily="34" charset="0"/>
              </a:rPr>
              <a:t>LESS DATA ENTRY.  LESS FOLLOW-UP.  MORE CONTROL.</a:t>
            </a:r>
            <a:endParaRPr lang="en-IN" sz="1400" b="1">
              <a:solidFill>
                <a:srgbClr val="456B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7944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3A36D4-90FD-4155-AF04-B315060DB562}"/>
              </a:ext>
            </a:extLst>
          </p:cNvPr>
          <p:cNvSpPr txBox="1"/>
          <p:nvPr/>
        </p:nvSpPr>
        <p:spPr>
          <a:xfrm>
            <a:off x="685800" y="304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PAYOPS / BUSINESS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F7A1EC-D883-DD9F-F65A-53C996591322}"/>
              </a:ext>
            </a:extLst>
          </p:cNvPr>
          <p:cNvSpPr txBox="1"/>
          <p:nvPr/>
        </p:nvSpPr>
        <p:spPr>
          <a:xfrm>
            <a:off x="685800" y="6477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2700" b="1">
                <a:solidFill>
                  <a:srgbClr val="182238"/>
                </a:solidFill>
                <a:latin typeface="Aptos" panose="020B0004020202020204" pitchFamily="34" charset="0"/>
              </a:rPr>
              <a:t>Where PayOps is going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15C87F8-10CE-5ECC-F9F1-6E22B55D0FD8}"/>
              </a:ext>
            </a:extLst>
          </p:cNvPr>
          <p:cNvCxnSpPr/>
          <p:nvPr/>
        </p:nvCxnSpPr>
        <p:spPr>
          <a:xfrm>
            <a:off x="685800" y="1422400"/>
            <a:ext cx="10820400" cy="0"/>
          </a:xfrm>
          <a:prstGeom prst="straightConnector1">
            <a:avLst/>
          </a:prstGeom>
          <a:ln w="12700">
            <a:solidFill>
              <a:srgbClr val="E4E9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03C3858-5EE4-FAB7-6653-201D291F53A0}"/>
              </a:ext>
            </a:extLst>
          </p:cNvPr>
          <p:cNvSpPr txBox="1"/>
          <p:nvPr/>
        </p:nvSpPr>
        <p:spPr>
          <a:xfrm>
            <a:off x="685800" y="6489700"/>
            <a:ext cx="6350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PAYOPS  ·  INVOICE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D82AC9-8274-64EA-6BC8-F850E37E38A5}"/>
              </a:ext>
            </a:extLst>
          </p:cNvPr>
          <p:cNvSpPr txBox="1"/>
          <p:nvPr/>
        </p:nvSpPr>
        <p:spPr>
          <a:xfrm>
            <a:off x="11049000" y="64897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800" b="1">
                <a:solidFill>
                  <a:srgbClr val="68758C"/>
                </a:solidFill>
                <a:latin typeface="Aptos" panose="020B0004020202020204" pitchFamily="34" charset="0"/>
              </a:rPr>
              <a:t>24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367CD96-A271-4FC9-7DC5-57066FEE21BA}"/>
              </a:ext>
            </a:extLst>
          </p:cNvPr>
          <p:cNvSpPr/>
          <p:nvPr/>
        </p:nvSpPr>
        <p:spPr>
          <a:xfrm>
            <a:off x="762000" y="2235200"/>
            <a:ext cx="3327400" cy="2552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B649195-44BE-5203-B274-E9FFC0C9BA13}"/>
              </a:ext>
            </a:extLst>
          </p:cNvPr>
          <p:cNvSpPr/>
          <p:nvPr/>
        </p:nvSpPr>
        <p:spPr>
          <a:xfrm>
            <a:off x="1003300" y="2489200"/>
            <a:ext cx="1155700" cy="304800"/>
          </a:xfrm>
          <a:prstGeom prst="roundRect">
            <a:avLst/>
          </a:prstGeom>
          <a:solidFill>
            <a:srgbClr val="F1E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B936A1-45ED-1121-E5FC-22EF4D562626}"/>
              </a:ext>
            </a:extLst>
          </p:cNvPr>
          <p:cNvSpPr txBox="1"/>
          <p:nvPr/>
        </p:nvSpPr>
        <p:spPr>
          <a:xfrm>
            <a:off x="1092200" y="2540000"/>
            <a:ext cx="9779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456BFF"/>
                </a:solidFill>
                <a:latin typeface="Aptos" panose="020B0004020202020204" pitchFamily="34" charset="0"/>
              </a:rPr>
              <a:t>PHASE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D933D9-B28E-0EBA-9AED-022AA9EA8369}"/>
              </a:ext>
            </a:extLst>
          </p:cNvPr>
          <p:cNvSpPr txBox="1"/>
          <p:nvPr/>
        </p:nvSpPr>
        <p:spPr>
          <a:xfrm>
            <a:off x="1003300" y="3086100"/>
            <a:ext cx="28575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b="1">
                <a:solidFill>
                  <a:srgbClr val="182238"/>
                </a:solidFill>
                <a:latin typeface="Aptos" panose="020B0004020202020204" pitchFamily="34" charset="0"/>
              </a:rPr>
              <a:t>INVOICE INTELLIGENCE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2CA362-3C01-B03F-6D0D-7CCB38077F97}"/>
              </a:ext>
            </a:extLst>
          </p:cNvPr>
          <p:cNvSpPr txBox="1"/>
          <p:nvPr/>
        </p:nvSpPr>
        <p:spPr>
          <a:xfrm>
            <a:off x="1003300" y="3733800"/>
            <a:ext cx="28575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>
                <a:solidFill>
                  <a:srgbClr val="68758C"/>
                </a:solidFill>
                <a:latin typeface="Aptos" panose="020B0004020202020204" pitchFamily="34" charset="0"/>
              </a:rPr>
              <a:t>Extract · validate · detect duplicates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063987E-309A-16FC-A965-7779E6DE2C57}"/>
              </a:ext>
            </a:extLst>
          </p:cNvPr>
          <p:cNvCxnSpPr/>
          <p:nvPr/>
        </p:nvCxnSpPr>
        <p:spPr>
          <a:xfrm>
            <a:off x="4089400" y="3479800"/>
            <a:ext cx="304800" cy="0"/>
          </a:xfrm>
          <a:prstGeom prst="straightConnector1">
            <a:avLst/>
          </a:prstGeom>
          <a:ln w="19050">
            <a:solidFill>
              <a:srgbClr val="45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CE5889B-1601-2D10-EB57-65C32B524CAC}"/>
              </a:ext>
            </a:extLst>
          </p:cNvPr>
          <p:cNvSpPr/>
          <p:nvPr/>
        </p:nvSpPr>
        <p:spPr>
          <a:xfrm>
            <a:off x="4394200" y="2235200"/>
            <a:ext cx="3327400" cy="2552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EDDD73C-2D94-D59F-D066-9ED90D78673A}"/>
              </a:ext>
            </a:extLst>
          </p:cNvPr>
          <p:cNvSpPr/>
          <p:nvPr/>
        </p:nvSpPr>
        <p:spPr>
          <a:xfrm>
            <a:off x="4635500" y="2489200"/>
            <a:ext cx="1155700" cy="304800"/>
          </a:xfrm>
          <a:prstGeom prst="roundRect">
            <a:avLst/>
          </a:prstGeom>
          <a:solidFill>
            <a:srgbClr val="F1E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2AE20F-BA33-C5D5-3A5E-6E597EA7B182}"/>
              </a:ext>
            </a:extLst>
          </p:cNvPr>
          <p:cNvSpPr txBox="1"/>
          <p:nvPr/>
        </p:nvSpPr>
        <p:spPr>
          <a:xfrm>
            <a:off x="4724400" y="2540000"/>
            <a:ext cx="9779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8666F5"/>
                </a:solidFill>
                <a:latin typeface="Aptos" panose="020B0004020202020204" pitchFamily="34" charset="0"/>
              </a:rPr>
              <a:t>PHASE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9F2652-8AA9-2E7E-4839-63A57011DCF5}"/>
              </a:ext>
            </a:extLst>
          </p:cNvPr>
          <p:cNvSpPr txBox="1"/>
          <p:nvPr/>
        </p:nvSpPr>
        <p:spPr>
          <a:xfrm>
            <a:off x="4635500" y="3086100"/>
            <a:ext cx="28575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b="1">
                <a:solidFill>
                  <a:srgbClr val="182238"/>
                </a:solidFill>
                <a:latin typeface="Aptos" panose="020B0004020202020204" pitchFamily="34" charset="0"/>
              </a:rPr>
              <a:t>INVOICE OPERATIONS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D15A5C-267A-EBC0-AD1A-487EFA3F5574}"/>
              </a:ext>
            </a:extLst>
          </p:cNvPr>
          <p:cNvSpPr txBox="1"/>
          <p:nvPr/>
        </p:nvSpPr>
        <p:spPr>
          <a:xfrm>
            <a:off x="4635500" y="3733800"/>
            <a:ext cx="28575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200">
                <a:solidFill>
                  <a:srgbClr val="68758C"/>
                </a:solidFill>
                <a:latin typeface="Aptos" panose="020B0004020202020204" pitchFamily="34" charset="0"/>
              </a:rPr>
              <a:t>Approvals · payments · vendors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60B131E-76A5-F042-F75D-ACD6397A2509}"/>
              </a:ext>
            </a:extLst>
          </p:cNvPr>
          <p:cNvCxnSpPr/>
          <p:nvPr/>
        </p:nvCxnSpPr>
        <p:spPr>
          <a:xfrm>
            <a:off x="7721600" y="3479800"/>
            <a:ext cx="304800" cy="0"/>
          </a:xfrm>
          <a:prstGeom prst="straightConnector1">
            <a:avLst/>
          </a:prstGeom>
          <a:ln w="19050">
            <a:solidFill>
              <a:srgbClr val="45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F91E1D7-DFEF-6316-69C0-16AD00503427}"/>
              </a:ext>
            </a:extLst>
          </p:cNvPr>
          <p:cNvSpPr/>
          <p:nvPr/>
        </p:nvSpPr>
        <p:spPr>
          <a:xfrm>
            <a:off x="8026400" y="2235200"/>
            <a:ext cx="3327400" cy="2552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A84E9D9-78E1-9095-E22A-DCA785E46CBB}"/>
              </a:ext>
            </a:extLst>
          </p:cNvPr>
          <p:cNvSpPr/>
          <p:nvPr/>
        </p:nvSpPr>
        <p:spPr>
          <a:xfrm>
            <a:off x="8267700" y="2489200"/>
            <a:ext cx="1155700" cy="304800"/>
          </a:xfrm>
          <a:prstGeom prst="roundRect">
            <a:avLst/>
          </a:prstGeom>
          <a:solidFill>
            <a:srgbClr val="F1E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67D631-EC8D-0F43-6FF2-4C69537EE08E}"/>
              </a:ext>
            </a:extLst>
          </p:cNvPr>
          <p:cNvSpPr txBox="1"/>
          <p:nvPr/>
        </p:nvSpPr>
        <p:spPr>
          <a:xfrm>
            <a:off x="8356600" y="2540000"/>
            <a:ext cx="9779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IN" sz="900" b="1">
                <a:solidFill>
                  <a:srgbClr val="178B69"/>
                </a:solidFill>
                <a:latin typeface="Aptos" panose="020B0004020202020204" pitchFamily="34" charset="0"/>
              </a:rPr>
              <a:t>PHASE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7655D9-13AA-5B17-3BA5-4FC5D6179C47}"/>
              </a:ext>
            </a:extLst>
          </p:cNvPr>
          <p:cNvSpPr txBox="1"/>
          <p:nvPr/>
        </p:nvSpPr>
        <p:spPr>
          <a:xfrm>
            <a:off x="8267700" y="3086100"/>
            <a:ext cx="28575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b="1">
                <a:solidFill>
                  <a:srgbClr val="182238"/>
                </a:solidFill>
                <a:latin typeface="Aptos" panose="020B0004020202020204" pitchFamily="34" charset="0"/>
              </a:rPr>
              <a:t>AI FINANCE OPERATIONS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3D5E61-822F-EF77-83B5-80492071EAAB}"/>
              </a:ext>
            </a:extLst>
          </p:cNvPr>
          <p:cNvSpPr txBox="1"/>
          <p:nvPr/>
        </p:nvSpPr>
        <p:spPr>
          <a:xfrm>
            <a:off x="8267700" y="3733800"/>
            <a:ext cx="28575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200">
                <a:solidFill>
                  <a:srgbClr val="68758C"/>
                </a:solidFill>
                <a:latin typeface="Aptos" panose="020B0004020202020204" pitchFamily="34" charset="0"/>
              </a:rPr>
              <a:t>Agent · predictive alerts · cash-flow insight</a:t>
            </a:r>
            <a:endParaRPr lang="en-IN" sz="1200">
              <a:solidFill>
                <a:srgbClr val="68758C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A7F590-2C02-FC4D-89A2-562E0885B2A6}"/>
              </a:ext>
            </a:extLst>
          </p:cNvPr>
          <p:cNvSpPr txBox="1"/>
          <p:nvPr/>
        </p:nvSpPr>
        <p:spPr>
          <a:xfrm>
            <a:off x="927100" y="5359400"/>
            <a:ext cx="103505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600" b="1">
                <a:solidFill>
                  <a:srgbClr val="182238"/>
                </a:solidFill>
                <a:latin typeface="Aptos" panose="020B0004020202020204" pitchFamily="34" charset="0"/>
              </a:rPr>
              <a:t>Build the intelligent operating layer between invoices and business payments.</a:t>
            </a:r>
            <a:endParaRPr lang="en-IN" sz="1600" b="1">
              <a:solidFill>
                <a:srgbClr val="18223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3408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9B1AAA-79B7-04AD-2A9E-35B18CB1E9ED}"/>
              </a:ext>
            </a:extLst>
          </p:cNvPr>
          <p:cNvSpPr txBox="1"/>
          <p:nvPr/>
        </p:nvSpPr>
        <p:spPr>
          <a:xfrm>
            <a:off x="787400" y="5461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456BFF"/>
                </a:solidFill>
                <a:latin typeface="Aptos" panose="020B0004020202020204" pitchFamily="34" charset="0"/>
              </a:rPr>
              <a:t>PAYOPS  /  THE FUTURE OF AP</a:t>
            </a:r>
            <a:endParaRPr lang="en-IN" sz="1000" b="1">
              <a:solidFill>
                <a:srgbClr val="456BFF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8B5F51-ACE8-FF6D-F9F0-EFF877DE5C33}"/>
              </a:ext>
            </a:extLst>
          </p:cNvPr>
          <p:cNvSpPr txBox="1"/>
          <p:nvPr/>
        </p:nvSpPr>
        <p:spPr>
          <a:xfrm>
            <a:off x="787400" y="1600200"/>
            <a:ext cx="10033000" cy="53860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3500" b="1">
                <a:solidFill>
                  <a:srgbClr val="FFFFFF"/>
                </a:solidFill>
                <a:latin typeface="Aptos" panose="020B0004020202020204" pitchFamily="34" charset="0"/>
              </a:rPr>
              <a:t>Invoices In. Intelligence Out.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02A400-7FFF-8F66-DBD1-54D8A3FC6241}"/>
              </a:ext>
            </a:extLst>
          </p:cNvPr>
          <p:cNvSpPr txBox="1"/>
          <p:nvPr/>
        </p:nvSpPr>
        <p:spPr>
          <a:xfrm>
            <a:off x="825500" y="2590800"/>
            <a:ext cx="100330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sz="1700">
                <a:solidFill>
                  <a:srgbClr val="C9D4E9"/>
                </a:solidFill>
                <a:latin typeface="Aptos" panose="020B0004020202020204" pitchFamily="34" charset="0"/>
              </a:rPr>
              <a:t>Transform invoice processing from a manual back-office task into an intelligent business operation.</a:t>
            </a:r>
            <a:endParaRPr lang="en-IN" sz="1700">
              <a:solidFill>
                <a:srgbClr val="C9D4E9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8548B5-3FBA-365C-C39A-B85E6F6553B7}"/>
              </a:ext>
            </a:extLst>
          </p:cNvPr>
          <p:cNvSpPr/>
          <p:nvPr/>
        </p:nvSpPr>
        <p:spPr>
          <a:xfrm>
            <a:off x="774700" y="4089400"/>
            <a:ext cx="1346200" cy="850900"/>
          </a:xfrm>
          <a:prstGeom prst="roundRect">
            <a:avLst/>
          </a:prstGeom>
          <a:solidFill>
            <a:srgbClr val="202B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ECBDAA-DAEC-D3A7-D894-F302EDFEA3AA}"/>
              </a:ext>
            </a:extLst>
          </p:cNvPr>
          <p:cNvSpPr txBox="1"/>
          <p:nvPr/>
        </p:nvSpPr>
        <p:spPr>
          <a:xfrm>
            <a:off x="927100" y="4216400"/>
            <a:ext cx="1041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8666F5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2FFAFA-F9E2-DFA8-7634-8691D7F7DECC}"/>
              </a:ext>
            </a:extLst>
          </p:cNvPr>
          <p:cNvSpPr txBox="1"/>
          <p:nvPr/>
        </p:nvSpPr>
        <p:spPr>
          <a:xfrm>
            <a:off x="927100" y="4483100"/>
            <a:ext cx="1092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ptos" panose="020B0004020202020204" pitchFamily="34" charset="0"/>
              </a:rPr>
              <a:t>INGEST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D1FC507-997C-9A66-75BB-C42BF7998D90}"/>
              </a:ext>
            </a:extLst>
          </p:cNvPr>
          <p:cNvCxnSpPr/>
          <p:nvPr/>
        </p:nvCxnSpPr>
        <p:spPr>
          <a:xfrm>
            <a:off x="2120900" y="4508500"/>
            <a:ext cx="215900" cy="0"/>
          </a:xfrm>
          <a:prstGeom prst="straightConnector1">
            <a:avLst/>
          </a:prstGeom>
          <a:ln w="17780">
            <a:solidFill>
              <a:srgbClr val="566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5B8585E-A3F3-EA49-5A99-0947CA70543F}"/>
              </a:ext>
            </a:extLst>
          </p:cNvPr>
          <p:cNvSpPr/>
          <p:nvPr/>
        </p:nvSpPr>
        <p:spPr>
          <a:xfrm>
            <a:off x="2336800" y="4089400"/>
            <a:ext cx="1346200" cy="850900"/>
          </a:xfrm>
          <a:prstGeom prst="roundRect">
            <a:avLst/>
          </a:prstGeom>
          <a:solidFill>
            <a:srgbClr val="202B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18854D-5784-3830-0EA8-BA23F7F08934}"/>
              </a:ext>
            </a:extLst>
          </p:cNvPr>
          <p:cNvSpPr txBox="1"/>
          <p:nvPr/>
        </p:nvSpPr>
        <p:spPr>
          <a:xfrm>
            <a:off x="2489200" y="4216400"/>
            <a:ext cx="1041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8666F5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69C53D-7C1D-A865-D4B2-101CE7263945}"/>
              </a:ext>
            </a:extLst>
          </p:cNvPr>
          <p:cNvSpPr txBox="1"/>
          <p:nvPr/>
        </p:nvSpPr>
        <p:spPr>
          <a:xfrm>
            <a:off x="2489200" y="4483100"/>
            <a:ext cx="1092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ptos" panose="020B0004020202020204" pitchFamily="34" charset="0"/>
              </a:rPr>
              <a:t>UNDERSTAND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E34879-6B4B-831D-D0DD-CED0E6D5333F}"/>
              </a:ext>
            </a:extLst>
          </p:cNvPr>
          <p:cNvCxnSpPr/>
          <p:nvPr/>
        </p:nvCxnSpPr>
        <p:spPr>
          <a:xfrm>
            <a:off x="3683000" y="4508500"/>
            <a:ext cx="215900" cy="0"/>
          </a:xfrm>
          <a:prstGeom prst="straightConnector1">
            <a:avLst/>
          </a:prstGeom>
          <a:ln w="17780">
            <a:solidFill>
              <a:srgbClr val="566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7824D9A-3D19-B7DA-BD70-759CE498A46D}"/>
              </a:ext>
            </a:extLst>
          </p:cNvPr>
          <p:cNvSpPr/>
          <p:nvPr/>
        </p:nvSpPr>
        <p:spPr>
          <a:xfrm>
            <a:off x="3898900" y="4089400"/>
            <a:ext cx="1346200" cy="850900"/>
          </a:xfrm>
          <a:prstGeom prst="roundRect">
            <a:avLst/>
          </a:prstGeom>
          <a:solidFill>
            <a:srgbClr val="202B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F49873-751E-507C-0F50-2F898EA7EFA8}"/>
              </a:ext>
            </a:extLst>
          </p:cNvPr>
          <p:cNvSpPr txBox="1"/>
          <p:nvPr/>
        </p:nvSpPr>
        <p:spPr>
          <a:xfrm>
            <a:off x="4051300" y="4216400"/>
            <a:ext cx="1041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8666F5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118FDA-B97E-9CF8-5A10-A08B444B3960}"/>
              </a:ext>
            </a:extLst>
          </p:cNvPr>
          <p:cNvSpPr txBox="1"/>
          <p:nvPr/>
        </p:nvSpPr>
        <p:spPr>
          <a:xfrm>
            <a:off x="4051300" y="4483100"/>
            <a:ext cx="1092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ptos" panose="020B0004020202020204" pitchFamily="34" charset="0"/>
              </a:rPr>
              <a:t>VALIDATE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A670B8B-8363-97D7-A328-EF528EB2121C}"/>
              </a:ext>
            </a:extLst>
          </p:cNvPr>
          <p:cNvCxnSpPr/>
          <p:nvPr/>
        </p:nvCxnSpPr>
        <p:spPr>
          <a:xfrm>
            <a:off x="5245100" y="4508500"/>
            <a:ext cx="215900" cy="0"/>
          </a:xfrm>
          <a:prstGeom prst="straightConnector1">
            <a:avLst/>
          </a:prstGeom>
          <a:ln w="17780">
            <a:solidFill>
              <a:srgbClr val="566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E854D3E-2589-9AD4-1FAC-C59491523915}"/>
              </a:ext>
            </a:extLst>
          </p:cNvPr>
          <p:cNvSpPr/>
          <p:nvPr/>
        </p:nvSpPr>
        <p:spPr>
          <a:xfrm>
            <a:off x="5461000" y="4089400"/>
            <a:ext cx="1346200" cy="850900"/>
          </a:xfrm>
          <a:prstGeom prst="roundRect">
            <a:avLst/>
          </a:prstGeom>
          <a:solidFill>
            <a:srgbClr val="202B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63A05D-F63B-9DE8-D076-619AC8E65A24}"/>
              </a:ext>
            </a:extLst>
          </p:cNvPr>
          <p:cNvSpPr txBox="1"/>
          <p:nvPr/>
        </p:nvSpPr>
        <p:spPr>
          <a:xfrm>
            <a:off x="5613400" y="4216400"/>
            <a:ext cx="1041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8666F5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E94EAE-BDA5-F5AA-66AA-48F61BAE7807}"/>
              </a:ext>
            </a:extLst>
          </p:cNvPr>
          <p:cNvSpPr txBox="1"/>
          <p:nvPr/>
        </p:nvSpPr>
        <p:spPr>
          <a:xfrm>
            <a:off x="5613400" y="4483100"/>
            <a:ext cx="1092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ptos" panose="020B0004020202020204" pitchFamily="34" charset="0"/>
              </a:rPr>
              <a:t>DECIDE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8AD123E-4A30-4E32-EE72-27EDE1AA2F59}"/>
              </a:ext>
            </a:extLst>
          </p:cNvPr>
          <p:cNvCxnSpPr/>
          <p:nvPr/>
        </p:nvCxnSpPr>
        <p:spPr>
          <a:xfrm>
            <a:off x="6807200" y="4508500"/>
            <a:ext cx="215900" cy="0"/>
          </a:xfrm>
          <a:prstGeom prst="straightConnector1">
            <a:avLst/>
          </a:prstGeom>
          <a:ln w="17780">
            <a:solidFill>
              <a:srgbClr val="566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2CE9625-C7E4-AE2A-4B20-EDF52F1C5704}"/>
              </a:ext>
            </a:extLst>
          </p:cNvPr>
          <p:cNvSpPr/>
          <p:nvPr/>
        </p:nvSpPr>
        <p:spPr>
          <a:xfrm>
            <a:off x="7023100" y="4089400"/>
            <a:ext cx="1346200" cy="850900"/>
          </a:xfrm>
          <a:prstGeom prst="roundRect">
            <a:avLst/>
          </a:prstGeom>
          <a:solidFill>
            <a:srgbClr val="202B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9327FB-1E2E-F4E4-4DAE-A8A938FD45F8}"/>
              </a:ext>
            </a:extLst>
          </p:cNvPr>
          <p:cNvSpPr txBox="1"/>
          <p:nvPr/>
        </p:nvSpPr>
        <p:spPr>
          <a:xfrm>
            <a:off x="7175500" y="4216400"/>
            <a:ext cx="1041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8666F5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6AE7A4-6D6C-9FF5-77EC-10761FE89DD4}"/>
              </a:ext>
            </a:extLst>
          </p:cNvPr>
          <p:cNvSpPr txBox="1"/>
          <p:nvPr/>
        </p:nvSpPr>
        <p:spPr>
          <a:xfrm>
            <a:off x="7175500" y="4483100"/>
            <a:ext cx="1092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ptos" panose="020B0004020202020204" pitchFamily="34" charset="0"/>
              </a:rPr>
              <a:t>APPROVE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56B19AD-CD51-6D46-47BF-906B8202929F}"/>
              </a:ext>
            </a:extLst>
          </p:cNvPr>
          <p:cNvCxnSpPr/>
          <p:nvPr/>
        </p:nvCxnSpPr>
        <p:spPr>
          <a:xfrm>
            <a:off x="8369300" y="4508500"/>
            <a:ext cx="215900" cy="0"/>
          </a:xfrm>
          <a:prstGeom prst="straightConnector1">
            <a:avLst/>
          </a:prstGeom>
          <a:ln w="17780">
            <a:solidFill>
              <a:srgbClr val="566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E7CAB89-C83B-920B-B97B-107AA971DA1E}"/>
              </a:ext>
            </a:extLst>
          </p:cNvPr>
          <p:cNvSpPr/>
          <p:nvPr/>
        </p:nvSpPr>
        <p:spPr>
          <a:xfrm>
            <a:off x="8585200" y="4089400"/>
            <a:ext cx="1346200" cy="850900"/>
          </a:xfrm>
          <a:prstGeom prst="roundRect">
            <a:avLst/>
          </a:prstGeom>
          <a:solidFill>
            <a:srgbClr val="202B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742AC5-163B-F834-B32F-1131B9BFBC64}"/>
              </a:ext>
            </a:extLst>
          </p:cNvPr>
          <p:cNvSpPr txBox="1"/>
          <p:nvPr/>
        </p:nvSpPr>
        <p:spPr>
          <a:xfrm>
            <a:off x="8737600" y="4216400"/>
            <a:ext cx="1041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8666F5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61B037-55D3-70EC-5F6C-6E06FD3A3377}"/>
              </a:ext>
            </a:extLst>
          </p:cNvPr>
          <p:cNvSpPr txBox="1"/>
          <p:nvPr/>
        </p:nvSpPr>
        <p:spPr>
          <a:xfrm>
            <a:off x="8737600" y="4483100"/>
            <a:ext cx="1092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ptos" panose="020B0004020202020204" pitchFamily="34" charset="0"/>
              </a:rPr>
              <a:t>PAY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7F12367-5534-B8E4-39B4-D77D59C9365B}"/>
              </a:ext>
            </a:extLst>
          </p:cNvPr>
          <p:cNvCxnSpPr/>
          <p:nvPr/>
        </p:nvCxnSpPr>
        <p:spPr>
          <a:xfrm>
            <a:off x="9931400" y="4508500"/>
            <a:ext cx="215900" cy="0"/>
          </a:xfrm>
          <a:prstGeom prst="straightConnector1">
            <a:avLst/>
          </a:prstGeom>
          <a:ln w="17780">
            <a:solidFill>
              <a:srgbClr val="566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9C37C61-ADFB-51CD-553A-BB7BE676396B}"/>
              </a:ext>
            </a:extLst>
          </p:cNvPr>
          <p:cNvSpPr/>
          <p:nvPr/>
        </p:nvSpPr>
        <p:spPr>
          <a:xfrm>
            <a:off x="10147300" y="4089400"/>
            <a:ext cx="1346200" cy="850900"/>
          </a:xfrm>
          <a:prstGeom prst="roundRect">
            <a:avLst/>
          </a:prstGeom>
          <a:solidFill>
            <a:srgbClr val="202B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891E0F-40DA-9EC3-A2C7-BC0C98AFC69D}"/>
              </a:ext>
            </a:extLst>
          </p:cNvPr>
          <p:cNvSpPr txBox="1"/>
          <p:nvPr/>
        </p:nvSpPr>
        <p:spPr>
          <a:xfrm>
            <a:off x="10299700" y="4216400"/>
            <a:ext cx="1041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900" b="1">
                <a:solidFill>
                  <a:srgbClr val="8666F5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F447B5-5399-1012-5EA0-1AA7A29C612D}"/>
              </a:ext>
            </a:extLst>
          </p:cNvPr>
          <p:cNvSpPr txBox="1"/>
          <p:nvPr/>
        </p:nvSpPr>
        <p:spPr>
          <a:xfrm>
            <a:off x="10299700" y="4483100"/>
            <a:ext cx="10922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ptos" panose="020B0004020202020204" pitchFamily="34" charset="0"/>
              </a:rPr>
              <a:t>OPTIMIZE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8FCA07-6379-2874-97FA-15BE0BFBD2CF}"/>
              </a:ext>
            </a:extLst>
          </p:cNvPr>
          <p:cNvSpPr txBox="1"/>
          <p:nvPr/>
        </p:nvSpPr>
        <p:spPr>
          <a:xfrm>
            <a:off x="838200" y="5562600"/>
            <a:ext cx="104140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The future of Accounts Payable is not more software. It is intelligent operations.</a:t>
            </a:r>
            <a:endParaRPr lang="en-IN" sz="1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C26C90-7F46-A03B-28F4-B9C9C2DF7082}"/>
              </a:ext>
            </a:extLst>
          </p:cNvPr>
          <p:cNvSpPr txBox="1"/>
          <p:nvPr/>
        </p:nvSpPr>
        <p:spPr>
          <a:xfrm>
            <a:off x="11049000" y="64897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IN" sz="800" b="1">
                <a:solidFill>
                  <a:srgbClr val="AEBAD0"/>
                </a:solidFill>
                <a:latin typeface="Aptos" panose="020B0004020202020204" pitchFamily="34" charset="0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284414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db29ff9-328f-40bc-bdc5-3c7b0421d507}" enabled="1" method="Standard" siteId="{0da2a83b-13d9-4a35-965f-ec53a220ed9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1687</Words>
  <Application>Microsoft Office PowerPoint</Application>
  <PresentationFormat>Custom</PresentationFormat>
  <Paragraphs>408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Yokogawa India Limited.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Paswan, Shiv Kumar (Shivkumar.Paswan@yokogawa.com)</dc:creator>
  <cp:lastModifiedBy>Paswan, Shiv Kumar (Shivkumar.Paswan@yokogawa.com)</cp:lastModifiedBy>
  <cp:revision>1</cp:revision>
  <dcterms:created xsi:type="dcterms:W3CDTF">2026-10-16T05:30:26Z</dcterms:created>
  <dcterms:modified xsi:type="dcterms:W3CDTF">2026-10-16T05:30:26Z</dcterms:modified>
</cp:coreProperties>
</file>