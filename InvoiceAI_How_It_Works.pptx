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t>InvoiceAI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93C5FD"/>
                </a:solidFill>
              </a:defRPr>
            </a:pPr>
            <a:r>
              <a:t>AI-Powered Invoice Operations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474720"/>
            <a:ext cx="100584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How it works — from invoice upload to payment tracking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1. Problem We Solve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Manual invoice processing creates operational overhead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• Invoices arrive through PDF, email, WhatsApp, scans and photos.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• Teams manually enter vendor, invoice, GST, amount and due-date information.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• Errors, duplicate invoices and missed due dates can create financial leakage.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• Approval and payment status are often tracked across spreadsheets and messages.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• InvoiceAI centralizes the invoice lifecycle in one workflow.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2. End-to-End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2240280"/>
            <a:ext cx="160020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Invoice</a:t>
            </a:r>
            <a:br/>
            <a:r>
              <a:t>Input</a:t>
            </a:r>
          </a:p>
        </p:txBody>
      </p:sp>
      <p:sp>
        <p:nvSpPr>
          <p:cNvPr id="5" name="Chevron 4"/>
          <p:cNvSpPr/>
          <p:nvPr/>
        </p:nvSpPr>
        <p:spPr>
          <a:xfrm>
            <a:off x="2057400" y="2560320"/>
            <a:ext cx="502920" cy="384048"/>
          </a:xfrm>
          <a:prstGeom prst="chevron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267712" y="2240280"/>
            <a:ext cx="160020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OCR /</a:t>
            </a:r>
            <a:br/>
            <a:r>
              <a:t>Extraction</a:t>
            </a:r>
          </a:p>
        </p:txBody>
      </p:sp>
      <p:sp>
        <p:nvSpPr>
          <p:cNvPr id="7" name="Chevron 6"/>
          <p:cNvSpPr/>
          <p:nvPr/>
        </p:nvSpPr>
        <p:spPr>
          <a:xfrm>
            <a:off x="3959352" y="2560320"/>
            <a:ext cx="502920" cy="384048"/>
          </a:xfrm>
          <a:prstGeom prst="chevron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169664" y="2240280"/>
            <a:ext cx="160020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AI</a:t>
            </a:r>
            <a:br/>
            <a:r>
              <a:t>Validation</a:t>
            </a:r>
          </a:p>
        </p:txBody>
      </p:sp>
      <p:sp>
        <p:nvSpPr>
          <p:cNvPr id="9" name="Chevron 8"/>
          <p:cNvSpPr/>
          <p:nvPr/>
        </p:nvSpPr>
        <p:spPr>
          <a:xfrm>
            <a:off x="5861304" y="2560320"/>
            <a:ext cx="502920" cy="384048"/>
          </a:xfrm>
          <a:prstGeom prst="chevron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071616" y="2240280"/>
            <a:ext cx="160020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Workflow &amp;</a:t>
            </a:r>
            <a:br/>
            <a:r>
              <a:t>Approval</a:t>
            </a:r>
          </a:p>
        </p:txBody>
      </p:sp>
      <p:sp>
        <p:nvSpPr>
          <p:cNvPr id="11" name="Chevron 10"/>
          <p:cNvSpPr/>
          <p:nvPr/>
        </p:nvSpPr>
        <p:spPr>
          <a:xfrm>
            <a:off x="7763256" y="2560320"/>
            <a:ext cx="502920" cy="384048"/>
          </a:xfrm>
          <a:prstGeom prst="chevron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973568" y="2240280"/>
            <a:ext cx="160020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Payment</a:t>
            </a:r>
            <a:br/>
            <a:r>
              <a:t>Tracking</a:t>
            </a:r>
          </a:p>
        </p:txBody>
      </p:sp>
      <p:sp>
        <p:nvSpPr>
          <p:cNvPr id="13" name="Chevron 12"/>
          <p:cNvSpPr/>
          <p:nvPr/>
        </p:nvSpPr>
        <p:spPr>
          <a:xfrm>
            <a:off x="9665208" y="2560320"/>
            <a:ext cx="502920" cy="384048"/>
          </a:xfrm>
          <a:prstGeom prst="chevron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875520" y="2240280"/>
            <a:ext cx="1600200" cy="1005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AI</a:t>
            </a:r>
            <a:br/>
            <a:r>
              <a:t>Assistant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77639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F172A"/>
                </a:solidFill>
              </a:defRPr>
            </a:pPr>
            <a:r>
              <a:t>Ingestion → Extraction → Validation → Business action → Payment visibility → AI insights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3. Invoice Ingestion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Multiple ways to bring invoices into the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087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• Web upload: PDF / PNG / JPG / JPEG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• Email or connected intake channels can feed the same processing pipeline.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• Backend stores the original file and creates a processing record.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• File validation prevents unsupported uploads.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• Invoice then enters OCR / document extraction.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4. AI Invoice Extraction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Unstructured documents become structured business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94560"/>
            <a:ext cx="2011680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PDF / Image</a:t>
            </a:r>
          </a:p>
        </p:txBody>
      </p:sp>
      <p:sp>
        <p:nvSpPr>
          <p:cNvPr id="6" name="Chevron 5"/>
          <p:cNvSpPr/>
          <p:nvPr/>
        </p:nvSpPr>
        <p:spPr>
          <a:xfrm>
            <a:off x="2971800" y="2532888"/>
            <a:ext cx="502920" cy="384048"/>
          </a:xfrm>
          <a:prstGeom prst="chevron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566160" y="2194560"/>
            <a:ext cx="2286000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OCR + Document</a:t>
            </a:r>
            <a:br/>
            <a:r>
              <a:t>Understanding</a:t>
            </a:r>
          </a:p>
        </p:txBody>
      </p:sp>
      <p:sp>
        <p:nvSpPr>
          <p:cNvPr id="8" name="Chevron 7"/>
          <p:cNvSpPr/>
          <p:nvPr/>
        </p:nvSpPr>
        <p:spPr>
          <a:xfrm>
            <a:off x="6126480" y="2532888"/>
            <a:ext cx="502920" cy="384048"/>
          </a:xfrm>
          <a:prstGeom prst="chevron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720840" y="2194560"/>
            <a:ext cx="2103120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Structured</a:t>
            </a:r>
            <a:br/>
            <a:r>
              <a:t>Invoice Data</a:t>
            </a:r>
          </a:p>
        </p:txBody>
      </p:sp>
      <p:sp>
        <p:nvSpPr>
          <p:cNvPr id="10" name="Chevron 9"/>
          <p:cNvSpPr/>
          <p:nvPr/>
        </p:nvSpPr>
        <p:spPr>
          <a:xfrm>
            <a:off x="9052560" y="2532888"/>
            <a:ext cx="502920" cy="384048"/>
          </a:xfrm>
          <a:prstGeom prst="chevron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46920" y="2194560"/>
            <a:ext cx="1645920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Database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840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</a:defRPr>
            </a:pPr>
            <a:r>
              <a:t>• Vendor name and GSTIN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</a:defRPr>
            </a:pPr>
            <a:r>
              <a:t>• Invoice number, invoice date and due date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</a:defRPr>
            </a:pPr>
            <a:r>
              <a:t>• Subtotal, CGST / SGST / IGST, total tax and total amount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</a:defRPr>
            </a:pPr>
            <a:r>
              <a:t>• Line items, payment terms and bank details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</a:defRPr>
            </a:pPr>
            <a:r>
              <a:t>• Confidence scores identify fields needing human review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5. Validation &amp; Duplicate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• Subtotal + tax is checked against total amount.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• GST and missing-GSTIN checks are performed.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• Required fields such as invoice number and dates are validated.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• Due date is checked against invoice date.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• Duplicate detection uses vendor, invoice number, amount, date and normalized content.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• Unusual or high-value invoices can be flagged for review.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6. Business Workflow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2057400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Pending</a:t>
            </a:r>
            <a:br/>
            <a:r>
              <a:t>Review</a:t>
            </a:r>
          </a:p>
        </p:txBody>
      </p:sp>
      <p:sp>
        <p:nvSpPr>
          <p:cNvPr id="5" name="Chevron 4"/>
          <p:cNvSpPr/>
          <p:nvPr/>
        </p:nvSpPr>
        <p:spPr>
          <a:xfrm>
            <a:off x="2880360" y="2542032"/>
            <a:ext cx="502920" cy="384048"/>
          </a:xfrm>
          <a:prstGeom prst="chevron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520439" y="2194560"/>
            <a:ext cx="2057400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Pending</a:t>
            </a:r>
            <a:br/>
            <a:r>
              <a:t>Approval</a:t>
            </a:r>
          </a:p>
        </p:txBody>
      </p:sp>
      <p:sp>
        <p:nvSpPr>
          <p:cNvPr id="7" name="Chevron 6"/>
          <p:cNvSpPr/>
          <p:nvPr/>
        </p:nvSpPr>
        <p:spPr>
          <a:xfrm>
            <a:off x="5669279" y="2542032"/>
            <a:ext cx="502920" cy="384048"/>
          </a:xfrm>
          <a:prstGeom prst="chevron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309359" y="2194560"/>
            <a:ext cx="2057400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Approved</a:t>
            </a:r>
          </a:p>
        </p:txBody>
      </p:sp>
      <p:sp>
        <p:nvSpPr>
          <p:cNvPr id="9" name="Chevron 8"/>
          <p:cNvSpPr/>
          <p:nvPr/>
        </p:nvSpPr>
        <p:spPr>
          <a:xfrm>
            <a:off x="8458200" y="2542032"/>
            <a:ext cx="502920" cy="384048"/>
          </a:xfrm>
          <a:prstGeom prst="chevron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098280" y="2194560"/>
            <a:ext cx="2057400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8404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</a:defRPr>
            </a:pPr>
            <a:r>
              <a:t>• Issues are reviewed before approval.</a:t>
            </a:r>
          </a:p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</a:defRPr>
            </a:pPr>
            <a:r>
              <a:t>• Approval status is tracked centrally.</a:t>
            </a:r>
          </a:p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</a:defRPr>
            </a:pPr>
            <a:r>
              <a:t>• Payment moves through unpaid → partially paid → paid / overdue.</a:t>
            </a:r>
          </a:p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</a:defRPr>
            </a:pPr>
            <a:r>
              <a:t>• Dashboard provides one operational view for finance teams.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7. AI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60120"/>
            <a:ext cx="10789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75569"/>
                </a:solidFill>
              </a:defRPr>
            </a:pPr>
            <a:r>
              <a:t>Natural-language questions over actual invoice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48840"/>
            <a:ext cx="2286000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User Question</a:t>
            </a:r>
          </a:p>
        </p:txBody>
      </p:sp>
      <p:sp>
        <p:nvSpPr>
          <p:cNvPr id="6" name="Chevron 5"/>
          <p:cNvSpPr/>
          <p:nvPr/>
        </p:nvSpPr>
        <p:spPr>
          <a:xfrm>
            <a:off x="3246120" y="2487168"/>
            <a:ext cx="502920" cy="384048"/>
          </a:xfrm>
          <a:prstGeom prst="chevron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840480" y="2148840"/>
            <a:ext cx="2743200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AI Agent + Backend</a:t>
            </a:r>
            <a:br/>
            <a:r>
              <a:t>Data Functions</a:t>
            </a:r>
          </a:p>
        </p:txBody>
      </p:sp>
      <p:sp>
        <p:nvSpPr>
          <p:cNvPr id="8" name="Chevron 7"/>
          <p:cNvSpPr/>
          <p:nvPr/>
        </p:nvSpPr>
        <p:spPr>
          <a:xfrm>
            <a:off x="6858000" y="2487168"/>
            <a:ext cx="502920" cy="384048"/>
          </a:xfrm>
          <a:prstGeom prst="chevron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452360" y="2148840"/>
            <a:ext cx="3200400" cy="10515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Invoice / Vendor /</a:t>
            </a:r>
            <a:br/>
            <a:r>
              <a:t>Payment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749039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</a:defRPr>
            </a:pPr>
            <a:r>
              <a:t>• “Show me overdue invoices.”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</a:defRPr>
            </a:pPr>
            <a:r>
              <a:t>• “What is the total unpaid amount?”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</a:defRPr>
            </a:pPr>
            <a:r>
              <a:t>• “Give me the summary for vendor ABC.”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</a:defRPr>
            </a:pPr>
            <a:r>
              <a:t>• “Find invoice INV-1024.”</a:t>
            </a:r>
          </a:p>
          <a:p>
            <a:pPr>
              <a:spcAft>
                <a:spcPts val="1200"/>
              </a:spcAft>
              <a:defRPr sz="1600">
                <a:solidFill>
                  <a:srgbClr val="0F172A"/>
                </a:solidFill>
              </a:defRPr>
            </a:pPr>
            <a:r>
              <a:t>• “Which invoices have validation issues?”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8. Dashboard &amp; Visibility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• Total invoice count and total invoice value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• Unpaid and overdue amounts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• Invoice trends and payment status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• AI-generated alerts and validation warnings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• Recent invoices and upcoming payments</a:t>
            </a:r>
          </a:p>
          <a:p>
            <a:pPr>
              <a:spcAft>
                <a:spcPts val="1200"/>
              </a:spcAft>
              <a:defRPr sz="1900">
                <a:solidFill>
                  <a:srgbClr val="0F172A"/>
                </a:solidFill>
              </a:defRPr>
            </a:pPr>
            <a:r>
              <a:t>• Approval and payment pipeline visibility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0" y="1508760"/>
            <a:ext cx="310896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Dashboard</a:t>
            </a:r>
            <a:br/>
            <a:br/>
            <a:r>
              <a:t>Invoices</a:t>
            </a:r>
            <a:br/>
            <a:br/>
            <a:r>
              <a:t>Vendors</a:t>
            </a:r>
            <a:br/>
            <a:br/>
            <a:r>
              <a:t>Approvals</a:t>
            </a:r>
            <a:br/>
            <a:br/>
            <a:r>
              <a:t>Payments</a:t>
            </a:r>
            <a:br/>
            <a:br/>
            <a:r>
              <a:t>AI Assistant</a:t>
            </a:r>
            <a:br/>
            <a:br/>
            <a:r>
              <a:t>Reports</a:t>
            </a:r>
            <a:br/>
            <a:br/>
            <a:r>
              <a:t>Settings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9. Technical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228600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Frontend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37560" y="1325880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Web UI • Dashboard • Invoice Management • AI Assistant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228600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37560" y="2240279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FastAPI • Authentication • Business APIs • Workflow Logic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08960"/>
            <a:ext cx="228600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AI / Document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3154679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OCR • Invoice Extraction • Validation • AI Agent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228600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Database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4069080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PostgreSQL • Users • Vendors • Invoices • Payments • Approvals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937760"/>
            <a:ext cx="228600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F172A"/>
                </a:solidFill>
              </a:defRPr>
            </a:pPr>
            <a:r>
              <a:t>Storage / Integrations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4983480"/>
            <a:ext cx="77724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0F172A"/>
                </a:solidFill>
              </a:defRPr>
            </a:pPr>
            <a:r>
              <a:t>Invoice files • External integrations • Configurable services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172A"/>
                </a:solidFill>
              </a:defRPr>
            </a:pPr>
            <a:r>
              <a:t>10. Example: One Invoice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</a:defRPr>
            </a:pPr>
            <a:r>
              <a:t>• 1. User uploads a vendor PDF invoice.</a:t>
            </a:r>
          </a:p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</a:defRPr>
            </a:pPr>
            <a:r>
              <a:t>• 2. AI extracts vendor, invoice number, GST, dates, line items and totals.</a:t>
            </a:r>
          </a:p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</a:defRPr>
            </a:pPr>
            <a:r>
              <a:t>• 3. Validation checks calculations, GST and required fields.</a:t>
            </a:r>
          </a:p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</a:defRPr>
            </a:pPr>
            <a:r>
              <a:t>• 4. Duplicate detection checks whether the invoice already exists.</a:t>
            </a:r>
          </a:p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</a:defRPr>
            </a:pPr>
            <a:r>
              <a:t>• 5. Clean invoice moves to approval; issues are flagged for review.</a:t>
            </a:r>
          </a:p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</a:defRPr>
            </a:pPr>
            <a:r>
              <a:t>• 6. After approval, payment status is tracked until paid.</a:t>
            </a:r>
          </a:p>
          <a:p>
            <a:pPr>
              <a:spcAft>
                <a:spcPts val="1200"/>
              </a:spcAft>
              <a:defRPr sz="1700">
                <a:solidFill>
                  <a:srgbClr val="0F172A"/>
                </a:solidFill>
              </a:defRPr>
            </a:pPr>
            <a:r>
              <a:t>• 7. AI Assistant can answer questions about the invoice and overall dataset.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Key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Less manual data entry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Faster invoice processing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Better accuracy and validation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Duplicate and anomaly visibility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Centralized approval and payment tracking</a:t>
            </a:r>
          </a:p>
          <a:p>
            <a:pPr>
              <a:spcAft>
                <a:spcPts val="1200"/>
              </a:spcAft>
              <a:defRPr sz="2200">
                <a:solidFill>
                  <a:srgbClr val="FFFFFF"/>
                </a:solidFill>
              </a:defRPr>
            </a:pPr>
            <a:r>
              <a:t>• Natural-language access to finance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0644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93C5FD"/>
                </a:solidFill>
              </a:defRPr>
            </a:pPr>
            <a:r>
              <a:t>InvoiceAI — Never manage invoices manually again.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